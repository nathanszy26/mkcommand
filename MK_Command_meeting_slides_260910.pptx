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3317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MK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9184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9AA4C0"/>
                </a:solidFill>
                <a:latin typeface="Calibri"/>
              </a:rPr>
              <a:t>Headcount  ·  Job specs  ·  Merit / Demerit  ·  Memos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895344"/>
            <a:ext cx="2011680" cy="1905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133087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AA4C0"/>
                </a:solidFill>
                <a:latin typeface="Calibri"/>
              </a:rPr>
              <a:t>6 operating companies  ·  710 active staff  ·  346 general workers  ·  927 job spec versions  ·  1,065 merit/demerit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6227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A825"/>
                </a:solidFill>
                <a:latin typeface="Calibri"/>
              </a:rPr>
              <a:t>Snapshot 10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How this review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478"/>
                </a:solidFill>
                <a:latin typeface="Calibri"/>
              </a:rPr>
              <a:t>Four topics. Each one is shown for the group first, then broken down across the six companies.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74519"/>
            <a:ext cx="11064240" cy="841248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54864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" y="2103119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57983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039111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203F"/>
                </a:solidFill>
                <a:latin typeface="Cambria"/>
              </a:rPr>
              <a:t>Staff headcount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331719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  <a:latin typeface="Calibri"/>
              </a:rPr>
              <a:t>Who is on file across the six companies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2020823"/>
            <a:ext cx="2926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>
                <a:solidFill>
                  <a:srgbClr val="1E2761"/>
                </a:solidFill>
                <a:latin typeface="Cambria"/>
              </a:rPr>
              <a:t>710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404871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A6478"/>
                </a:solidFill>
                <a:latin typeface="Calibri"/>
              </a:rPr>
              <a:t>ACTIVE STAFF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862071"/>
            <a:ext cx="11064240" cy="841248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862071"/>
            <a:ext cx="54864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" y="3090671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14553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026663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203F"/>
                </a:solidFill>
                <a:latin typeface="Cambria"/>
              </a:rPr>
              <a:t>Job spec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319271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  <a:latin typeface="Calibri"/>
              </a:rPr>
              <a:t>Where the approval backlog sits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3008375"/>
            <a:ext cx="2926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>
                <a:solidFill>
                  <a:srgbClr val="1E2761"/>
                </a:solidFill>
                <a:latin typeface="Cambria"/>
              </a:rPr>
              <a:t>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3392423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A6478"/>
                </a:solidFill>
                <a:latin typeface="Calibri"/>
              </a:rPr>
              <a:t>VERSIONS APPROVED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849623"/>
            <a:ext cx="11064240" cy="841248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849623"/>
            <a:ext cx="54864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" y="4078223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133087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4014215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203F"/>
                </a:solidFill>
                <a:latin typeface="Cambria"/>
              </a:rPr>
              <a:t>Merit / Demerit issuance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306823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  <a:latin typeface="Calibri"/>
              </a:rPr>
              <a:t>Who is using the recognition tool, and how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3995927"/>
            <a:ext cx="2926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>
                <a:solidFill>
                  <a:srgbClr val="1E2761"/>
                </a:solidFill>
                <a:latin typeface="Cambria"/>
              </a:rPr>
              <a:t>63%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4379975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A6478"/>
                </a:solidFill>
                <a:latin typeface="Calibri"/>
              </a:rPr>
              <a:t>MERIT SHARE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837175"/>
            <a:ext cx="11064240" cy="841248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837175"/>
            <a:ext cx="54864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1248" y="5065775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1206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752" y="5001767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203F"/>
                </a:solidFill>
                <a:latin typeface="Cambria"/>
              </a:rPr>
              <a:t>Memo activity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4752" y="5294375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  <a:latin typeface="Calibri"/>
              </a:rPr>
              <a:t>Whether the group-wide broadcast is still in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4983479"/>
            <a:ext cx="2926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>
                <a:solidFill>
                  <a:srgbClr val="1E2761"/>
                </a:solidFill>
                <a:latin typeface="Cambria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67344" y="5367527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A6478"/>
                </a:solidFill>
                <a:latin typeface="Calibri"/>
              </a:rPr>
              <a:t>MEMOS IN 2026 YTD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3A8"/>
                </a:solidFill>
                <a:latin typeface="Calibri"/>
              </a:rPr>
              <a:t>All figures re-queried from the live system on 10 Sep 2026. Staff and general worker counts on the same basis as the MK Command staff overview page; job spec figures on the same basis as the application's own approval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651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9A825"/>
                </a:solidFill>
                <a:latin typeface="Calibri"/>
              </a:rPr>
              <a:t>TOPIC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Staff Headcount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904487"/>
            <a:ext cx="2011680" cy="1905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1788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4C0"/>
                </a:solidFill>
                <a:latin typeface="Calibri"/>
              </a:rPr>
              <a:t>Who is on file across the six companies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TOPIC 1 · GROUP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Staff headcount — group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478"/>
                </a:solidFill>
                <a:latin typeface="Calibri"/>
              </a:rPr>
              <a:t>710 active staff group-wide, plus 346 general workers at Globinaco.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50292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10512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mbria"/>
              </a:rPr>
              <a:t>710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9572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Active staff, group-wide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61488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Across all 6 companies, counted as MK Command itself counts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6996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6996" y="1627632"/>
            <a:ext cx="50292" cy="178308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4740" y="1810512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9A825"/>
                </a:solidFill>
                <a:latin typeface="Cambria"/>
              </a:rPr>
              <a:t>346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4740" y="239572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General workers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4740" y="2761488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All at Globinaco, where they nearly match its own staff headcount of 352.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627632"/>
            <a:ext cx="50292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810512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mbria"/>
              </a:rPr>
              <a:t>1,056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39572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Total workforce on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761488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Staff and general workers combined.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703320"/>
            <a:ext cx="548640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776472"/>
            <a:ext cx="2428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Company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8631" y="3776472"/>
            <a:ext cx="1137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Active staff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3776472"/>
            <a:ext cx="13715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General workers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032504"/>
            <a:ext cx="548640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338828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4096512"/>
            <a:ext cx="242823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Globinaco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8631" y="4096512"/>
            <a:ext cx="11379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4096512"/>
            <a:ext cx="137159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346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338828"/>
            <a:ext cx="548640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645152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4402836"/>
            <a:ext cx="242823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Grandis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78631" y="4402836"/>
            <a:ext cx="11379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1" y="4402836"/>
            <a:ext cx="137159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645152"/>
            <a:ext cx="548640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951476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4709160"/>
            <a:ext cx="242823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Arus Sawit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78631" y="4709160"/>
            <a:ext cx="11379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92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9431" y="4709160"/>
            <a:ext cx="137159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951476"/>
            <a:ext cx="548640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5257800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" y="5015484"/>
            <a:ext cx="242823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AMC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8631" y="5015484"/>
            <a:ext cx="11379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57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99431" y="5015484"/>
            <a:ext cx="137159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257800"/>
            <a:ext cx="548640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5564124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" y="5321808"/>
            <a:ext cx="242823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Likas Square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78631" y="5321808"/>
            <a:ext cx="11379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51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99431" y="5321808"/>
            <a:ext cx="137159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564124"/>
            <a:ext cx="548640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6928" y="5870448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" y="5628132"/>
            <a:ext cx="242823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City Skill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78631" y="5628132"/>
            <a:ext cx="11379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99431" y="5628132"/>
            <a:ext cx="137159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5870448"/>
            <a:ext cx="5486400" cy="306324"/>
          </a:xfrm>
          <a:prstGeom prst="rect">
            <a:avLst/>
          </a:prstGeom>
          <a:solidFill>
            <a:srgbClr val="E8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" y="6176772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" y="5934456"/>
            <a:ext cx="242823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Total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8631" y="5934456"/>
            <a:ext cx="113792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710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9431" y="5934456"/>
            <a:ext cx="137159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346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3703320"/>
            <a:ext cx="5321808" cy="1207008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9360" y="3703320"/>
            <a:ext cx="50292" cy="1207008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28816" y="3840480"/>
            <a:ext cx="4910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9A825"/>
                </a:solidFill>
                <a:latin typeface="Calibri"/>
              </a:rPr>
              <a:t>Half of Globinaco's workforce is general workers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28816" y="4142232"/>
            <a:ext cx="49103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3B52"/>
                </a:solidFill>
                <a:latin typeface="Calibri"/>
              </a:rPr>
              <a:t>346 general workers against 352 staff. Globinaco is the only company in the group with a general worker population under review, and it is nearly as large as its own staff headcount.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5010912"/>
            <a:ext cx="5321808" cy="1207008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09360" y="5010912"/>
            <a:ext cx="50292" cy="12070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28816" y="5148072"/>
            <a:ext cx="4910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Calibri"/>
              </a:rPr>
              <a:t>A general worker's record is a job spec and nothing else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28816" y="5449824"/>
            <a:ext cx="49103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3B52"/>
                </a:solidFill>
                <a:latin typeface="Calibri"/>
              </a:rPr>
              <a:t>Those 346 hold 337 job spec versions between them, but the tool holds no memo, merit/demerit or application record against any of them.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3A8"/>
                </a:solidFill>
                <a:latin typeface="Calibri"/>
              </a:rPr>
              <a:t>Counted on the same basis as the MK Command staff overview page: active, not deleted, not excluded from MK Command; general workers counted as people, so a worker assigned to two supervisors is counted once. The manpower report uses a wider staff basis and shows 724. General workers here are Globinaco's only; Arus Sawit's separate population is outside this review. Remarks: staff list not updated at every company; job spec only provided for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TOPIC 1 · BY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Staff headcount — by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478"/>
                </a:solidFill>
                <a:latin typeface="Calibri"/>
              </a:rPr>
              <a:t>Active staff currently visible in MK Command for each company.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3675887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Globinaco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352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ACTIVE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General workers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F9A825"/>
                </a:solidFill>
                <a:latin typeface="Calibri"/>
              </a:rPr>
              <a:t>346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Share of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50%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352 of 710 group-wide active staff. Largest employer in the group, and half of it. Its 346 general workers are counted separately.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3983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43983" y="1627632"/>
            <a:ext cx="3675887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Grandis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1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1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ACTIVE STAFF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7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Share of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5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21%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1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1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150 of 710 group-wide active staff.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38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38" y="1627632"/>
            <a:ext cx="3675887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6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Arus Sawit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6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92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6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ACTIVE STAFF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96142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Share of 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20270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13%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22206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6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92 of 710 group-wide active staff.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041648"/>
            <a:ext cx="3675887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AMC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ACTIVE STAFF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42032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Share of group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57 of 710 group-wide active staff.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43983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43983" y="4041648"/>
            <a:ext cx="3675887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5151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Likas Square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5151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51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45151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ACTIVE STAFF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7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Share of group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43215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45151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5151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51 of 710 group-wide active staff.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38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21038" y="4041648"/>
            <a:ext cx="3675887" cy="411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22206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City Skill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22206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22206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ACTIVE STAFF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96142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Share of group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20270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1%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22206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22206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8 of 710 group-wide active staff.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3A8"/>
                </a:solidFill>
                <a:latin typeface="Calibri"/>
              </a:rPr>
              <a:t>Same basis as the MK Command staff overview page. The manpower report counts 14 more people at Globinaco (366, and 724 group-wide) because it does not apply the MK Command exclusion, which is a tool-visibility setting rather than an HR headcount concept.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651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9A825"/>
                </a:solidFill>
                <a:latin typeface="Calibri"/>
              </a:rPr>
              <a:t>TOPIC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Job Spec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904487"/>
            <a:ext cx="2011680" cy="1905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1788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4C0"/>
                </a:solidFill>
                <a:latin typeface="Calibri"/>
              </a:rPr>
              <a:t>Where the approval backlog sits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TOPIC 2 · BY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Job spec approvals — by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478"/>
                </a:solidFill>
                <a:latin typeface="Calibri"/>
              </a:rPr>
              <a:t>927 versions on file, 228 approved (25%). Grandis and Likas Square have come online since August; Globinaco still holds the backlog.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3675887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Globinaco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C62828"/>
                </a:solidFill>
                <a:latin typeface="Cambria"/>
              </a:rPr>
              <a:t>666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TOTAL 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Staff versions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329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GW 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337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5328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514600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C62828"/>
                </a:solidFill>
                <a:latin typeface="Calibri"/>
              </a:rPr>
              <a:t>114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82% still pending, 336 of them general worker specs. Approvals moved (99 to 114) but the bottleneck still sits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43983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43983" y="1627632"/>
            <a:ext cx="3675887" cy="41148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1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Grandis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1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9A825"/>
                </a:solidFill>
                <a:latin typeface="Cambria"/>
              </a:rPr>
              <a:t>147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1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TOTAL VERSIONS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7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Staff versions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5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147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7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GW versions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5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7" y="25328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Approved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5" y="2514600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F9A825"/>
                </a:solidFill>
                <a:latin typeface="Calibri"/>
              </a:rPr>
              <a:t>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1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1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From zero in August to 147 versions, 56 approved — the fastest adoption in the group.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38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38" y="1627632"/>
            <a:ext cx="3675887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6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Arus Sawit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6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E7D32"/>
                </a:solidFill>
                <a:latin typeface="Cambria"/>
              </a:rPr>
              <a:t>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6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TOTAL VERSIONS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96142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Staff versions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0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96142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GW versions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20270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96142" y="25328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Approved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20270" y="2514600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E7D32"/>
                </a:solidFill>
                <a:latin typeface="Calibri"/>
              </a:rPr>
              <a:t>58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22206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22206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81% approved, the best rate in the group — up from 2 approvals in August.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4041648"/>
            <a:ext cx="3675887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Likas Square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C62828"/>
                </a:solidFill>
                <a:latin typeface="Cambria"/>
              </a:rPr>
              <a:t>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TOTAL VERSIONS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42032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Staff versions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6160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42032" y="47320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GW versions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66160" y="47137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42032" y="49469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Approved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49286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C62828"/>
                </a:solidFill>
                <a:latin typeface="Calibri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42 versions filed since August, none reviewed yet — needs an approver assigned.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43983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443983" y="4041648"/>
            <a:ext cx="3675887" cy="4114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45151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AMC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45151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5A6478"/>
                </a:solidFill>
                <a:latin typeface="Cambria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45151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TOTAL VERSIONS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9087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Staff versions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43215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19087" y="47320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Approved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43215" y="47137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45151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45151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No job spec versions on file for this company.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21038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321038" y="4041648"/>
            <a:ext cx="3675887" cy="4114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22206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City Skill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22206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5A6478"/>
                </a:solidFill>
                <a:latin typeface="Cambria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22206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TOTAL VERSIONS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96142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Staff versions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20270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96142" y="47320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Approved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20270" y="47137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22206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22206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No job spec versions on file for this company.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3A8"/>
                </a:solidFill>
                <a:latin typeface="Calibri"/>
              </a:rPr>
              <a:t>Same basis as the application's own job spec approval report: general worker versions counted only for workers still in the live scorecard population. 696 pending and 3 rejected group-wide.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651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9A825"/>
                </a:solidFill>
                <a:latin typeface="Calibri"/>
              </a:rPr>
              <a:t>TOPIC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Merit/Demerit Issuance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904487"/>
            <a:ext cx="2011680" cy="1905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1788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4C0"/>
                </a:solidFill>
                <a:latin typeface="Calibri"/>
              </a:rPr>
              <a:t>Who is using the recognition tool, and how the mix has shifted over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TOPIC 3 · ADOPTION &amp; CONCENTRATION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Merit/Demerit issuance — group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478"/>
                </a:solidFill>
                <a:latin typeface="Calibri"/>
              </a:rPr>
              <a:t>1,065 records issued to date, and 2026 is already the busiest year on record.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50292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10512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mbria"/>
              </a:rPr>
              <a:t>1,065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9572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Merit/Demerit records issued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61488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2023 – 10 Sep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6996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6996" y="1627632"/>
            <a:ext cx="50292" cy="1783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4740" y="1810512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E7D32"/>
                </a:solidFill>
                <a:latin typeface="Cambria"/>
              </a:rPr>
              <a:t>63%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4740" y="239572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Merit share, group-wide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4740" y="2761488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667 merit vs 396 demerit (2 unclassified)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627632"/>
            <a:ext cx="50292" cy="1783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810512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E7D32"/>
                </a:solidFill>
                <a:latin typeface="Cambria"/>
              </a:rPr>
              <a:t>548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39572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Issued so far in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761488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vs 368 for all of 2025 — up 49% on the full prior year, with a quarter still to run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703320"/>
            <a:ext cx="690372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776472"/>
            <a:ext cx="23024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2851" y="3776472"/>
            <a:ext cx="128991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Merit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5644" y="3776472"/>
            <a:ext cx="128991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Demerit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8437" y="3776472"/>
            <a:ext cx="128991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32504"/>
            <a:ext cx="690372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338828"/>
            <a:ext cx="690372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4096512"/>
            <a:ext cx="230245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2851" y="4096512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5644" y="4096512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8437" y="4096512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338828"/>
            <a:ext cx="690372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645152"/>
            <a:ext cx="690372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4402836"/>
            <a:ext cx="230245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2851" y="4402836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25644" y="4402836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8437" y="4402836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148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645152"/>
            <a:ext cx="690372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951476"/>
            <a:ext cx="690372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4709160"/>
            <a:ext cx="230245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2851" y="4709160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260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25644" y="4709160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8437" y="4709160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368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951476"/>
            <a:ext cx="690372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5257800"/>
            <a:ext cx="690372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" y="5015484"/>
            <a:ext cx="230245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2026 YTD (10 Sep)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2851" y="5015484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406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25644" y="5015484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141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8437" y="5015484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548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257800"/>
            <a:ext cx="6903720" cy="306324"/>
          </a:xfrm>
          <a:prstGeom prst="rect">
            <a:avLst/>
          </a:prstGeom>
          <a:solidFill>
            <a:srgbClr val="E8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6928" y="5564124"/>
            <a:ext cx="690372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" y="5321808"/>
            <a:ext cx="2302459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Total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2851" y="5321808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667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25644" y="5321808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396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8437" y="5321808"/>
            <a:ext cx="128991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1,065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0" y="3703320"/>
            <a:ext cx="3950208" cy="219456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680960" y="3703320"/>
            <a:ext cx="50292" cy="219456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00416" y="3840480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9A825"/>
                </a:solidFill>
                <a:latin typeface="Calibri"/>
              </a:rPr>
              <a:t>The tool flipped from punitive to recognition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0416" y="4142232"/>
            <a:ext cx="3538728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3B52"/>
                </a:solidFill>
                <a:latin typeface="Calibri"/>
              </a:rPr>
              <a:t>2024 was 146 demerits against 1 merit. 2026 is 406 merits against 141. The change is real but concentrated: Grandis alone accounts for 81% of all records ever issued, and Globinaco's own use is still 98% demerit.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3A8"/>
                </a:solidFill>
                <a:latin typeface="Calibri"/>
              </a:rPr>
              <a:t>Merit/demerit records held against staff accounts, deleted records excluded. Two records carry no merit/demerit classification and are counted in totals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TOPIC 3 · BY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Merit/Demerit issuance — by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478"/>
                </a:solidFill>
                <a:latin typeface="Calibri"/>
              </a:rPr>
              <a:t>Grandis carries 81% of group volume and is merit-led; Globinaco is almost entirely demerit.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3675887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Grandis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E7D32"/>
                </a:solidFill>
                <a:latin typeface="Cambria"/>
              </a:rP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MERIT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Merit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E7D32"/>
                </a:solidFill>
                <a:latin typeface="Calibri"/>
              </a:rPr>
              <a:t>649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Demerit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C62828"/>
                </a:solidFill>
                <a:latin typeface="Calibri"/>
              </a:rPr>
              <a:t>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5328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514600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861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81% of the group's volume, and merit-led — the model use case.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43983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43983" y="1627632"/>
            <a:ext cx="3675887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1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Globinaco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1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C62828"/>
                </a:solidFill>
                <a:latin typeface="Cambria"/>
              </a:rPr>
              <a:t>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1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MERIT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7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Merit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5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E7D32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7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Demerit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5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C62828"/>
                </a:solidFill>
                <a:latin typeface="Calibri"/>
              </a:rPr>
              <a:t>178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7" y="25328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5" y="2514600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183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1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1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178 of 181 classified records are demerit — almost entirely punitive here.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38" y="1627632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38" y="1627632"/>
            <a:ext cx="3675887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6" y="1810512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Arus Sawit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6" y="2084832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E7D32"/>
                </a:solidFill>
                <a:latin typeface="Cambria"/>
              </a:rPr>
              <a:t>73%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6" y="25603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MERIT SHARE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96142" y="21031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Merit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0270" y="20848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E7D32"/>
                </a:solidFill>
                <a:latin typeface="Calibri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96142" y="23180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Demerit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20270" y="22997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C62828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96142" y="25328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20270" y="2514600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22206" y="2871216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22206" y="2980944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Small sample (15) but merit-led, consistent with the group's pattern.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4041648"/>
            <a:ext cx="3675887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Likas Square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E7D32"/>
                </a:solidFill>
                <a:latin typeface="Cambria"/>
              </a:rPr>
              <a:t>67%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MERIT SHARE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42032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Merit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6160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E7D32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42032" y="47320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Demerit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66160" y="47137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C62828"/>
                </a:solidFill>
                <a:latin typeface="Calibri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42032" y="49469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Total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49286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Small sample (6) but merit-led, consistent with the group's pattern.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43983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443983" y="4041648"/>
            <a:ext cx="3675887" cy="4114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45151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AMC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45151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5A6478"/>
                </a:solidFill>
                <a:latin typeface="Cambria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45151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MERIT SHARE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9087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Merit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43215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19087" y="47320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Demerit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43215" y="47137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19087" y="49469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Total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43215" y="49286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45151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45151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No merit/demerit records on file for this company.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1038" y="4041648"/>
            <a:ext cx="3675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321038" y="4041648"/>
            <a:ext cx="3675887" cy="4114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22206" y="4224528"/>
            <a:ext cx="32735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6203F"/>
                </a:solidFill>
                <a:latin typeface="Cambria"/>
              </a:rPr>
              <a:t>City Skill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22206" y="44988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5A6478"/>
                </a:solidFill>
                <a:latin typeface="Cambria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22206" y="4974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A6478"/>
                </a:solidFill>
                <a:latin typeface="Calibri"/>
              </a:rPr>
              <a:t>MERIT SHARE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96142" y="45171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Merit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20270" y="4498848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96142" y="47320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Demerit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320270" y="4713732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96142" y="49469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478"/>
                </a:solidFill>
                <a:latin typeface="Calibri"/>
              </a:rPr>
              <a:t>Total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320270" y="4928616"/>
            <a:ext cx="512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5A6478"/>
                </a:solidFill>
                <a:latin typeface="Calibri"/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22206" y="5285232"/>
            <a:ext cx="3273551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22206" y="5394960"/>
            <a:ext cx="3273551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3A425C"/>
                </a:solidFill>
                <a:latin typeface="Calibri"/>
              </a:rPr>
              <a:t>No merit/demerit records on file for this company.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3A8"/>
                </a:solidFill>
                <a:latin typeface="Calibri"/>
              </a:rPr>
              <a:t>Records attributed to the company of the staff member they were issued against. Merit share is measured on classified records only.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6517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9A825"/>
                </a:solidFill>
                <a:latin typeface="Calibri"/>
              </a:rPr>
              <a:t>TOPIC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175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Memo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904487"/>
            <a:ext cx="2011680" cy="1905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1788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4C0"/>
                </a:solidFill>
                <a:latin typeface="Calibri"/>
              </a:rPr>
              <a:t>Is the group-wide memo broadcast still in use?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TOPIC 4 ·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Memo activity — group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478"/>
                </a:solidFill>
                <a:latin typeface="Calibri"/>
              </a:rPr>
              <a:t>84 memos on file, all-time. Usage remains 94% below its 2023 peak, but a new sender appeared this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50292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10512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mbria"/>
              </a:rPr>
              <a:t>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9572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Memos issued, all-time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61488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2022 – 2026 YTD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6996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6996" y="1627632"/>
            <a:ext cx="50292" cy="17830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4740" y="1810512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C62828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4740" y="239572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Issued in 2026 YTD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4740" y="2761488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vs 32 in 2023, the peak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1627632"/>
            <a:ext cx="2615184" cy="17830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627632"/>
            <a:ext cx="50292" cy="178308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810512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9A825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395728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203F"/>
                </a:solidFill>
                <a:latin typeface="Calibri"/>
              </a:rPr>
              <a:t>Distinct senders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761488"/>
            <a:ext cx="2203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5A6478"/>
                </a:solidFill>
                <a:latin typeface="Calibri"/>
              </a:rPr>
              <a:t>All-time, across 4.5 years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703320"/>
            <a:ext cx="548640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776472"/>
            <a:ext cx="354003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0426" y="3776472"/>
            <a:ext cx="158060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Memos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32504"/>
            <a:ext cx="548640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338828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4096512"/>
            <a:ext cx="354003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0426" y="4096512"/>
            <a:ext cx="158060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338828"/>
            <a:ext cx="548640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645152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4402836"/>
            <a:ext cx="354003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90426" y="4402836"/>
            <a:ext cx="158060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645152"/>
            <a:ext cx="548640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951476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4709160"/>
            <a:ext cx="354003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0426" y="4709160"/>
            <a:ext cx="158060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951476"/>
            <a:ext cx="548640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257800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5015484"/>
            <a:ext cx="354003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90426" y="5015484"/>
            <a:ext cx="158060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257800"/>
            <a:ext cx="548640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5564124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" y="5321808"/>
            <a:ext cx="354003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2026 YTD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90426" y="5321808"/>
            <a:ext cx="158060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5564124"/>
            <a:ext cx="5486400" cy="306324"/>
          </a:xfrm>
          <a:prstGeom prst="rect">
            <a:avLst/>
          </a:prstGeom>
          <a:solidFill>
            <a:srgbClr val="E8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5870448"/>
            <a:ext cx="548640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" y="5628132"/>
            <a:ext cx="354003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90426" y="5628132"/>
            <a:ext cx="158060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E2761"/>
                </a:solidFill>
                <a:latin typeface="Calibri"/>
              </a:rPr>
              <a:t>84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3703320"/>
            <a:ext cx="5321808" cy="1207008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3703320"/>
            <a:ext cx="50292" cy="1207008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28816" y="3840480"/>
            <a:ext cx="4910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9A825"/>
                </a:solidFill>
                <a:latin typeface="Calibri"/>
              </a:rPr>
              <a:t>One sender still carries the feature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8816" y="4142232"/>
            <a:ext cx="49103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3B52"/>
                </a:solidFill>
                <a:latin typeface="Calibri"/>
              </a:rPr>
              <a:t>76 of 84 memos (90%) came from one person, logged under two spellings of their name. The Deputy CEO accounts for six; two other people have sent one each.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5010912"/>
            <a:ext cx="5321808" cy="1207008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0" y="5010912"/>
            <a:ext cx="50292" cy="12070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28816" y="5148072"/>
            <a:ext cx="4910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E7D32"/>
                </a:solidFill>
                <a:latin typeface="Calibri"/>
              </a:rPr>
              <a:t>First memo raised inside the tool — 4 Sep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28816" y="5449824"/>
            <a:ext cx="49103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3B52"/>
                </a:solidFill>
                <a:latin typeface="Calibri"/>
              </a:rPr>
              <a:t>A Rooms Division Manager at Grandis issued a memo to four named recipients from the app itself. Every earlier memo was keyed in centrally by an administrator.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3A8"/>
                </a:solidFill>
                <a:latin typeface="Calibri"/>
              </a:rPr>
              <a:t>84 records over 4.5 years: treat any single year's count as directional. Sender is a free-text field; identities grouped by hand across spellings.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478"/>
                </a:solidFill>
                <a:latin typeface="Calibri"/>
              </a:rPr>
              <a:t>TOPIC 4 · USAGE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E2761"/>
                </a:solidFill>
                <a:latin typeface="Cambria"/>
              </a:rPr>
              <a:t>Memo activity — who is sending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478"/>
                </a:solidFill>
                <a:latin typeface="Calibri"/>
              </a:rPr>
              <a:t>Free-text sender field, not tied to a company — grouped by identity below.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10642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786384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56232"/>
            <a:ext cx="28288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Sender (identity, as recorded)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9195" y="1856232"/>
            <a:ext cx="250401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6089" y="1856232"/>
            <a:ext cx="8997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Memos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48720" y="1856232"/>
            <a:ext cx="8997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112264"/>
            <a:ext cx="786384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418588"/>
            <a:ext cx="78638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176272"/>
            <a:ext cx="282880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Dr. Lawrence Chu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9195" y="2176272"/>
            <a:ext cx="250401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11111"/>
                </a:solidFill>
                <a:latin typeface="Calibri"/>
              </a:rPr>
              <a:t>Chief Executive Officer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6089" y="2176272"/>
            <a:ext cx="899751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8720" y="2176272"/>
            <a:ext cx="899751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90%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418588"/>
            <a:ext cx="78638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724912"/>
            <a:ext cx="78638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2482596"/>
            <a:ext cx="282880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Jeffrey Soo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9195" y="2482596"/>
            <a:ext cx="250401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11111"/>
                </a:solidFill>
                <a:latin typeface="Calibri"/>
              </a:rPr>
              <a:t>Deputy Chief Executive Officer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6089" y="2482596"/>
            <a:ext cx="899751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8720" y="2482596"/>
            <a:ext cx="899751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724912"/>
            <a:ext cx="7863840" cy="30632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031236"/>
            <a:ext cx="78638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2788920"/>
            <a:ext cx="282880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Jet Mah Mun Keat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9195" y="2788920"/>
            <a:ext cx="250401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11111"/>
                </a:solidFill>
                <a:latin typeface="Calibri"/>
              </a:rPr>
              <a:t>Rooms Division Manager, Grandis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6089" y="2788920"/>
            <a:ext cx="899751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720" y="2788920"/>
            <a:ext cx="899751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031236"/>
            <a:ext cx="78638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337560"/>
            <a:ext cx="7863840" cy="9525"/>
          </a:xfrm>
          <a:prstGeom prst="rect">
            <a:avLst/>
          </a:prstGeom>
          <a:solidFill>
            <a:srgbClr val="D8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3095244"/>
            <a:ext cx="2828803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11111"/>
                </a:solidFill>
                <a:latin typeface="Calibri"/>
              </a:rPr>
              <a:t>HR (Vincent 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9195" y="3095244"/>
            <a:ext cx="250401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11111"/>
                </a:solidFill>
                <a:latin typeface="Calibri"/>
              </a:rPr>
              <a:t>Senior Manager Admin &amp; 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6089" y="3095244"/>
            <a:ext cx="899751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8720" y="3095244"/>
            <a:ext cx="899751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111111"/>
                </a:solidFill>
                <a:latin typeface="Calibri"/>
              </a:rPr>
              <a:t>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13648" y="1783080"/>
            <a:ext cx="3017520" cy="1673352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13648" y="1783080"/>
            <a:ext cx="50292" cy="16733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33104" y="19202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9A825"/>
                </a:solidFill>
                <a:latin typeface="Calibri"/>
              </a:rPr>
              <a:t>Two names, one person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33104" y="2221992"/>
            <a:ext cx="2606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3B52"/>
                </a:solidFill>
                <a:latin typeface="Calibri"/>
              </a:rPr>
              <a:t>The CEO's 76 memos split across “Dr. Lawrence” (37) and “Dr. Lawrence Chu” (39) because the sender is typed in free text.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703320"/>
            <a:ext cx="10698480" cy="118872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3703320"/>
            <a:ext cx="50292" cy="1188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3840480"/>
            <a:ext cx="10287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E7D32"/>
                </a:solidFill>
                <a:latin typeface="Calibri"/>
              </a:rPr>
              <a:t>What changed since August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" y="4142232"/>
            <a:ext cx="10287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33B52"/>
                </a:solidFill>
                <a:latin typeface="Calibri"/>
              </a:rPr>
              <a:t>The Deputy CEO sent one memo in August and a Rooms Division Manager sent one on 4 September — the first memos from anyone outside the CEO's office since 2024, and the first raised in the app rather than keyed in on someone's behalf.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3A8"/>
                </a:solidFill>
                <a:latin typeface="Calibri"/>
              </a:rPr>
              <a:t>All 84 memos on file, deleted records excluded. Positions taken from the staff record of the matching account.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