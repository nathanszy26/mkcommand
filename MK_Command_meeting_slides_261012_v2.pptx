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93392"/>
            <a:ext cx="10058400" cy="822960"/>
          </a:xfrm>
          <a:prstGeom prst="rect">
            <a:avLst/>
          </a:prstGeom>
          <a:noFill/>
        </p:spPr>
        <p:txBody>
          <a:bodyPr wrap="square" lIns="0" rIns="0" tIns="0" bIns="0" anchor="t">
            <a:spAutoFit/>
          </a:bodyPr>
          <a:lstStyle/>
          <a:p>
            <a:pPr algn="l"/>
            <a:r>
              <a:rPr sz="4600" b="1">
                <a:solidFill>
                  <a:srgbClr val="FFFFFF"/>
                </a:solidFill>
                <a:latin typeface="Cambria"/>
              </a:rPr>
              <a:t>MK Command</a:t>
            </a:r>
          </a:p>
        </p:txBody>
      </p:sp>
      <p:sp>
        <p:nvSpPr>
          <p:cNvPr id="5" name="Rectangle 4"/>
          <p:cNvSpPr/>
          <p:nvPr/>
        </p:nvSpPr>
        <p:spPr>
          <a:xfrm>
            <a:off x="1051560" y="2962656"/>
            <a:ext cx="2377440" cy="22225"/>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255264"/>
            <a:ext cx="10058400" cy="365760"/>
          </a:xfrm>
          <a:prstGeom prst="rect">
            <a:avLst/>
          </a:prstGeom>
          <a:noFill/>
        </p:spPr>
        <p:txBody>
          <a:bodyPr wrap="square" lIns="0" rIns="0" tIns="0" bIns="0" anchor="t">
            <a:spAutoFit/>
          </a:bodyPr>
          <a:lstStyle/>
          <a:p>
            <a:pPr algn="l"/>
            <a:r>
              <a:rPr sz="1500" b="0">
                <a:solidFill>
                  <a:srgbClr val="9AA4C0"/>
                </a:solidFill>
                <a:latin typeface="Calibri"/>
              </a:rPr>
              <a:t>Ownership  ·  Headcount  ·  Job specs  ·  Merit / Demerit  ·  Memos</a:t>
            </a:r>
          </a:p>
        </p:txBody>
      </p:sp>
      <p:sp>
        <p:nvSpPr>
          <p:cNvPr id="7" name="TextBox 6"/>
          <p:cNvSpPr txBox="1"/>
          <p:nvPr/>
        </p:nvSpPr>
        <p:spPr>
          <a:xfrm>
            <a:off x="1051560" y="3931920"/>
            <a:ext cx="10332720" cy="365760"/>
          </a:xfrm>
          <a:prstGeom prst="rect">
            <a:avLst/>
          </a:prstGeom>
          <a:noFill/>
        </p:spPr>
        <p:txBody>
          <a:bodyPr wrap="square" lIns="0" rIns="0" tIns="0" bIns="0" anchor="t">
            <a:spAutoFit/>
          </a:bodyPr>
          <a:lstStyle/>
          <a:p>
            <a:pPr algn="l"/>
            <a:r>
              <a:rPr sz="1200" b="0">
                <a:solidFill>
                  <a:srgbClr val="FFFFFF"/>
                </a:solidFill>
                <a:latin typeface="Calibri"/>
              </a:rPr>
              <a:t>6 operating companies  ·  745 active staff  ·  954 general workers  ·  941 job spec versions  ·  1,207 merit/demerit records</a:t>
            </a:r>
          </a:p>
        </p:txBody>
      </p:sp>
      <p:sp>
        <p:nvSpPr>
          <p:cNvPr id="8" name="TextBox 7"/>
          <p:cNvSpPr txBox="1"/>
          <p:nvPr/>
        </p:nvSpPr>
        <p:spPr>
          <a:xfrm>
            <a:off x="1051560" y="5806440"/>
            <a:ext cx="10058400" cy="274320"/>
          </a:xfrm>
          <a:prstGeom prst="rect">
            <a:avLst/>
          </a:prstGeom>
          <a:noFill/>
        </p:spPr>
        <p:txBody>
          <a:bodyPr wrap="square" lIns="0" rIns="0" tIns="0" bIns="0" anchor="t">
            <a:spAutoFit/>
          </a:bodyPr>
          <a:lstStyle/>
          <a:p>
            <a:pPr algn="l"/>
            <a:r>
              <a:rPr sz="1100" b="0">
                <a:solidFill>
                  <a:srgbClr val="9AA4C0"/>
                </a:solidFill>
                <a:latin typeface="Calibri"/>
              </a:rPr>
              <a:t>Snapshot 12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AGENDA</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How this review works</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Five topics. Each one is shown for the group first, then broken down across the companies.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47088"/>
            <a:ext cx="457200" cy="457200"/>
          </a:xfrm>
          <a:prstGeom prst="rect">
            <a:avLst/>
          </a:prstGeom>
          <a:noFill/>
        </p:spPr>
        <p:txBody>
          <a:bodyPr wrap="square" lIns="0" rIns="0" tIns="0" bIns="0" anchor="t">
            <a:spAutoFit/>
          </a:bodyPr>
          <a:lstStyle/>
          <a:p>
            <a:pPr algn="l"/>
            <a:r>
              <a:rPr sz="2200" b="1">
                <a:solidFill>
                  <a:srgbClr val="1E2761"/>
                </a:solidFill>
                <a:latin typeface="Cambria"/>
              </a:rPr>
              <a:t>1</a:t>
            </a:r>
          </a:p>
        </p:txBody>
      </p:sp>
      <p:sp>
        <p:nvSpPr>
          <p:cNvPr id="11" name="TextBox 10"/>
          <p:cNvSpPr txBox="1"/>
          <p:nvPr/>
        </p:nvSpPr>
        <p:spPr>
          <a:xfrm>
            <a:off x="1435608" y="1792224"/>
            <a:ext cx="4937760" cy="292608"/>
          </a:xfrm>
          <a:prstGeom prst="rect">
            <a:avLst/>
          </a:prstGeom>
          <a:noFill/>
        </p:spPr>
        <p:txBody>
          <a:bodyPr wrap="square" lIns="0" rIns="0" tIns="0" bIns="0" anchor="t">
            <a:spAutoFit/>
          </a:bodyPr>
          <a:lstStyle/>
          <a:p>
            <a:pPr algn="l"/>
            <a:r>
              <a:rPr sz="1500" b="1">
                <a:solidFill>
                  <a:srgbClr val="16203F"/>
                </a:solidFill>
                <a:latin typeface="Cambria"/>
              </a:rPr>
              <a:t>Ownership</a:t>
            </a:r>
          </a:p>
        </p:txBody>
      </p:sp>
      <p:sp>
        <p:nvSpPr>
          <p:cNvPr id="12" name="TextBox 11"/>
          <p:cNvSpPr txBox="1"/>
          <p:nvPr/>
        </p:nvSpPr>
        <p:spPr>
          <a:xfrm>
            <a:off x="1435608" y="2121408"/>
            <a:ext cx="5303520" cy="256032"/>
          </a:xfrm>
          <a:prstGeom prst="rect">
            <a:avLst/>
          </a:prstGeom>
          <a:noFill/>
        </p:spPr>
        <p:txBody>
          <a:bodyPr wrap="square" lIns="0" rIns="0" tIns="0" bIns="0" anchor="t">
            <a:spAutoFit/>
          </a:bodyPr>
          <a:lstStyle/>
          <a:p>
            <a:pPr algn="l"/>
            <a:r>
              <a:rPr sz="1050" b="0">
                <a:solidFill>
                  <a:srgbClr val="5A6478"/>
                </a:solidFill>
                <a:latin typeface="Calibri"/>
              </a:rPr>
              <a:t>Who can run the training system in each company</a:t>
            </a:r>
          </a:p>
        </p:txBody>
      </p:sp>
      <p:sp>
        <p:nvSpPr>
          <p:cNvPr id="13" name="TextBox 12"/>
          <p:cNvSpPr txBox="1"/>
          <p:nvPr/>
        </p:nvSpPr>
        <p:spPr>
          <a:xfrm>
            <a:off x="8705088" y="1773936"/>
            <a:ext cx="2651760" cy="457200"/>
          </a:xfrm>
          <a:prstGeom prst="rect">
            <a:avLst/>
          </a:prstGeom>
          <a:noFill/>
        </p:spPr>
        <p:txBody>
          <a:bodyPr wrap="square" lIns="0" rIns="0" tIns="0" bIns="0" anchor="t">
            <a:spAutoFit/>
          </a:bodyPr>
          <a:lstStyle/>
          <a:p>
            <a:pPr algn="r"/>
            <a:r>
              <a:rPr sz="2400" b="1">
                <a:solidFill>
                  <a:srgbClr val="1E2761"/>
                </a:solidFill>
                <a:latin typeface="Cambria"/>
              </a:rPr>
              <a:t>13</a:t>
            </a:r>
          </a:p>
        </p:txBody>
      </p:sp>
      <p:sp>
        <p:nvSpPr>
          <p:cNvPr id="14" name="TextBox 13"/>
          <p:cNvSpPr txBox="1"/>
          <p:nvPr/>
        </p:nvSpPr>
        <p:spPr>
          <a:xfrm>
            <a:off x="8705088" y="2176272"/>
            <a:ext cx="2651760" cy="237744"/>
          </a:xfrm>
          <a:prstGeom prst="rect">
            <a:avLst/>
          </a:prstGeom>
          <a:noFill/>
        </p:spPr>
        <p:txBody>
          <a:bodyPr wrap="square" lIns="0" rIns="0" tIns="0" bIns="0" anchor="t">
            <a:spAutoFit/>
          </a:bodyPr>
          <a:lstStyle/>
          <a:p>
            <a:pPr algn="r"/>
            <a:r>
              <a:rPr sz="850" b="1">
                <a:solidFill>
                  <a:srgbClr val="5A6478"/>
                </a:solidFill>
                <a:latin typeface="Calibri"/>
              </a:rPr>
              <a:t>PEOPLE WITH ACCESS</a:t>
            </a:r>
          </a:p>
        </p:txBody>
      </p:sp>
      <p:sp>
        <p:nvSpPr>
          <p:cNvPr id="15" name="Rectangle 14"/>
          <p:cNvSpPr/>
          <p:nvPr/>
        </p:nvSpPr>
        <p:spPr>
          <a:xfrm>
            <a:off x="566928" y="2587752"/>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587752"/>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788920"/>
            <a:ext cx="457200" cy="457200"/>
          </a:xfrm>
          <a:prstGeom prst="rect">
            <a:avLst/>
          </a:prstGeom>
          <a:noFill/>
        </p:spPr>
        <p:txBody>
          <a:bodyPr wrap="square" lIns="0" rIns="0" tIns="0" bIns="0" anchor="t">
            <a:spAutoFit/>
          </a:bodyPr>
          <a:lstStyle/>
          <a:p>
            <a:pPr algn="l"/>
            <a:r>
              <a:rPr sz="2200" b="1">
                <a:solidFill>
                  <a:srgbClr val="1E2761"/>
                </a:solidFill>
                <a:latin typeface="Cambria"/>
              </a:rPr>
              <a:t>2</a:t>
            </a:r>
          </a:p>
        </p:txBody>
      </p:sp>
      <p:sp>
        <p:nvSpPr>
          <p:cNvPr id="18" name="TextBox 17"/>
          <p:cNvSpPr txBox="1"/>
          <p:nvPr/>
        </p:nvSpPr>
        <p:spPr>
          <a:xfrm>
            <a:off x="1435608" y="2734056"/>
            <a:ext cx="4937760" cy="292608"/>
          </a:xfrm>
          <a:prstGeom prst="rect">
            <a:avLst/>
          </a:prstGeom>
          <a:noFill/>
        </p:spPr>
        <p:txBody>
          <a:bodyPr wrap="square" lIns="0" rIns="0" tIns="0" bIns="0" anchor="t">
            <a:spAutoFit/>
          </a:bodyPr>
          <a:lstStyle/>
          <a:p>
            <a:pPr algn="l"/>
            <a:r>
              <a:rPr sz="1500" b="1">
                <a:solidFill>
                  <a:srgbClr val="16203F"/>
                </a:solidFill>
                <a:latin typeface="Cambria"/>
              </a:rPr>
              <a:t>Staff headcount</a:t>
            </a:r>
          </a:p>
        </p:txBody>
      </p:sp>
      <p:sp>
        <p:nvSpPr>
          <p:cNvPr id="19" name="TextBox 18"/>
          <p:cNvSpPr txBox="1"/>
          <p:nvPr/>
        </p:nvSpPr>
        <p:spPr>
          <a:xfrm>
            <a:off x="1435608" y="3063240"/>
            <a:ext cx="5303520" cy="256032"/>
          </a:xfrm>
          <a:prstGeom prst="rect">
            <a:avLst/>
          </a:prstGeom>
          <a:noFill/>
        </p:spPr>
        <p:txBody>
          <a:bodyPr wrap="square" lIns="0" rIns="0" tIns="0" bIns="0" anchor="t">
            <a:spAutoFit/>
          </a:bodyPr>
          <a:lstStyle/>
          <a:p>
            <a:pPr algn="l"/>
            <a:r>
              <a:rPr sz="1050" b="0">
                <a:solidFill>
                  <a:srgbClr val="5A6478"/>
                </a:solidFill>
                <a:latin typeface="Calibri"/>
              </a:rPr>
              <a:t>Who is on file across the six companies</a:t>
            </a:r>
          </a:p>
        </p:txBody>
      </p:sp>
      <p:sp>
        <p:nvSpPr>
          <p:cNvPr id="20" name="TextBox 19"/>
          <p:cNvSpPr txBox="1"/>
          <p:nvPr/>
        </p:nvSpPr>
        <p:spPr>
          <a:xfrm>
            <a:off x="8705088" y="2715768"/>
            <a:ext cx="2651760" cy="457200"/>
          </a:xfrm>
          <a:prstGeom prst="rect">
            <a:avLst/>
          </a:prstGeom>
          <a:noFill/>
        </p:spPr>
        <p:txBody>
          <a:bodyPr wrap="square" lIns="0" rIns="0" tIns="0" bIns="0" anchor="t">
            <a:spAutoFit/>
          </a:bodyPr>
          <a:lstStyle/>
          <a:p>
            <a:pPr algn="r"/>
            <a:r>
              <a:rPr sz="2400" b="1">
                <a:solidFill>
                  <a:srgbClr val="1E2761"/>
                </a:solidFill>
                <a:latin typeface="Cambria"/>
              </a:rPr>
              <a:t>745</a:t>
            </a:r>
          </a:p>
        </p:txBody>
      </p:sp>
      <p:sp>
        <p:nvSpPr>
          <p:cNvPr id="21" name="TextBox 20"/>
          <p:cNvSpPr txBox="1"/>
          <p:nvPr/>
        </p:nvSpPr>
        <p:spPr>
          <a:xfrm>
            <a:off x="8705088" y="3118104"/>
            <a:ext cx="2651760" cy="237744"/>
          </a:xfrm>
          <a:prstGeom prst="rect">
            <a:avLst/>
          </a:prstGeom>
          <a:noFill/>
        </p:spPr>
        <p:txBody>
          <a:bodyPr wrap="square" lIns="0" rIns="0" tIns="0" bIns="0" anchor="t">
            <a:spAutoFit/>
          </a:bodyPr>
          <a:lstStyle/>
          <a:p>
            <a:pPr algn="r"/>
            <a:r>
              <a:rPr sz="850" b="1">
                <a:solidFill>
                  <a:srgbClr val="5A6478"/>
                </a:solidFill>
                <a:latin typeface="Calibri"/>
              </a:rPr>
              <a:t>ACTIVE STAFF</a:t>
            </a:r>
          </a:p>
        </p:txBody>
      </p:sp>
      <p:sp>
        <p:nvSpPr>
          <p:cNvPr id="22" name="Rectangle 21"/>
          <p:cNvSpPr/>
          <p:nvPr/>
        </p:nvSpPr>
        <p:spPr>
          <a:xfrm>
            <a:off x="566928" y="3529584"/>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529584"/>
            <a:ext cx="45720" cy="8412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3730752"/>
            <a:ext cx="457200" cy="457200"/>
          </a:xfrm>
          <a:prstGeom prst="rect">
            <a:avLst/>
          </a:prstGeom>
          <a:noFill/>
        </p:spPr>
        <p:txBody>
          <a:bodyPr wrap="square" lIns="0" rIns="0" tIns="0" bIns="0" anchor="t">
            <a:spAutoFit/>
          </a:bodyPr>
          <a:lstStyle/>
          <a:p>
            <a:pPr algn="l"/>
            <a:r>
              <a:rPr sz="2200" b="1">
                <a:solidFill>
                  <a:srgbClr val="F9A825"/>
                </a:solidFill>
                <a:latin typeface="Cambria"/>
              </a:rPr>
              <a:t>3</a:t>
            </a:r>
          </a:p>
        </p:txBody>
      </p:sp>
      <p:sp>
        <p:nvSpPr>
          <p:cNvPr id="25" name="TextBox 24"/>
          <p:cNvSpPr txBox="1"/>
          <p:nvPr/>
        </p:nvSpPr>
        <p:spPr>
          <a:xfrm>
            <a:off x="1435608" y="3675888"/>
            <a:ext cx="4937760" cy="292608"/>
          </a:xfrm>
          <a:prstGeom prst="rect">
            <a:avLst/>
          </a:prstGeom>
          <a:noFill/>
        </p:spPr>
        <p:txBody>
          <a:bodyPr wrap="square" lIns="0" rIns="0" tIns="0" bIns="0" anchor="t">
            <a:spAutoFit/>
          </a:bodyPr>
          <a:lstStyle/>
          <a:p>
            <a:pPr algn="l"/>
            <a:r>
              <a:rPr sz="1500" b="1">
                <a:solidFill>
                  <a:srgbClr val="16203F"/>
                </a:solidFill>
                <a:latin typeface="Cambria"/>
              </a:rPr>
              <a:t>Job spec approval</a:t>
            </a:r>
          </a:p>
        </p:txBody>
      </p:sp>
      <p:sp>
        <p:nvSpPr>
          <p:cNvPr id="26" name="TextBox 25"/>
          <p:cNvSpPr txBox="1"/>
          <p:nvPr/>
        </p:nvSpPr>
        <p:spPr>
          <a:xfrm>
            <a:off x="1435608" y="4005072"/>
            <a:ext cx="5303520" cy="256032"/>
          </a:xfrm>
          <a:prstGeom prst="rect">
            <a:avLst/>
          </a:prstGeom>
          <a:noFill/>
        </p:spPr>
        <p:txBody>
          <a:bodyPr wrap="square" lIns="0" rIns="0" tIns="0" bIns="0" anchor="t">
            <a:spAutoFit/>
          </a:bodyPr>
          <a:lstStyle/>
          <a:p>
            <a:pPr algn="l"/>
            <a:r>
              <a:rPr sz="1050" b="0">
                <a:solidFill>
                  <a:srgbClr val="5A6478"/>
                </a:solidFill>
                <a:latin typeface="Calibri"/>
              </a:rPr>
              <a:t>Where the approval backlog sits</a:t>
            </a:r>
          </a:p>
        </p:txBody>
      </p:sp>
      <p:sp>
        <p:nvSpPr>
          <p:cNvPr id="27" name="TextBox 26"/>
          <p:cNvSpPr txBox="1"/>
          <p:nvPr/>
        </p:nvSpPr>
        <p:spPr>
          <a:xfrm>
            <a:off x="8705088" y="3657600"/>
            <a:ext cx="2651760" cy="457200"/>
          </a:xfrm>
          <a:prstGeom prst="rect">
            <a:avLst/>
          </a:prstGeom>
          <a:noFill/>
        </p:spPr>
        <p:txBody>
          <a:bodyPr wrap="square" lIns="0" rIns="0" tIns="0" bIns="0" anchor="t">
            <a:spAutoFit/>
          </a:bodyPr>
          <a:lstStyle/>
          <a:p>
            <a:pPr algn="r"/>
            <a:r>
              <a:rPr sz="2400" b="1">
                <a:solidFill>
                  <a:srgbClr val="F9A825"/>
                </a:solidFill>
                <a:latin typeface="Cambria"/>
              </a:rPr>
              <a:t>28%</a:t>
            </a:r>
          </a:p>
        </p:txBody>
      </p:sp>
      <p:sp>
        <p:nvSpPr>
          <p:cNvPr id="28" name="TextBox 27"/>
          <p:cNvSpPr txBox="1"/>
          <p:nvPr/>
        </p:nvSpPr>
        <p:spPr>
          <a:xfrm>
            <a:off x="8705088" y="4059936"/>
            <a:ext cx="2651760" cy="237744"/>
          </a:xfrm>
          <a:prstGeom prst="rect">
            <a:avLst/>
          </a:prstGeom>
          <a:noFill/>
        </p:spPr>
        <p:txBody>
          <a:bodyPr wrap="square" lIns="0" rIns="0" tIns="0" bIns="0" anchor="t">
            <a:spAutoFit/>
          </a:bodyPr>
          <a:lstStyle/>
          <a:p>
            <a:pPr algn="r"/>
            <a:r>
              <a:rPr sz="850" b="1">
                <a:solidFill>
                  <a:srgbClr val="5A6478"/>
                </a:solidFill>
                <a:latin typeface="Calibri"/>
              </a:rPr>
              <a:t>VERSIONS APPROVED</a:t>
            </a:r>
          </a:p>
        </p:txBody>
      </p:sp>
      <p:sp>
        <p:nvSpPr>
          <p:cNvPr id="29" name="Rectangle 28"/>
          <p:cNvSpPr/>
          <p:nvPr/>
        </p:nvSpPr>
        <p:spPr>
          <a:xfrm>
            <a:off x="566928" y="4471416"/>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471416"/>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4672584"/>
            <a:ext cx="457200" cy="457200"/>
          </a:xfrm>
          <a:prstGeom prst="rect">
            <a:avLst/>
          </a:prstGeom>
          <a:noFill/>
        </p:spPr>
        <p:txBody>
          <a:bodyPr wrap="square" lIns="0" rIns="0" tIns="0" bIns="0" anchor="t">
            <a:spAutoFit/>
          </a:bodyPr>
          <a:lstStyle/>
          <a:p>
            <a:pPr algn="l"/>
            <a:r>
              <a:rPr sz="2200" b="1">
                <a:solidFill>
                  <a:srgbClr val="2E7D32"/>
                </a:solidFill>
                <a:latin typeface="Cambria"/>
              </a:rPr>
              <a:t>4</a:t>
            </a:r>
          </a:p>
        </p:txBody>
      </p:sp>
      <p:sp>
        <p:nvSpPr>
          <p:cNvPr id="32" name="TextBox 31"/>
          <p:cNvSpPr txBox="1"/>
          <p:nvPr/>
        </p:nvSpPr>
        <p:spPr>
          <a:xfrm>
            <a:off x="1435608" y="4617720"/>
            <a:ext cx="4937760" cy="292608"/>
          </a:xfrm>
          <a:prstGeom prst="rect">
            <a:avLst/>
          </a:prstGeom>
          <a:noFill/>
        </p:spPr>
        <p:txBody>
          <a:bodyPr wrap="square" lIns="0" rIns="0" tIns="0" bIns="0" anchor="t">
            <a:spAutoFit/>
          </a:bodyPr>
          <a:lstStyle/>
          <a:p>
            <a:pPr algn="l"/>
            <a:r>
              <a:rPr sz="1500" b="1">
                <a:solidFill>
                  <a:srgbClr val="16203F"/>
                </a:solidFill>
                <a:latin typeface="Cambria"/>
              </a:rPr>
              <a:t>Merit / Demerit</a:t>
            </a:r>
          </a:p>
        </p:txBody>
      </p:sp>
      <p:sp>
        <p:nvSpPr>
          <p:cNvPr id="33" name="TextBox 32"/>
          <p:cNvSpPr txBox="1"/>
          <p:nvPr/>
        </p:nvSpPr>
        <p:spPr>
          <a:xfrm>
            <a:off x="1435608" y="4946904"/>
            <a:ext cx="5303520" cy="256032"/>
          </a:xfrm>
          <a:prstGeom prst="rect">
            <a:avLst/>
          </a:prstGeom>
          <a:noFill/>
        </p:spPr>
        <p:txBody>
          <a:bodyPr wrap="square" lIns="0" rIns="0" tIns="0" bIns="0" anchor="t">
            <a:spAutoFit/>
          </a:bodyPr>
          <a:lstStyle/>
          <a:p>
            <a:pPr algn="l"/>
            <a:r>
              <a:rPr sz="1050" b="0">
                <a:solidFill>
                  <a:srgbClr val="5A6478"/>
                </a:solidFill>
                <a:latin typeface="Calibri"/>
              </a:rPr>
              <a:t>Who is using the recognition tool</a:t>
            </a:r>
          </a:p>
        </p:txBody>
      </p:sp>
      <p:sp>
        <p:nvSpPr>
          <p:cNvPr id="34" name="TextBox 33"/>
          <p:cNvSpPr txBox="1"/>
          <p:nvPr/>
        </p:nvSpPr>
        <p:spPr>
          <a:xfrm>
            <a:off x="8705088" y="4599432"/>
            <a:ext cx="2651760" cy="457200"/>
          </a:xfrm>
          <a:prstGeom prst="rect">
            <a:avLst/>
          </a:prstGeom>
          <a:noFill/>
        </p:spPr>
        <p:txBody>
          <a:bodyPr wrap="square" lIns="0" rIns="0" tIns="0" bIns="0" anchor="t">
            <a:spAutoFit/>
          </a:bodyPr>
          <a:lstStyle/>
          <a:p>
            <a:pPr algn="r"/>
            <a:r>
              <a:rPr sz="2400" b="1">
                <a:solidFill>
                  <a:srgbClr val="2E7D32"/>
                </a:solidFill>
                <a:latin typeface="Cambria"/>
              </a:rPr>
              <a:t>1,207</a:t>
            </a:r>
          </a:p>
        </p:txBody>
      </p:sp>
      <p:sp>
        <p:nvSpPr>
          <p:cNvPr id="35" name="TextBox 34"/>
          <p:cNvSpPr txBox="1"/>
          <p:nvPr/>
        </p:nvSpPr>
        <p:spPr>
          <a:xfrm>
            <a:off x="8705088" y="5001768"/>
            <a:ext cx="2651760" cy="237744"/>
          </a:xfrm>
          <a:prstGeom prst="rect">
            <a:avLst/>
          </a:prstGeom>
          <a:noFill/>
        </p:spPr>
        <p:txBody>
          <a:bodyPr wrap="square" lIns="0" rIns="0" tIns="0" bIns="0" anchor="t">
            <a:spAutoFit/>
          </a:bodyPr>
          <a:lstStyle/>
          <a:p>
            <a:pPr algn="r"/>
            <a:r>
              <a:rPr sz="850" b="1">
                <a:solidFill>
                  <a:srgbClr val="5A6478"/>
                </a:solidFill>
                <a:latin typeface="Calibri"/>
              </a:rPr>
              <a:t>RECORDS ISSUED</a:t>
            </a:r>
          </a:p>
        </p:txBody>
      </p:sp>
      <p:sp>
        <p:nvSpPr>
          <p:cNvPr id="36" name="Rectangle 35"/>
          <p:cNvSpPr/>
          <p:nvPr/>
        </p:nvSpPr>
        <p:spPr>
          <a:xfrm>
            <a:off x="566928" y="5413248"/>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413248"/>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614416"/>
            <a:ext cx="457200" cy="457200"/>
          </a:xfrm>
          <a:prstGeom prst="rect">
            <a:avLst/>
          </a:prstGeom>
          <a:noFill/>
        </p:spPr>
        <p:txBody>
          <a:bodyPr wrap="square" lIns="0" rIns="0" tIns="0" bIns="0" anchor="t">
            <a:spAutoFit/>
          </a:bodyPr>
          <a:lstStyle/>
          <a:p>
            <a:pPr algn="l"/>
            <a:r>
              <a:rPr sz="2200" b="1">
                <a:solidFill>
                  <a:srgbClr val="2E7D32"/>
                </a:solidFill>
                <a:latin typeface="Cambria"/>
              </a:rPr>
              <a:t>5</a:t>
            </a:r>
          </a:p>
        </p:txBody>
      </p:sp>
      <p:sp>
        <p:nvSpPr>
          <p:cNvPr id="39" name="TextBox 38"/>
          <p:cNvSpPr txBox="1"/>
          <p:nvPr/>
        </p:nvSpPr>
        <p:spPr>
          <a:xfrm>
            <a:off x="1435608" y="5559552"/>
            <a:ext cx="4937760" cy="292608"/>
          </a:xfrm>
          <a:prstGeom prst="rect">
            <a:avLst/>
          </a:prstGeom>
          <a:noFill/>
        </p:spPr>
        <p:txBody>
          <a:bodyPr wrap="square" lIns="0" rIns="0" tIns="0" bIns="0" anchor="t">
            <a:spAutoFit/>
          </a:bodyPr>
          <a:lstStyle/>
          <a:p>
            <a:pPr algn="l"/>
            <a:r>
              <a:rPr sz="1500" b="1">
                <a:solidFill>
                  <a:srgbClr val="16203F"/>
                </a:solidFill>
                <a:latin typeface="Cambria"/>
              </a:rPr>
              <a:t>Memo activity</a:t>
            </a:r>
          </a:p>
        </p:txBody>
      </p:sp>
      <p:sp>
        <p:nvSpPr>
          <p:cNvPr id="40" name="TextBox 39"/>
          <p:cNvSpPr txBox="1"/>
          <p:nvPr/>
        </p:nvSpPr>
        <p:spPr>
          <a:xfrm>
            <a:off x="1435608" y="5888736"/>
            <a:ext cx="5303520" cy="256032"/>
          </a:xfrm>
          <a:prstGeom prst="rect">
            <a:avLst/>
          </a:prstGeom>
          <a:noFill/>
        </p:spPr>
        <p:txBody>
          <a:bodyPr wrap="square" lIns="0" rIns="0" tIns="0" bIns="0" anchor="t">
            <a:spAutoFit/>
          </a:bodyPr>
          <a:lstStyle/>
          <a:p>
            <a:pPr algn="l"/>
            <a:r>
              <a:rPr sz="1050" b="0">
                <a:solidFill>
                  <a:srgbClr val="5A6478"/>
                </a:solidFill>
                <a:latin typeface="Calibri"/>
              </a:rPr>
              <a:t>Is the group-wide broadcast back in use?</a:t>
            </a:r>
          </a:p>
        </p:txBody>
      </p:sp>
      <p:sp>
        <p:nvSpPr>
          <p:cNvPr id="41" name="TextBox 40"/>
          <p:cNvSpPr txBox="1"/>
          <p:nvPr/>
        </p:nvSpPr>
        <p:spPr>
          <a:xfrm>
            <a:off x="8705088" y="5541264"/>
            <a:ext cx="2651760" cy="457200"/>
          </a:xfrm>
          <a:prstGeom prst="rect">
            <a:avLst/>
          </a:prstGeom>
          <a:noFill/>
        </p:spPr>
        <p:txBody>
          <a:bodyPr wrap="square" lIns="0" rIns="0" tIns="0" bIns="0" anchor="t">
            <a:spAutoFit/>
          </a:bodyPr>
          <a:lstStyle/>
          <a:p>
            <a:pPr algn="r"/>
            <a:r>
              <a:rPr sz="2400" b="1">
                <a:solidFill>
                  <a:srgbClr val="2E7D32"/>
                </a:solidFill>
                <a:latin typeface="Cambria"/>
              </a:rPr>
              <a:t>9</a:t>
            </a:r>
          </a:p>
        </p:txBody>
      </p:sp>
      <p:sp>
        <p:nvSpPr>
          <p:cNvPr id="42" name="TextBox 41"/>
          <p:cNvSpPr txBox="1"/>
          <p:nvPr/>
        </p:nvSpPr>
        <p:spPr>
          <a:xfrm>
            <a:off x="8705088" y="5943600"/>
            <a:ext cx="2651760" cy="237744"/>
          </a:xfrm>
          <a:prstGeom prst="rect">
            <a:avLst/>
          </a:prstGeom>
          <a:noFill/>
        </p:spPr>
        <p:txBody>
          <a:bodyPr wrap="square" lIns="0" rIns="0" tIns="0" bIns="0" anchor="t">
            <a:spAutoFit/>
          </a:bodyPr>
          <a:lstStyle/>
          <a:p>
            <a:pPr algn="r"/>
            <a:r>
              <a:rPr sz="850" b="1">
                <a:solidFill>
                  <a:srgbClr val="5A6478"/>
                </a:solidFill>
                <a:latin typeface="Calibri"/>
              </a:rPr>
              <a:t>SENT IN 2026</a:t>
            </a:r>
          </a:p>
        </p:txBody>
      </p:sp>
      <p:sp>
        <p:nvSpPr>
          <p:cNvPr id="43" name="TextBox 4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figures re-queried from the live system on 12 Oct 2026. Staff and general worker counts on the same basis as the MK Command staff overview page; job spec figures on the same basis as the application's own approval report. General workers now include Arus Sawit, which earlier reviews left out of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ONE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Ownership</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can run this in each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1 · OWNERSHIP</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Ownership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4 with whole-group access and 10 company administrators across seven companies. Each list leads with that company's owner — the name to go to first.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91056"/>
            <a:ext cx="8229600" cy="274320"/>
          </a:xfrm>
          <a:prstGeom prst="rect">
            <a:avLst/>
          </a:prstGeom>
          <a:noFill/>
        </p:spPr>
        <p:txBody>
          <a:bodyPr wrap="square" lIns="0" rIns="0" tIns="0" bIns="0" anchor="t">
            <a:spAutoFit/>
          </a:bodyPr>
          <a:lstStyle/>
          <a:p>
            <a:pPr algn="l"/>
            <a:r>
              <a:rPr sz="1400" b="1">
                <a:solidFill>
                  <a:srgbClr val="1E2761"/>
                </a:solidFill>
                <a:latin typeface="Cambria"/>
              </a:rPr>
              <a:t>Whole group access</a:t>
            </a:r>
            <a:r>
              <a:rPr sz="1100" b="0">
                <a:solidFill>
                  <a:srgbClr val="5A6478"/>
                </a:solidFill>
                <a:latin typeface="Calibri"/>
              </a:rPr>
              <a:t>   —  can act on any company</a:t>
            </a:r>
          </a:p>
        </p:txBody>
      </p:sp>
      <p:sp>
        <p:nvSpPr>
          <p:cNvPr id="9" name="Rectangle 8"/>
          <p:cNvSpPr/>
          <p:nvPr/>
        </p:nvSpPr>
        <p:spPr>
          <a:xfrm>
            <a:off x="566928"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Chua Shin Fun @ Kevin Chua</a:t>
            </a:r>
          </a:p>
        </p:txBody>
      </p:sp>
      <p:sp>
        <p:nvSpPr>
          <p:cNvPr id="12" name="TextBox 11"/>
          <p:cNvSpPr txBox="1"/>
          <p:nvPr/>
        </p:nvSpPr>
        <p:spPr>
          <a:xfrm>
            <a:off x="749808"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IT Manager</a:t>
            </a:r>
          </a:p>
        </p:txBody>
      </p:sp>
      <p:sp>
        <p:nvSpPr>
          <p:cNvPr id="13" name="TextBox 12"/>
          <p:cNvSpPr txBox="1"/>
          <p:nvPr/>
        </p:nvSpPr>
        <p:spPr>
          <a:xfrm>
            <a:off x="749808"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4" name="Rectangle 13"/>
          <p:cNvSpPr/>
          <p:nvPr/>
        </p:nvSpPr>
        <p:spPr>
          <a:xfrm>
            <a:off x="3383280"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Siti Khadijah Binti Kabul</a:t>
            </a:r>
          </a:p>
        </p:txBody>
      </p:sp>
      <p:sp>
        <p:nvSpPr>
          <p:cNvPr id="17" name="TextBox 16"/>
          <p:cNvSpPr txBox="1"/>
          <p:nvPr/>
        </p:nvSpPr>
        <p:spPr>
          <a:xfrm>
            <a:off x="3566160"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Web Programmer</a:t>
            </a:r>
          </a:p>
        </p:txBody>
      </p:sp>
      <p:sp>
        <p:nvSpPr>
          <p:cNvPr id="18" name="TextBox 17"/>
          <p:cNvSpPr txBox="1"/>
          <p:nvPr/>
        </p:nvSpPr>
        <p:spPr>
          <a:xfrm>
            <a:off x="3566160"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9" name="Rectangle 18"/>
          <p:cNvSpPr/>
          <p:nvPr/>
        </p:nvSpPr>
        <p:spPr>
          <a:xfrm>
            <a:off x="6199632"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Soo Zhao Yuan Nathan</a:t>
            </a:r>
          </a:p>
        </p:txBody>
      </p:sp>
      <p:sp>
        <p:nvSpPr>
          <p:cNvPr id="22" name="TextBox 21"/>
          <p:cNvSpPr txBox="1"/>
          <p:nvPr/>
        </p:nvSpPr>
        <p:spPr>
          <a:xfrm>
            <a:off x="6382512"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Programmer</a:t>
            </a:r>
          </a:p>
        </p:txBody>
      </p:sp>
      <p:sp>
        <p:nvSpPr>
          <p:cNvPr id="23" name="TextBox 22"/>
          <p:cNvSpPr txBox="1"/>
          <p:nvPr/>
        </p:nvSpPr>
        <p:spPr>
          <a:xfrm>
            <a:off x="6382512"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24" name="TextBox 23"/>
          <p:cNvSpPr txBox="1"/>
          <p:nvPr/>
        </p:nvSpPr>
        <p:spPr>
          <a:xfrm>
            <a:off x="566928" y="2944368"/>
            <a:ext cx="10515600" cy="274320"/>
          </a:xfrm>
          <a:prstGeom prst="rect">
            <a:avLst/>
          </a:prstGeom>
          <a:noFill/>
        </p:spPr>
        <p:txBody>
          <a:bodyPr wrap="square" lIns="0" rIns="0" tIns="0" bIns="0" anchor="t">
            <a:spAutoFit/>
          </a:bodyPr>
          <a:lstStyle/>
          <a:p>
            <a:pPr algn="l"/>
            <a:r>
              <a:rPr sz="1400" b="1">
                <a:solidFill>
                  <a:srgbClr val="1E2761"/>
                </a:solidFill>
                <a:latin typeface="Cambria"/>
              </a:rPr>
              <a:t>Company administrators</a:t>
            </a:r>
            <a:r>
              <a:rPr sz="1100" b="0">
                <a:solidFill>
                  <a:srgbClr val="5A6478"/>
                </a:solidFill>
                <a:latin typeface="Calibri"/>
              </a:rPr>
              <a:t>   —  can act on their own company only</a:t>
            </a:r>
          </a:p>
        </p:txBody>
      </p:sp>
      <p:sp>
        <p:nvSpPr>
          <p:cNvPr id="25" name="Rectangle 24"/>
          <p:cNvSpPr/>
          <p:nvPr/>
        </p:nvSpPr>
        <p:spPr>
          <a:xfrm>
            <a:off x="56692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Globinaco</a:t>
            </a:r>
          </a:p>
        </p:txBody>
      </p:sp>
      <p:sp>
        <p:nvSpPr>
          <p:cNvPr id="28" name="TextBox 27"/>
          <p:cNvSpPr txBox="1"/>
          <p:nvPr/>
        </p:nvSpPr>
        <p:spPr>
          <a:xfrm>
            <a:off x="331012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29" name="TextBox 28"/>
          <p:cNvSpPr txBox="1"/>
          <p:nvPr/>
        </p:nvSpPr>
        <p:spPr>
          <a:xfrm>
            <a:off x="76809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Vincent Ng Tung Hau</a:t>
            </a:r>
            <a:r>
              <a:rPr sz="800" b="1">
                <a:solidFill>
                  <a:srgbClr val="F9A825"/>
                </a:solidFill>
                <a:latin typeface="Calibri"/>
              </a:rPr>
              <a:t>  OWNER</a:t>
            </a:r>
          </a:p>
        </p:txBody>
      </p:sp>
      <p:sp>
        <p:nvSpPr>
          <p:cNvPr id="30" name="TextBox 29"/>
          <p:cNvSpPr txBox="1"/>
          <p:nvPr/>
        </p:nvSpPr>
        <p:spPr>
          <a:xfrm>
            <a:off x="768096"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Jeffrey Soo Yee Lieh</a:t>
            </a:r>
          </a:p>
        </p:txBody>
      </p:sp>
      <p:sp>
        <p:nvSpPr>
          <p:cNvPr id="31" name="Rectangle 30"/>
          <p:cNvSpPr/>
          <p:nvPr/>
        </p:nvSpPr>
        <p:spPr>
          <a:xfrm>
            <a:off x="4443983"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43983"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Arus Sawit</a:t>
            </a:r>
          </a:p>
        </p:txBody>
      </p:sp>
      <p:sp>
        <p:nvSpPr>
          <p:cNvPr id="34" name="TextBox 33"/>
          <p:cNvSpPr txBox="1"/>
          <p:nvPr/>
        </p:nvSpPr>
        <p:spPr>
          <a:xfrm>
            <a:off x="7187183"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35" name="TextBox 34"/>
          <p:cNvSpPr txBox="1"/>
          <p:nvPr/>
        </p:nvSpPr>
        <p:spPr>
          <a:xfrm>
            <a:off x="4645151"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Asyraf bin Yahya</a:t>
            </a:r>
            <a:r>
              <a:rPr sz="800" b="1">
                <a:solidFill>
                  <a:srgbClr val="F9A825"/>
                </a:solidFill>
                <a:latin typeface="Calibri"/>
              </a:rPr>
              <a:t>  OWNER</a:t>
            </a:r>
          </a:p>
        </p:txBody>
      </p:sp>
      <p:sp>
        <p:nvSpPr>
          <p:cNvPr id="36" name="TextBox 35"/>
          <p:cNvSpPr txBox="1"/>
          <p:nvPr/>
        </p:nvSpPr>
        <p:spPr>
          <a:xfrm>
            <a:off x="4645151"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Lim Chen Eng</a:t>
            </a:r>
          </a:p>
        </p:txBody>
      </p:sp>
      <p:sp>
        <p:nvSpPr>
          <p:cNvPr id="37" name="Rectangle 36"/>
          <p:cNvSpPr/>
          <p:nvPr/>
        </p:nvSpPr>
        <p:spPr>
          <a:xfrm>
            <a:off x="832103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103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220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Hotel Grandis</a:t>
            </a:r>
          </a:p>
        </p:txBody>
      </p:sp>
      <p:sp>
        <p:nvSpPr>
          <p:cNvPr id="40" name="TextBox 39"/>
          <p:cNvSpPr txBox="1"/>
          <p:nvPr/>
        </p:nvSpPr>
        <p:spPr>
          <a:xfrm>
            <a:off x="1106423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1" name="TextBox 40"/>
          <p:cNvSpPr txBox="1"/>
          <p:nvPr/>
        </p:nvSpPr>
        <p:spPr>
          <a:xfrm>
            <a:off x="852220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Natasha Beatta Gait</a:t>
            </a:r>
            <a:r>
              <a:rPr sz="800" b="1">
                <a:solidFill>
                  <a:srgbClr val="F9A825"/>
                </a:solidFill>
                <a:latin typeface="Calibri"/>
              </a:rPr>
              <a:t>  OWNER</a:t>
            </a:r>
          </a:p>
        </p:txBody>
      </p:sp>
      <p:sp>
        <p:nvSpPr>
          <p:cNvPr id="42" name="Rectangle 41"/>
          <p:cNvSpPr/>
          <p:nvPr/>
        </p:nvSpPr>
        <p:spPr>
          <a:xfrm>
            <a:off x="56692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TP Group</a:t>
            </a:r>
          </a:p>
        </p:txBody>
      </p:sp>
      <p:sp>
        <p:nvSpPr>
          <p:cNvPr id="45" name="TextBox 44"/>
          <p:cNvSpPr txBox="1"/>
          <p:nvPr/>
        </p:nvSpPr>
        <p:spPr>
          <a:xfrm>
            <a:off x="331012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6" name="TextBox 45"/>
          <p:cNvSpPr txBox="1"/>
          <p:nvPr/>
        </p:nvSpPr>
        <p:spPr>
          <a:xfrm>
            <a:off x="76809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Vun Nyet Lan</a:t>
            </a:r>
            <a:r>
              <a:rPr sz="800" b="1">
                <a:solidFill>
                  <a:srgbClr val="F9A825"/>
                </a:solidFill>
                <a:latin typeface="Calibri"/>
              </a:rPr>
              <a:t>  OWNER</a:t>
            </a:r>
          </a:p>
        </p:txBody>
      </p:sp>
      <p:sp>
        <p:nvSpPr>
          <p:cNvPr id="47" name="Rectangle 46"/>
          <p:cNvSpPr/>
          <p:nvPr/>
        </p:nvSpPr>
        <p:spPr>
          <a:xfrm>
            <a:off x="4443983"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43983"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5151"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AMC</a:t>
            </a:r>
          </a:p>
        </p:txBody>
      </p:sp>
      <p:sp>
        <p:nvSpPr>
          <p:cNvPr id="50" name="TextBox 49"/>
          <p:cNvSpPr txBox="1"/>
          <p:nvPr/>
        </p:nvSpPr>
        <p:spPr>
          <a:xfrm>
            <a:off x="7187183"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1" name="TextBox 50"/>
          <p:cNvSpPr txBox="1"/>
          <p:nvPr/>
        </p:nvSpPr>
        <p:spPr>
          <a:xfrm>
            <a:off x="4645151"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Aqilla Dalinte</a:t>
            </a:r>
            <a:r>
              <a:rPr sz="800" b="1">
                <a:solidFill>
                  <a:srgbClr val="F9A825"/>
                </a:solidFill>
                <a:latin typeface="Calibri"/>
              </a:rPr>
              <a:t>  OWNER</a:t>
            </a:r>
          </a:p>
        </p:txBody>
      </p:sp>
      <p:sp>
        <p:nvSpPr>
          <p:cNvPr id="52" name="TextBox 51"/>
          <p:cNvSpPr txBox="1"/>
          <p:nvPr/>
        </p:nvSpPr>
        <p:spPr>
          <a:xfrm>
            <a:off x="4645151" y="5664708"/>
            <a:ext cx="3310127" cy="219456"/>
          </a:xfrm>
          <a:prstGeom prst="rect">
            <a:avLst/>
          </a:prstGeom>
          <a:noFill/>
        </p:spPr>
        <p:txBody>
          <a:bodyPr wrap="square" lIns="0" rIns="0" tIns="0" bIns="0" anchor="t">
            <a:spAutoFit/>
          </a:bodyPr>
          <a:lstStyle/>
          <a:p>
            <a:pPr algn="l"/>
            <a:r>
              <a:rPr sz="1000" b="0">
                <a:solidFill>
                  <a:srgbClr val="3A425C"/>
                </a:solidFill>
                <a:latin typeface="Calibri"/>
              </a:rPr>
              <a:t>Dr Pan</a:t>
            </a:r>
          </a:p>
        </p:txBody>
      </p:sp>
      <p:sp>
        <p:nvSpPr>
          <p:cNvPr id="53" name="Rectangle 52"/>
          <p:cNvSpPr/>
          <p:nvPr/>
        </p:nvSpPr>
        <p:spPr>
          <a:xfrm>
            <a:off x="832103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2103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2220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Likas Square</a:t>
            </a:r>
          </a:p>
        </p:txBody>
      </p:sp>
      <p:sp>
        <p:nvSpPr>
          <p:cNvPr id="56" name="TextBox 55"/>
          <p:cNvSpPr txBox="1"/>
          <p:nvPr/>
        </p:nvSpPr>
        <p:spPr>
          <a:xfrm>
            <a:off x="1106423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7" name="TextBox 56"/>
          <p:cNvSpPr txBox="1"/>
          <p:nvPr/>
        </p:nvSpPr>
        <p:spPr>
          <a:xfrm>
            <a:off x="852220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Fionne Foo Ka Kyun</a:t>
            </a:r>
            <a:r>
              <a:rPr sz="800" b="1">
                <a:solidFill>
                  <a:srgbClr val="F9A825"/>
                </a:solidFill>
                <a:latin typeface="Calibri"/>
              </a:rPr>
              <a:t>  OWNER</a:t>
            </a:r>
          </a:p>
        </p:txBody>
      </p:sp>
      <p:sp>
        <p:nvSpPr>
          <p:cNvPr id="58" name="TextBox 57"/>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Access grants read from the training system on 12 Oct 2026. Whole group = a grant that is not tied to one company; OWNER = the grant marked as that company's owner. The 35 people who can only assign training are a lesser right and are not counted here. Every company in this review holds at least one administrator.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TWO</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Staff Headcount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on file across the six companies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745 active staff group-wide, and 954 general workers once Arus Sawit is counted.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745</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Active staff, group-wide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Everyone in service across the six companies, including the 16 exempt from KPI scoring.</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954</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369 at Globinaco and 585 at Arus Sawit. September counted Globinaco's only.</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1,699</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Total workforce on file</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Staff and general workers combined.</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585</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Workers with no activity</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Arus Sawit's general workers have never recorded attendance.</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3893418"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4743810"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Active staff</a:t>
            </a:r>
          </a:p>
        </p:txBody>
      </p:sp>
      <p:sp>
        <p:nvSpPr>
          <p:cNvPr id="31" name="TextBox 30"/>
          <p:cNvSpPr txBox="1"/>
          <p:nvPr/>
        </p:nvSpPr>
        <p:spPr>
          <a:xfrm>
            <a:off x="7073123"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Exempt from KPI</a:t>
            </a:r>
          </a:p>
        </p:txBody>
      </p:sp>
      <p:sp>
        <p:nvSpPr>
          <p:cNvPr id="32" name="TextBox 31"/>
          <p:cNvSpPr txBox="1"/>
          <p:nvPr/>
        </p:nvSpPr>
        <p:spPr>
          <a:xfrm>
            <a:off x="9402436"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General workers</a:t>
            </a:r>
          </a:p>
        </p:txBody>
      </p:sp>
      <p:sp>
        <p:nvSpPr>
          <p:cNvPr id="33" name="Rectangle 32"/>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96512"/>
            <a:ext cx="3893418" cy="306324"/>
          </a:xfrm>
          <a:prstGeom prst="rect">
            <a:avLst/>
          </a:prstGeom>
          <a:noFill/>
        </p:spPr>
        <p:txBody>
          <a:bodyPr wrap="square" lIns="0" rIns="0" tIns="0" bIns="0" anchor="t">
            <a:spAutoFit/>
          </a:bodyPr>
          <a:lstStyle/>
          <a:p>
            <a:pPr algn="l"/>
            <a:r>
              <a:rPr sz="1050" b="1">
                <a:solidFill>
                  <a:srgbClr val="111111"/>
                </a:solidFill>
                <a:latin typeface="Calibri"/>
              </a:rPr>
              <a:t>Globinaco</a:t>
            </a:r>
          </a:p>
        </p:txBody>
      </p:sp>
      <p:sp>
        <p:nvSpPr>
          <p:cNvPr id="36" name="TextBox 35"/>
          <p:cNvSpPr txBox="1"/>
          <p:nvPr/>
        </p:nvSpPr>
        <p:spPr>
          <a:xfrm>
            <a:off x="4743810"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342</a:t>
            </a:r>
          </a:p>
        </p:txBody>
      </p:sp>
      <p:sp>
        <p:nvSpPr>
          <p:cNvPr id="37" name="TextBox 36"/>
          <p:cNvSpPr txBox="1"/>
          <p:nvPr/>
        </p:nvSpPr>
        <p:spPr>
          <a:xfrm>
            <a:off x="7073123"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6</a:t>
            </a:r>
          </a:p>
        </p:txBody>
      </p:sp>
      <p:sp>
        <p:nvSpPr>
          <p:cNvPr id="38" name="TextBox 37"/>
          <p:cNvSpPr txBox="1"/>
          <p:nvPr/>
        </p:nvSpPr>
        <p:spPr>
          <a:xfrm>
            <a:off x="9402436"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369</a:t>
            </a:r>
          </a:p>
        </p:txBody>
      </p:sp>
      <p:sp>
        <p:nvSpPr>
          <p:cNvPr id="39" name="Rectangle 38"/>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402836"/>
            <a:ext cx="3893418" cy="306324"/>
          </a:xfrm>
          <a:prstGeom prst="rect">
            <a:avLst/>
          </a:prstGeom>
          <a:noFill/>
        </p:spPr>
        <p:txBody>
          <a:bodyPr wrap="square" lIns="0" rIns="0" tIns="0" bIns="0" anchor="t">
            <a:spAutoFit/>
          </a:bodyPr>
          <a:lstStyle/>
          <a:p>
            <a:pPr algn="l"/>
            <a:r>
              <a:rPr sz="1050" b="1">
                <a:solidFill>
                  <a:srgbClr val="111111"/>
                </a:solidFill>
                <a:latin typeface="Calibri"/>
              </a:rPr>
              <a:t>Grandis</a:t>
            </a:r>
          </a:p>
        </p:txBody>
      </p:sp>
      <p:sp>
        <p:nvSpPr>
          <p:cNvPr id="42" name="TextBox 41"/>
          <p:cNvSpPr txBox="1"/>
          <p:nvPr/>
        </p:nvSpPr>
        <p:spPr>
          <a:xfrm>
            <a:off x="4743810"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150</a:t>
            </a:r>
          </a:p>
        </p:txBody>
      </p:sp>
      <p:sp>
        <p:nvSpPr>
          <p:cNvPr id="43" name="TextBox 42"/>
          <p:cNvSpPr txBox="1"/>
          <p:nvPr/>
        </p:nvSpPr>
        <p:spPr>
          <a:xfrm>
            <a:off x="7073123"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4" name="TextBox 43"/>
          <p:cNvSpPr txBox="1"/>
          <p:nvPr/>
        </p:nvSpPr>
        <p:spPr>
          <a:xfrm>
            <a:off x="9402436"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45" name="Rectangle 44"/>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709160"/>
            <a:ext cx="3893418" cy="306324"/>
          </a:xfrm>
          <a:prstGeom prst="rect">
            <a:avLst/>
          </a:prstGeom>
          <a:noFill/>
        </p:spPr>
        <p:txBody>
          <a:bodyPr wrap="square" lIns="0" rIns="0" tIns="0" bIns="0" anchor="t">
            <a:spAutoFit/>
          </a:bodyPr>
          <a:lstStyle/>
          <a:p>
            <a:pPr algn="l"/>
            <a:r>
              <a:rPr sz="1050" b="1">
                <a:solidFill>
                  <a:srgbClr val="111111"/>
                </a:solidFill>
                <a:latin typeface="Calibri"/>
              </a:rPr>
              <a:t>Arus Sawit</a:t>
            </a:r>
          </a:p>
        </p:txBody>
      </p:sp>
      <p:sp>
        <p:nvSpPr>
          <p:cNvPr id="48" name="TextBox 47"/>
          <p:cNvSpPr txBox="1"/>
          <p:nvPr/>
        </p:nvSpPr>
        <p:spPr>
          <a:xfrm>
            <a:off x="4743810"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73</a:t>
            </a:r>
          </a:p>
        </p:txBody>
      </p:sp>
      <p:sp>
        <p:nvSpPr>
          <p:cNvPr id="49" name="TextBox 48"/>
          <p:cNvSpPr txBox="1"/>
          <p:nvPr/>
        </p:nvSpPr>
        <p:spPr>
          <a:xfrm>
            <a:off x="7073123"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0" name="TextBox 49"/>
          <p:cNvSpPr txBox="1"/>
          <p:nvPr/>
        </p:nvSpPr>
        <p:spPr>
          <a:xfrm>
            <a:off x="9402436"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585</a:t>
            </a:r>
          </a:p>
        </p:txBody>
      </p:sp>
      <p:sp>
        <p:nvSpPr>
          <p:cNvPr id="51" name="Rectangle 50"/>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015484"/>
            <a:ext cx="3893418" cy="306324"/>
          </a:xfrm>
          <a:prstGeom prst="rect">
            <a:avLst/>
          </a:prstGeom>
          <a:noFill/>
        </p:spPr>
        <p:txBody>
          <a:bodyPr wrap="square" lIns="0" rIns="0" tIns="0" bIns="0" anchor="t">
            <a:spAutoFit/>
          </a:bodyPr>
          <a:lstStyle/>
          <a:p>
            <a:pPr algn="l"/>
            <a:r>
              <a:rPr sz="1050" b="1">
                <a:solidFill>
                  <a:srgbClr val="111111"/>
                </a:solidFill>
                <a:latin typeface="Calibri"/>
              </a:rPr>
              <a:t>AMC</a:t>
            </a:r>
          </a:p>
        </p:txBody>
      </p:sp>
      <p:sp>
        <p:nvSpPr>
          <p:cNvPr id="54" name="TextBox 53"/>
          <p:cNvSpPr txBox="1"/>
          <p:nvPr/>
        </p:nvSpPr>
        <p:spPr>
          <a:xfrm>
            <a:off x="4743810"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62</a:t>
            </a:r>
          </a:p>
        </p:txBody>
      </p:sp>
      <p:sp>
        <p:nvSpPr>
          <p:cNvPr id="55" name="TextBox 54"/>
          <p:cNvSpPr txBox="1"/>
          <p:nvPr/>
        </p:nvSpPr>
        <p:spPr>
          <a:xfrm>
            <a:off x="7073123"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6" name="TextBox 55"/>
          <p:cNvSpPr txBox="1"/>
          <p:nvPr/>
        </p:nvSpPr>
        <p:spPr>
          <a:xfrm>
            <a:off x="9402436"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7" name="Rectangle 5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321808"/>
            <a:ext cx="3893418" cy="306324"/>
          </a:xfrm>
          <a:prstGeom prst="rect">
            <a:avLst/>
          </a:prstGeom>
          <a:noFill/>
        </p:spPr>
        <p:txBody>
          <a:bodyPr wrap="square" lIns="0" rIns="0" tIns="0" bIns="0" anchor="t">
            <a:spAutoFit/>
          </a:bodyPr>
          <a:lstStyle/>
          <a:p>
            <a:pPr algn="l"/>
            <a:r>
              <a:rPr sz="1050" b="1">
                <a:solidFill>
                  <a:srgbClr val="111111"/>
                </a:solidFill>
                <a:latin typeface="Calibri"/>
              </a:rPr>
              <a:t>Likas Square</a:t>
            </a:r>
          </a:p>
        </p:txBody>
      </p:sp>
      <p:sp>
        <p:nvSpPr>
          <p:cNvPr id="60" name="TextBox 59"/>
          <p:cNvSpPr txBox="1"/>
          <p:nvPr/>
        </p:nvSpPr>
        <p:spPr>
          <a:xfrm>
            <a:off x="4743810"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51</a:t>
            </a:r>
          </a:p>
        </p:txBody>
      </p:sp>
      <p:sp>
        <p:nvSpPr>
          <p:cNvPr id="61" name="TextBox 60"/>
          <p:cNvSpPr txBox="1"/>
          <p:nvPr/>
        </p:nvSpPr>
        <p:spPr>
          <a:xfrm>
            <a:off x="7073123"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2" name="TextBox 61"/>
          <p:cNvSpPr txBox="1"/>
          <p:nvPr/>
        </p:nvSpPr>
        <p:spPr>
          <a:xfrm>
            <a:off x="9402436"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3" name="Rectangle 62"/>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7512" y="5628132"/>
            <a:ext cx="3893418" cy="306324"/>
          </a:xfrm>
          <a:prstGeom prst="rect">
            <a:avLst/>
          </a:prstGeom>
          <a:noFill/>
        </p:spPr>
        <p:txBody>
          <a:bodyPr wrap="square" lIns="0" rIns="0" tIns="0" bIns="0" anchor="t">
            <a:spAutoFit/>
          </a:bodyPr>
          <a:lstStyle/>
          <a:p>
            <a:pPr algn="l"/>
            <a:r>
              <a:rPr sz="1050" b="1">
                <a:solidFill>
                  <a:srgbClr val="111111"/>
                </a:solidFill>
                <a:latin typeface="Calibri"/>
              </a:rPr>
              <a:t>TP Group</a:t>
            </a:r>
          </a:p>
        </p:txBody>
      </p:sp>
      <p:sp>
        <p:nvSpPr>
          <p:cNvPr id="66" name="TextBox 65"/>
          <p:cNvSpPr txBox="1"/>
          <p:nvPr/>
        </p:nvSpPr>
        <p:spPr>
          <a:xfrm>
            <a:off x="4743810"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67</a:t>
            </a:r>
          </a:p>
        </p:txBody>
      </p:sp>
      <p:sp>
        <p:nvSpPr>
          <p:cNvPr id="67" name="TextBox 66"/>
          <p:cNvSpPr txBox="1"/>
          <p:nvPr/>
        </p:nvSpPr>
        <p:spPr>
          <a:xfrm>
            <a:off x="7073123"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6</a:t>
            </a:r>
          </a:p>
        </p:txBody>
      </p:sp>
      <p:sp>
        <p:nvSpPr>
          <p:cNvPr id="68" name="TextBox 67"/>
          <p:cNvSpPr txBox="1"/>
          <p:nvPr/>
        </p:nvSpPr>
        <p:spPr>
          <a:xfrm>
            <a:off x="9402436"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9" name="Rectangle 68"/>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 y="5934456"/>
            <a:ext cx="3893418"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72" name="TextBox 71"/>
          <p:cNvSpPr txBox="1"/>
          <p:nvPr/>
        </p:nvSpPr>
        <p:spPr>
          <a:xfrm>
            <a:off x="4743810"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745</a:t>
            </a:r>
          </a:p>
        </p:txBody>
      </p:sp>
      <p:sp>
        <p:nvSpPr>
          <p:cNvPr id="73" name="TextBox 72"/>
          <p:cNvSpPr txBox="1"/>
          <p:nvPr/>
        </p:nvSpPr>
        <p:spPr>
          <a:xfrm>
            <a:off x="7073123"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16</a:t>
            </a:r>
          </a:p>
        </p:txBody>
      </p:sp>
      <p:sp>
        <p:nvSpPr>
          <p:cNvPr id="74" name="TextBox 73"/>
          <p:cNvSpPr txBox="1"/>
          <p:nvPr/>
        </p:nvSpPr>
        <p:spPr>
          <a:xfrm>
            <a:off x="9402436"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954</a:t>
            </a:r>
          </a:p>
        </p:txBody>
      </p:sp>
      <p:sp>
        <p:nvSpPr>
          <p:cNvPr id="75" name="TextBox 74"/>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Staff counted as everyone in service who is not a general worker or a test account. The 16 exempt from KPI scoring are inside that total and shown separately; the scorecard review counts only the 729 in scope. General workers are the live scorecard population. The MK Command app itself only ever displays Globinaco's general workers, which is why Arus Sawit's did not appear in earlier reviews. The six companies and the staff rule both follow the scorecard review. The MK Command staff overview applies a wider rule and would show 774 group-wide.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People on file at each company, staff and general workers together.</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711</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342</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16203F"/>
                </a:solidFill>
                <a:latin typeface="Calibri"/>
              </a:rPr>
              <a:t>369</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42%</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336 staff and 369 general workers — 42% of everyone on file. 353 of its workers punched in during October.</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1E2761"/>
                </a:solidFill>
                <a:latin typeface="Cambria"/>
              </a:rPr>
              <a:t>150</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150</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149 staff, no general workers. Second-largest staff base and the heaviest user of the tools.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C62828"/>
                </a:solidFill>
                <a:latin typeface="Cambria"/>
              </a:rPr>
              <a:t>658</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73</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585</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39%</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585 general workers against 72 staff, yet not one attendance record or job spec exists for them.</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62</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62</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4%</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61 staff. No general workers, no job specs and no merit/demerit activity on file.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51</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51</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3%</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50 staff. Job specs started this cycle but only one is approved so far.</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67</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67</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4%</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61 staff and no general workers. Newly in scope for this review.</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staff basis as the scorecard review. Share of group is of the 1,699 people on file, staff and general workers combined. The manpower report counts a wider staff basis because it does not apply the MK Command exclusion flag.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THREE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Job Spec Approval</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Where the approval backlog sits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 approvals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941 versions on file and 259 approved (28%). The backlog is 668 pending, and half of it is general worker specs at one company.</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941</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Versions on file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605 for staff and 336 for general workers.</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28%</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Approved</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259 of 941. Was 25% at the September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668</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Still pending</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 further 14 were rejected and need reworking.</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335</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Pending GW specs</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All at Globinaco — 50% of the group's entire backlog.</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2141540"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991932" y="3776472"/>
            <a:ext cx="932841" cy="329184"/>
          </a:xfrm>
          <a:prstGeom prst="rect">
            <a:avLst/>
          </a:prstGeom>
          <a:noFill/>
        </p:spPr>
        <p:txBody>
          <a:bodyPr wrap="square" lIns="0" rIns="0" tIns="0" bIns="0" anchor="t">
            <a:spAutoFit/>
          </a:bodyPr>
          <a:lstStyle/>
          <a:p>
            <a:pPr algn="r"/>
            <a:r>
              <a:rPr sz="950" b="1">
                <a:solidFill>
                  <a:srgbClr val="FFFFFF"/>
                </a:solidFill>
                <a:latin typeface="Calibri"/>
              </a:rPr>
              <a:t>Staff</a:t>
            </a:r>
          </a:p>
        </p:txBody>
      </p:sp>
      <p:sp>
        <p:nvSpPr>
          <p:cNvPr id="31" name="TextBox 30"/>
          <p:cNvSpPr txBox="1"/>
          <p:nvPr/>
        </p:nvSpPr>
        <p:spPr>
          <a:xfrm>
            <a:off x="4107653" y="3776472"/>
            <a:ext cx="932841" cy="329184"/>
          </a:xfrm>
          <a:prstGeom prst="rect">
            <a:avLst/>
          </a:prstGeom>
          <a:noFill/>
        </p:spPr>
        <p:txBody>
          <a:bodyPr wrap="square" lIns="0" rIns="0" tIns="0" bIns="0" anchor="t">
            <a:spAutoFit/>
          </a:bodyPr>
          <a:lstStyle/>
          <a:p>
            <a:pPr algn="r"/>
            <a:r>
              <a:rPr sz="950" b="1">
                <a:solidFill>
                  <a:srgbClr val="FFFFFF"/>
                </a:solidFill>
                <a:latin typeface="Calibri"/>
              </a:rPr>
              <a:t>GW</a:t>
            </a:r>
          </a:p>
        </p:txBody>
      </p:sp>
      <p:sp>
        <p:nvSpPr>
          <p:cNvPr id="32" name="TextBox 31"/>
          <p:cNvSpPr txBox="1"/>
          <p:nvPr/>
        </p:nvSpPr>
        <p:spPr>
          <a:xfrm>
            <a:off x="5223374" y="3776472"/>
            <a:ext cx="1118795" cy="329184"/>
          </a:xfrm>
          <a:prstGeom prst="rect">
            <a:avLst/>
          </a:prstGeom>
          <a:noFill/>
        </p:spPr>
        <p:txBody>
          <a:bodyPr wrap="square" lIns="0" rIns="0" tIns="0" bIns="0" anchor="t">
            <a:spAutoFit/>
          </a:bodyPr>
          <a:lstStyle/>
          <a:p>
            <a:pPr algn="r"/>
            <a:r>
              <a:rPr sz="950" b="1">
                <a:solidFill>
                  <a:srgbClr val="FFFFFF"/>
                </a:solidFill>
                <a:latin typeface="Calibri"/>
              </a:rPr>
              <a:t>Job specs</a:t>
            </a:r>
          </a:p>
        </p:txBody>
      </p:sp>
      <p:sp>
        <p:nvSpPr>
          <p:cNvPr id="33" name="TextBox 32"/>
          <p:cNvSpPr txBox="1"/>
          <p:nvPr/>
        </p:nvSpPr>
        <p:spPr>
          <a:xfrm>
            <a:off x="6525049" y="3776472"/>
            <a:ext cx="1072306" cy="329184"/>
          </a:xfrm>
          <a:prstGeom prst="rect">
            <a:avLst/>
          </a:prstGeom>
          <a:noFill/>
        </p:spPr>
        <p:txBody>
          <a:bodyPr wrap="square" lIns="0" rIns="0" tIns="0" bIns="0" anchor="t">
            <a:spAutoFit/>
          </a:bodyPr>
          <a:lstStyle/>
          <a:p>
            <a:pPr algn="r"/>
            <a:r>
              <a:rPr sz="950" b="1">
                <a:solidFill>
                  <a:srgbClr val="FFFFFF"/>
                </a:solidFill>
                <a:latin typeface="Calibri"/>
              </a:rPr>
              <a:t>Approved</a:t>
            </a:r>
          </a:p>
        </p:txBody>
      </p:sp>
      <p:sp>
        <p:nvSpPr>
          <p:cNvPr id="34" name="TextBox 33"/>
          <p:cNvSpPr txBox="1"/>
          <p:nvPr/>
        </p:nvSpPr>
        <p:spPr>
          <a:xfrm>
            <a:off x="7780235" y="3776472"/>
            <a:ext cx="1072306" cy="329184"/>
          </a:xfrm>
          <a:prstGeom prst="rect">
            <a:avLst/>
          </a:prstGeom>
          <a:noFill/>
        </p:spPr>
        <p:txBody>
          <a:bodyPr wrap="square" lIns="0" rIns="0" tIns="0" bIns="0" anchor="t">
            <a:spAutoFit/>
          </a:bodyPr>
          <a:lstStyle/>
          <a:p>
            <a:pPr algn="r"/>
            <a:r>
              <a:rPr sz="950" b="1">
                <a:solidFill>
                  <a:srgbClr val="FFFFFF"/>
                </a:solidFill>
                <a:latin typeface="Calibri"/>
              </a:rPr>
              <a:t>Pending</a:t>
            </a:r>
          </a:p>
        </p:txBody>
      </p:sp>
      <p:sp>
        <p:nvSpPr>
          <p:cNvPr id="35" name="TextBox 34"/>
          <p:cNvSpPr txBox="1"/>
          <p:nvPr/>
        </p:nvSpPr>
        <p:spPr>
          <a:xfrm>
            <a:off x="9035421" y="3776472"/>
            <a:ext cx="1025818" cy="329184"/>
          </a:xfrm>
          <a:prstGeom prst="rect">
            <a:avLst/>
          </a:prstGeom>
          <a:noFill/>
        </p:spPr>
        <p:txBody>
          <a:bodyPr wrap="square" lIns="0" rIns="0" tIns="0" bIns="0" anchor="t">
            <a:spAutoFit/>
          </a:bodyPr>
          <a:lstStyle/>
          <a:p>
            <a:pPr algn="r"/>
            <a:r>
              <a:rPr sz="950" b="1">
                <a:solidFill>
                  <a:srgbClr val="FFFFFF"/>
                </a:solidFill>
                <a:latin typeface="Calibri"/>
              </a:rPr>
              <a:t>Rejected</a:t>
            </a:r>
          </a:p>
        </p:txBody>
      </p:sp>
      <p:sp>
        <p:nvSpPr>
          <p:cNvPr id="36" name="TextBox 35"/>
          <p:cNvSpPr txBox="1"/>
          <p:nvPr/>
        </p:nvSpPr>
        <p:spPr>
          <a:xfrm>
            <a:off x="10244119" y="3776472"/>
            <a:ext cx="1304748" cy="329184"/>
          </a:xfrm>
          <a:prstGeom prst="rect">
            <a:avLst/>
          </a:prstGeom>
          <a:noFill/>
        </p:spPr>
        <p:txBody>
          <a:bodyPr wrap="square" lIns="0" rIns="0" tIns="0" bIns="0" anchor="t">
            <a:spAutoFit/>
          </a:bodyPr>
          <a:lstStyle/>
          <a:p>
            <a:pPr algn="r"/>
            <a:r>
              <a:rPr sz="950" b="1">
                <a:solidFill>
                  <a:srgbClr val="FFFFFF"/>
                </a:solidFill>
                <a:latin typeface="Calibri"/>
              </a:rPr>
              <a:t>Approved %</a:t>
            </a:r>
          </a:p>
        </p:txBody>
      </p:sp>
      <p:sp>
        <p:nvSpPr>
          <p:cNvPr id="37" name="Rectangle 36"/>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4096512"/>
            <a:ext cx="2141540" cy="306324"/>
          </a:xfrm>
          <a:prstGeom prst="rect">
            <a:avLst/>
          </a:prstGeom>
          <a:noFill/>
        </p:spPr>
        <p:txBody>
          <a:bodyPr wrap="square" lIns="0" rIns="0" tIns="0" bIns="0" anchor="t">
            <a:spAutoFit/>
          </a:bodyPr>
          <a:lstStyle/>
          <a:p>
            <a:pPr algn="l"/>
            <a:r>
              <a:rPr sz="1050" b="1">
                <a:solidFill>
                  <a:srgbClr val="111111"/>
                </a:solidFill>
                <a:latin typeface="Calibri"/>
              </a:rPr>
              <a:t>Globinaco</a:t>
            </a:r>
          </a:p>
        </p:txBody>
      </p:sp>
      <p:sp>
        <p:nvSpPr>
          <p:cNvPr id="40" name="TextBox 39"/>
          <p:cNvSpPr txBox="1"/>
          <p:nvPr/>
        </p:nvSpPr>
        <p:spPr>
          <a:xfrm>
            <a:off x="2991932" y="4096512"/>
            <a:ext cx="932841" cy="306324"/>
          </a:xfrm>
          <a:prstGeom prst="rect">
            <a:avLst/>
          </a:prstGeom>
          <a:noFill/>
        </p:spPr>
        <p:txBody>
          <a:bodyPr wrap="square" lIns="0" rIns="0" tIns="0" bIns="0" anchor="t">
            <a:spAutoFit/>
          </a:bodyPr>
          <a:lstStyle/>
          <a:p>
            <a:pPr algn="r"/>
            <a:r>
              <a:rPr sz="1050" b="0">
                <a:solidFill>
                  <a:srgbClr val="111111"/>
                </a:solidFill>
                <a:latin typeface="Calibri"/>
              </a:rPr>
              <a:t>342</a:t>
            </a:r>
          </a:p>
        </p:txBody>
      </p:sp>
      <p:sp>
        <p:nvSpPr>
          <p:cNvPr id="41" name="TextBox 40"/>
          <p:cNvSpPr txBox="1"/>
          <p:nvPr/>
        </p:nvSpPr>
        <p:spPr>
          <a:xfrm>
            <a:off x="4107653" y="4096512"/>
            <a:ext cx="932841" cy="306324"/>
          </a:xfrm>
          <a:prstGeom prst="rect">
            <a:avLst/>
          </a:prstGeom>
          <a:noFill/>
        </p:spPr>
        <p:txBody>
          <a:bodyPr wrap="square" lIns="0" rIns="0" tIns="0" bIns="0" anchor="t">
            <a:spAutoFit/>
          </a:bodyPr>
          <a:lstStyle/>
          <a:p>
            <a:pPr algn="r"/>
            <a:r>
              <a:rPr sz="1050" b="0">
                <a:solidFill>
                  <a:srgbClr val="111111"/>
                </a:solidFill>
                <a:latin typeface="Calibri"/>
              </a:rPr>
              <a:t>369</a:t>
            </a:r>
          </a:p>
        </p:txBody>
      </p:sp>
      <p:sp>
        <p:nvSpPr>
          <p:cNvPr id="42" name="TextBox 41"/>
          <p:cNvSpPr txBox="1"/>
          <p:nvPr/>
        </p:nvSpPr>
        <p:spPr>
          <a:xfrm>
            <a:off x="5223374" y="4096512"/>
            <a:ext cx="1118795" cy="306324"/>
          </a:xfrm>
          <a:prstGeom prst="rect">
            <a:avLst/>
          </a:prstGeom>
          <a:noFill/>
        </p:spPr>
        <p:txBody>
          <a:bodyPr wrap="square" lIns="0" rIns="0" tIns="0" bIns="0" anchor="t">
            <a:spAutoFit/>
          </a:bodyPr>
          <a:lstStyle/>
          <a:p>
            <a:pPr algn="r"/>
            <a:r>
              <a:rPr sz="1050" b="0">
                <a:solidFill>
                  <a:srgbClr val="111111"/>
                </a:solidFill>
                <a:latin typeface="Calibri"/>
              </a:rPr>
              <a:t>680</a:t>
            </a:r>
          </a:p>
        </p:txBody>
      </p:sp>
      <p:sp>
        <p:nvSpPr>
          <p:cNvPr id="43" name="TextBox 42"/>
          <p:cNvSpPr txBox="1"/>
          <p:nvPr/>
        </p:nvSpPr>
        <p:spPr>
          <a:xfrm>
            <a:off x="6525049" y="4096512"/>
            <a:ext cx="1072306" cy="306324"/>
          </a:xfrm>
          <a:prstGeom prst="rect">
            <a:avLst/>
          </a:prstGeom>
          <a:noFill/>
        </p:spPr>
        <p:txBody>
          <a:bodyPr wrap="square" lIns="0" rIns="0" tIns="0" bIns="0" anchor="t">
            <a:spAutoFit/>
          </a:bodyPr>
          <a:lstStyle/>
          <a:p>
            <a:pPr algn="r"/>
            <a:r>
              <a:rPr sz="1050" b="0">
                <a:solidFill>
                  <a:srgbClr val="111111"/>
                </a:solidFill>
                <a:latin typeface="Calibri"/>
              </a:rPr>
              <a:t>139</a:t>
            </a:r>
          </a:p>
        </p:txBody>
      </p:sp>
      <p:sp>
        <p:nvSpPr>
          <p:cNvPr id="44" name="TextBox 43"/>
          <p:cNvSpPr txBox="1"/>
          <p:nvPr/>
        </p:nvSpPr>
        <p:spPr>
          <a:xfrm>
            <a:off x="7780235" y="4096512"/>
            <a:ext cx="1072306" cy="306324"/>
          </a:xfrm>
          <a:prstGeom prst="rect">
            <a:avLst/>
          </a:prstGeom>
          <a:noFill/>
        </p:spPr>
        <p:txBody>
          <a:bodyPr wrap="square" lIns="0" rIns="0" tIns="0" bIns="0" anchor="t">
            <a:spAutoFit/>
          </a:bodyPr>
          <a:lstStyle/>
          <a:p>
            <a:pPr algn="r"/>
            <a:r>
              <a:rPr sz="1050" b="0">
                <a:solidFill>
                  <a:srgbClr val="111111"/>
                </a:solidFill>
                <a:latin typeface="Calibri"/>
              </a:rPr>
              <a:t>527</a:t>
            </a:r>
          </a:p>
        </p:txBody>
      </p:sp>
      <p:sp>
        <p:nvSpPr>
          <p:cNvPr id="45" name="TextBox 44"/>
          <p:cNvSpPr txBox="1"/>
          <p:nvPr/>
        </p:nvSpPr>
        <p:spPr>
          <a:xfrm>
            <a:off x="9035421" y="4096512"/>
            <a:ext cx="1025818" cy="306324"/>
          </a:xfrm>
          <a:prstGeom prst="rect">
            <a:avLst/>
          </a:prstGeom>
          <a:noFill/>
        </p:spPr>
        <p:txBody>
          <a:bodyPr wrap="square" lIns="0" rIns="0" tIns="0" bIns="0" anchor="t">
            <a:spAutoFit/>
          </a:bodyPr>
          <a:lstStyle/>
          <a:p>
            <a:pPr algn="r"/>
            <a:r>
              <a:rPr sz="1050" b="0">
                <a:solidFill>
                  <a:srgbClr val="111111"/>
                </a:solidFill>
                <a:latin typeface="Calibri"/>
              </a:rPr>
              <a:t>14</a:t>
            </a:r>
          </a:p>
        </p:txBody>
      </p:sp>
      <p:sp>
        <p:nvSpPr>
          <p:cNvPr id="46" name="TextBox 45"/>
          <p:cNvSpPr txBox="1"/>
          <p:nvPr/>
        </p:nvSpPr>
        <p:spPr>
          <a:xfrm>
            <a:off x="10244119" y="4096512"/>
            <a:ext cx="1304748" cy="306324"/>
          </a:xfrm>
          <a:prstGeom prst="rect">
            <a:avLst/>
          </a:prstGeom>
          <a:noFill/>
        </p:spPr>
        <p:txBody>
          <a:bodyPr wrap="square" lIns="0" rIns="0" tIns="0" bIns="0" anchor="t">
            <a:spAutoFit/>
          </a:bodyPr>
          <a:lstStyle/>
          <a:p>
            <a:pPr algn="r"/>
            <a:r>
              <a:rPr sz="1050" b="0">
                <a:solidFill>
                  <a:srgbClr val="111111"/>
                </a:solidFill>
                <a:latin typeface="Calibri"/>
              </a:rPr>
              <a:t>20%</a:t>
            </a:r>
          </a:p>
        </p:txBody>
      </p:sp>
      <p:sp>
        <p:nvSpPr>
          <p:cNvPr id="47" name="Rectangle 46"/>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4402836"/>
            <a:ext cx="2141540" cy="306324"/>
          </a:xfrm>
          <a:prstGeom prst="rect">
            <a:avLst/>
          </a:prstGeom>
          <a:noFill/>
        </p:spPr>
        <p:txBody>
          <a:bodyPr wrap="square" lIns="0" rIns="0" tIns="0" bIns="0" anchor="t">
            <a:spAutoFit/>
          </a:bodyPr>
          <a:lstStyle/>
          <a:p>
            <a:pPr algn="l"/>
            <a:r>
              <a:rPr sz="1050" b="1">
                <a:solidFill>
                  <a:srgbClr val="111111"/>
                </a:solidFill>
                <a:latin typeface="Calibri"/>
              </a:rPr>
              <a:t>Grandis</a:t>
            </a:r>
          </a:p>
        </p:txBody>
      </p:sp>
      <p:sp>
        <p:nvSpPr>
          <p:cNvPr id="50" name="TextBox 49"/>
          <p:cNvSpPr txBox="1"/>
          <p:nvPr/>
        </p:nvSpPr>
        <p:spPr>
          <a:xfrm>
            <a:off x="2991932" y="4402836"/>
            <a:ext cx="932841" cy="306324"/>
          </a:xfrm>
          <a:prstGeom prst="rect">
            <a:avLst/>
          </a:prstGeom>
          <a:noFill/>
        </p:spPr>
        <p:txBody>
          <a:bodyPr wrap="square" lIns="0" rIns="0" tIns="0" bIns="0" anchor="t">
            <a:spAutoFit/>
          </a:bodyPr>
          <a:lstStyle/>
          <a:p>
            <a:pPr algn="r"/>
            <a:r>
              <a:rPr sz="1050" b="0">
                <a:solidFill>
                  <a:srgbClr val="111111"/>
                </a:solidFill>
                <a:latin typeface="Calibri"/>
              </a:rPr>
              <a:t>150</a:t>
            </a:r>
          </a:p>
        </p:txBody>
      </p:sp>
      <p:sp>
        <p:nvSpPr>
          <p:cNvPr id="51" name="TextBox 50"/>
          <p:cNvSpPr txBox="1"/>
          <p:nvPr/>
        </p:nvSpPr>
        <p:spPr>
          <a:xfrm>
            <a:off x="4107653" y="4402836"/>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2" name="TextBox 51"/>
          <p:cNvSpPr txBox="1"/>
          <p:nvPr/>
        </p:nvSpPr>
        <p:spPr>
          <a:xfrm>
            <a:off x="5223374" y="4402836"/>
            <a:ext cx="1118795" cy="306324"/>
          </a:xfrm>
          <a:prstGeom prst="rect">
            <a:avLst/>
          </a:prstGeom>
          <a:noFill/>
        </p:spPr>
        <p:txBody>
          <a:bodyPr wrap="square" lIns="0" rIns="0" tIns="0" bIns="0" anchor="t">
            <a:spAutoFit/>
          </a:bodyPr>
          <a:lstStyle/>
          <a:p>
            <a:pPr algn="r"/>
            <a:r>
              <a:rPr sz="1050" b="0">
                <a:solidFill>
                  <a:srgbClr val="111111"/>
                </a:solidFill>
                <a:latin typeface="Calibri"/>
              </a:rPr>
              <a:t>147</a:t>
            </a:r>
          </a:p>
        </p:txBody>
      </p:sp>
      <p:sp>
        <p:nvSpPr>
          <p:cNvPr id="53" name="TextBox 52"/>
          <p:cNvSpPr txBox="1"/>
          <p:nvPr/>
        </p:nvSpPr>
        <p:spPr>
          <a:xfrm>
            <a:off x="6525049" y="4402836"/>
            <a:ext cx="1072306" cy="306324"/>
          </a:xfrm>
          <a:prstGeom prst="rect">
            <a:avLst/>
          </a:prstGeom>
          <a:noFill/>
        </p:spPr>
        <p:txBody>
          <a:bodyPr wrap="square" lIns="0" rIns="0" tIns="0" bIns="0" anchor="t">
            <a:spAutoFit/>
          </a:bodyPr>
          <a:lstStyle/>
          <a:p>
            <a:pPr algn="r"/>
            <a:r>
              <a:rPr sz="1050" b="0">
                <a:solidFill>
                  <a:srgbClr val="111111"/>
                </a:solidFill>
                <a:latin typeface="Calibri"/>
              </a:rPr>
              <a:t>61</a:t>
            </a:r>
          </a:p>
        </p:txBody>
      </p:sp>
      <p:sp>
        <p:nvSpPr>
          <p:cNvPr id="54" name="TextBox 53"/>
          <p:cNvSpPr txBox="1"/>
          <p:nvPr/>
        </p:nvSpPr>
        <p:spPr>
          <a:xfrm>
            <a:off x="7780235" y="4402836"/>
            <a:ext cx="1072306" cy="306324"/>
          </a:xfrm>
          <a:prstGeom prst="rect">
            <a:avLst/>
          </a:prstGeom>
          <a:noFill/>
        </p:spPr>
        <p:txBody>
          <a:bodyPr wrap="square" lIns="0" rIns="0" tIns="0" bIns="0" anchor="t">
            <a:spAutoFit/>
          </a:bodyPr>
          <a:lstStyle/>
          <a:p>
            <a:pPr algn="r"/>
            <a:r>
              <a:rPr sz="1050" b="0">
                <a:solidFill>
                  <a:srgbClr val="111111"/>
                </a:solidFill>
                <a:latin typeface="Calibri"/>
              </a:rPr>
              <a:t>86</a:t>
            </a:r>
          </a:p>
        </p:txBody>
      </p:sp>
      <p:sp>
        <p:nvSpPr>
          <p:cNvPr id="55" name="TextBox 54"/>
          <p:cNvSpPr txBox="1"/>
          <p:nvPr/>
        </p:nvSpPr>
        <p:spPr>
          <a:xfrm>
            <a:off x="9035421" y="4402836"/>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6" name="TextBox 55"/>
          <p:cNvSpPr txBox="1"/>
          <p:nvPr/>
        </p:nvSpPr>
        <p:spPr>
          <a:xfrm>
            <a:off x="10244119" y="4402836"/>
            <a:ext cx="1304748" cy="306324"/>
          </a:xfrm>
          <a:prstGeom prst="rect">
            <a:avLst/>
          </a:prstGeom>
          <a:noFill/>
        </p:spPr>
        <p:txBody>
          <a:bodyPr wrap="square" lIns="0" rIns="0" tIns="0" bIns="0" anchor="t">
            <a:spAutoFit/>
          </a:bodyPr>
          <a:lstStyle/>
          <a:p>
            <a:pPr algn="r"/>
            <a:r>
              <a:rPr sz="1050" b="0">
                <a:solidFill>
                  <a:srgbClr val="111111"/>
                </a:solidFill>
                <a:latin typeface="Calibri"/>
              </a:rPr>
              <a:t>41%</a:t>
            </a:r>
          </a:p>
        </p:txBody>
      </p:sp>
      <p:sp>
        <p:nvSpPr>
          <p:cNvPr id="57" name="Rectangle 56"/>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4709160"/>
            <a:ext cx="2141540" cy="306324"/>
          </a:xfrm>
          <a:prstGeom prst="rect">
            <a:avLst/>
          </a:prstGeom>
          <a:noFill/>
        </p:spPr>
        <p:txBody>
          <a:bodyPr wrap="square" lIns="0" rIns="0" tIns="0" bIns="0" anchor="t">
            <a:spAutoFit/>
          </a:bodyPr>
          <a:lstStyle/>
          <a:p>
            <a:pPr algn="l"/>
            <a:r>
              <a:rPr sz="1050" b="1">
                <a:solidFill>
                  <a:srgbClr val="111111"/>
                </a:solidFill>
                <a:latin typeface="Calibri"/>
              </a:rPr>
              <a:t>Arus Sawit</a:t>
            </a:r>
          </a:p>
        </p:txBody>
      </p:sp>
      <p:sp>
        <p:nvSpPr>
          <p:cNvPr id="60" name="TextBox 59"/>
          <p:cNvSpPr txBox="1"/>
          <p:nvPr/>
        </p:nvSpPr>
        <p:spPr>
          <a:xfrm>
            <a:off x="2991932" y="4709160"/>
            <a:ext cx="932841" cy="306324"/>
          </a:xfrm>
          <a:prstGeom prst="rect">
            <a:avLst/>
          </a:prstGeom>
          <a:noFill/>
        </p:spPr>
        <p:txBody>
          <a:bodyPr wrap="square" lIns="0" rIns="0" tIns="0" bIns="0" anchor="t">
            <a:spAutoFit/>
          </a:bodyPr>
          <a:lstStyle/>
          <a:p>
            <a:pPr algn="r"/>
            <a:r>
              <a:rPr sz="1050" b="0">
                <a:solidFill>
                  <a:srgbClr val="111111"/>
                </a:solidFill>
                <a:latin typeface="Calibri"/>
              </a:rPr>
              <a:t>73</a:t>
            </a:r>
          </a:p>
        </p:txBody>
      </p:sp>
      <p:sp>
        <p:nvSpPr>
          <p:cNvPr id="61" name="TextBox 60"/>
          <p:cNvSpPr txBox="1"/>
          <p:nvPr/>
        </p:nvSpPr>
        <p:spPr>
          <a:xfrm>
            <a:off x="4107653" y="4709160"/>
            <a:ext cx="932841" cy="306324"/>
          </a:xfrm>
          <a:prstGeom prst="rect">
            <a:avLst/>
          </a:prstGeom>
          <a:noFill/>
        </p:spPr>
        <p:txBody>
          <a:bodyPr wrap="square" lIns="0" rIns="0" tIns="0" bIns="0" anchor="t">
            <a:spAutoFit/>
          </a:bodyPr>
          <a:lstStyle/>
          <a:p>
            <a:pPr algn="r"/>
            <a:r>
              <a:rPr sz="1050" b="0">
                <a:solidFill>
                  <a:srgbClr val="111111"/>
                </a:solidFill>
                <a:latin typeface="Calibri"/>
              </a:rPr>
              <a:t>585</a:t>
            </a:r>
          </a:p>
        </p:txBody>
      </p:sp>
      <p:sp>
        <p:nvSpPr>
          <p:cNvPr id="62" name="TextBox 61"/>
          <p:cNvSpPr txBox="1"/>
          <p:nvPr/>
        </p:nvSpPr>
        <p:spPr>
          <a:xfrm>
            <a:off x="5223374" y="4709160"/>
            <a:ext cx="1118795" cy="306324"/>
          </a:xfrm>
          <a:prstGeom prst="rect">
            <a:avLst/>
          </a:prstGeom>
          <a:noFill/>
        </p:spPr>
        <p:txBody>
          <a:bodyPr wrap="square" lIns="0" rIns="0" tIns="0" bIns="0" anchor="t">
            <a:spAutoFit/>
          </a:bodyPr>
          <a:lstStyle/>
          <a:p>
            <a:pPr algn="r"/>
            <a:r>
              <a:rPr sz="1050" b="0">
                <a:solidFill>
                  <a:srgbClr val="111111"/>
                </a:solidFill>
                <a:latin typeface="Calibri"/>
              </a:rPr>
              <a:t>72</a:t>
            </a:r>
          </a:p>
        </p:txBody>
      </p:sp>
      <p:sp>
        <p:nvSpPr>
          <p:cNvPr id="63" name="TextBox 62"/>
          <p:cNvSpPr txBox="1"/>
          <p:nvPr/>
        </p:nvSpPr>
        <p:spPr>
          <a:xfrm>
            <a:off x="6525049" y="4709160"/>
            <a:ext cx="1072306" cy="306324"/>
          </a:xfrm>
          <a:prstGeom prst="rect">
            <a:avLst/>
          </a:prstGeom>
          <a:noFill/>
        </p:spPr>
        <p:txBody>
          <a:bodyPr wrap="square" lIns="0" rIns="0" tIns="0" bIns="0" anchor="t">
            <a:spAutoFit/>
          </a:bodyPr>
          <a:lstStyle/>
          <a:p>
            <a:pPr algn="r"/>
            <a:r>
              <a:rPr sz="1050" b="0">
                <a:solidFill>
                  <a:srgbClr val="111111"/>
                </a:solidFill>
                <a:latin typeface="Calibri"/>
              </a:rPr>
              <a:t>58</a:t>
            </a:r>
          </a:p>
        </p:txBody>
      </p:sp>
      <p:sp>
        <p:nvSpPr>
          <p:cNvPr id="64" name="TextBox 63"/>
          <p:cNvSpPr txBox="1"/>
          <p:nvPr/>
        </p:nvSpPr>
        <p:spPr>
          <a:xfrm>
            <a:off x="7780235" y="4709160"/>
            <a:ext cx="1072306" cy="306324"/>
          </a:xfrm>
          <a:prstGeom prst="rect">
            <a:avLst/>
          </a:prstGeom>
          <a:noFill/>
        </p:spPr>
        <p:txBody>
          <a:bodyPr wrap="square" lIns="0" rIns="0" tIns="0" bIns="0" anchor="t">
            <a:spAutoFit/>
          </a:bodyPr>
          <a:lstStyle/>
          <a:p>
            <a:pPr algn="r"/>
            <a:r>
              <a:rPr sz="1050" b="0">
                <a:solidFill>
                  <a:srgbClr val="111111"/>
                </a:solidFill>
                <a:latin typeface="Calibri"/>
              </a:rPr>
              <a:t>14</a:t>
            </a:r>
          </a:p>
        </p:txBody>
      </p:sp>
      <p:sp>
        <p:nvSpPr>
          <p:cNvPr id="65" name="TextBox 64"/>
          <p:cNvSpPr txBox="1"/>
          <p:nvPr/>
        </p:nvSpPr>
        <p:spPr>
          <a:xfrm>
            <a:off x="9035421" y="4709160"/>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6" name="TextBox 65"/>
          <p:cNvSpPr txBox="1"/>
          <p:nvPr/>
        </p:nvSpPr>
        <p:spPr>
          <a:xfrm>
            <a:off x="10244119" y="4709160"/>
            <a:ext cx="1304748" cy="306324"/>
          </a:xfrm>
          <a:prstGeom prst="rect">
            <a:avLst/>
          </a:prstGeom>
          <a:noFill/>
        </p:spPr>
        <p:txBody>
          <a:bodyPr wrap="square" lIns="0" rIns="0" tIns="0" bIns="0" anchor="t">
            <a:spAutoFit/>
          </a:bodyPr>
          <a:lstStyle/>
          <a:p>
            <a:pPr algn="r"/>
            <a:r>
              <a:rPr sz="1050" b="0">
                <a:solidFill>
                  <a:srgbClr val="111111"/>
                </a:solidFill>
                <a:latin typeface="Calibri"/>
              </a:rPr>
              <a:t>81%</a:t>
            </a:r>
          </a:p>
        </p:txBody>
      </p:sp>
      <p:sp>
        <p:nvSpPr>
          <p:cNvPr id="67" name="Rectangle 66"/>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5015484"/>
            <a:ext cx="2141540" cy="306324"/>
          </a:xfrm>
          <a:prstGeom prst="rect">
            <a:avLst/>
          </a:prstGeom>
          <a:noFill/>
        </p:spPr>
        <p:txBody>
          <a:bodyPr wrap="square" lIns="0" rIns="0" tIns="0" bIns="0" anchor="t">
            <a:spAutoFit/>
          </a:bodyPr>
          <a:lstStyle/>
          <a:p>
            <a:pPr algn="l"/>
            <a:r>
              <a:rPr sz="1050" b="1">
                <a:solidFill>
                  <a:srgbClr val="111111"/>
                </a:solidFill>
                <a:latin typeface="Calibri"/>
              </a:rPr>
              <a:t>AMC</a:t>
            </a:r>
          </a:p>
        </p:txBody>
      </p:sp>
      <p:sp>
        <p:nvSpPr>
          <p:cNvPr id="70" name="TextBox 69"/>
          <p:cNvSpPr txBox="1"/>
          <p:nvPr/>
        </p:nvSpPr>
        <p:spPr>
          <a:xfrm>
            <a:off x="2991932" y="5015484"/>
            <a:ext cx="932841" cy="306324"/>
          </a:xfrm>
          <a:prstGeom prst="rect">
            <a:avLst/>
          </a:prstGeom>
          <a:noFill/>
        </p:spPr>
        <p:txBody>
          <a:bodyPr wrap="square" lIns="0" rIns="0" tIns="0" bIns="0" anchor="t">
            <a:spAutoFit/>
          </a:bodyPr>
          <a:lstStyle/>
          <a:p>
            <a:pPr algn="r"/>
            <a:r>
              <a:rPr sz="1050" b="0">
                <a:solidFill>
                  <a:srgbClr val="111111"/>
                </a:solidFill>
                <a:latin typeface="Calibri"/>
              </a:rPr>
              <a:t>62</a:t>
            </a:r>
          </a:p>
        </p:txBody>
      </p:sp>
      <p:sp>
        <p:nvSpPr>
          <p:cNvPr id="71" name="TextBox 70"/>
          <p:cNvSpPr txBox="1"/>
          <p:nvPr/>
        </p:nvSpPr>
        <p:spPr>
          <a:xfrm>
            <a:off x="4107653" y="5015484"/>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2" name="TextBox 71"/>
          <p:cNvSpPr txBox="1"/>
          <p:nvPr/>
        </p:nvSpPr>
        <p:spPr>
          <a:xfrm>
            <a:off x="5223374" y="5015484"/>
            <a:ext cx="1118795"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3" name="TextBox 72"/>
          <p:cNvSpPr txBox="1"/>
          <p:nvPr/>
        </p:nvSpPr>
        <p:spPr>
          <a:xfrm>
            <a:off x="6525049" y="5015484"/>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4" name="TextBox 73"/>
          <p:cNvSpPr txBox="1"/>
          <p:nvPr/>
        </p:nvSpPr>
        <p:spPr>
          <a:xfrm>
            <a:off x="7780235" y="5015484"/>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5" name="TextBox 74"/>
          <p:cNvSpPr txBox="1"/>
          <p:nvPr/>
        </p:nvSpPr>
        <p:spPr>
          <a:xfrm>
            <a:off x="9035421" y="5015484"/>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6" name="TextBox 75"/>
          <p:cNvSpPr txBox="1"/>
          <p:nvPr/>
        </p:nvSpPr>
        <p:spPr>
          <a:xfrm>
            <a:off x="10244119" y="5015484"/>
            <a:ext cx="130474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7" name="Rectangle 7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67512" y="5321808"/>
            <a:ext cx="2141540" cy="306324"/>
          </a:xfrm>
          <a:prstGeom prst="rect">
            <a:avLst/>
          </a:prstGeom>
          <a:noFill/>
        </p:spPr>
        <p:txBody>
          <a:bodyPr wrap="square" lIns="0" rIns="0" tIns="0" bIns="0" anchor="t">
            <a:spAutoFit/>
          </a:bodyPr>
          <a:lstStyle/>
          <a:p>
            <a:pPr algn="l"/>
            <a:r>
              <a:rPr sz="1050" b="1">
                <a:solidFill>
                  <a:srgbClr val="111111"/>
                </a:solidFill>
                <a:latin typeface="Calibri"/>
              </a:rPr>
              <a:t>Likas Square</a:t>
            </a:r>
          </a:p>
        </p:txBody>
      </p:sp>
      <p:sp>
        <p:nvSpPr>
          <p:cNvPr id="80" name="TextBox 79"/>
          <p:cNvSpPr txBox="1"/>
          <p:nvPr/>
        </p:nvSpPr>
        <p:spPr>
          <a:xfrm>
            <a:off x="2991932" y="5321808"/>
            <a:ext cx="932841" cy="306324"/>
          </a:xfrm>
          <a:prstGeom prst="rect">
            <a:avLst/>
          </a:prstGeom>
          <a:noFill/>
        </p:spPr>
        <p:txBody>
          <a:bodyPr wrap="square" lIns="0" rIns="0" tIns="0" bIns="0" anchor="t">
            <a:spAutoFit/>
          </a:bodyPr>
          <a:lstStyle/>
          <a:p>
            <a:pPr algn="r"/>
            <a:r>
              <a:rPr sz="1050" b="0">
                <a:solidFill>
                  <a:srgbClr val="111111"/>
                </a:solidFill>
                <a:latin typeface="Calibri"/>
              </a:rPr>
              <a:t>51</a:t>
            </a:r>
          </a:p>
        </p:txBody>
      </p:sp>
      <p:sp>
        <p:nvSpPr>
          <p:cNvPr id="81" name="TextBox 80"/>
          <p:cNvSpPr txBox="1"/>
          <p:nvPr/>
        </p:nvSpPr>
        <p:spPr>
          <a:xfrm>
            <a:off x="4107653" y="5321808"/>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82" name="TextBox 81"/>
          <p:cNvSpPr txBox="1"/>
          <p:nvPr/>
        </p:nvSpPr>
        <p:spPr>
          <a:xfrm>
            <a:off x="5223374" y="5321808"/>
            <a:ext cx="1118795" cy="306324"/>
          </a:xfrm>
          <a:prstGeom prst="rect">
            <a:avLst/>
          </a:prstGeom>
          <a:noFill/>
        </p:spPr>
        <p:txBody>
          <a:bodyPr wrap="square" lIns="0" rIns="0" tIns="0" bIns="0" anchor="t">
            <a:spAutoFit/>
          </a:bodyPr>
          <a:lstStyle/>
          <a:p>
            <a:pPr algn="r"/>
            <a:r>
              <a:rPr sz="1050" b="0">
                <a:solidFill>
                  <a:srgbClr val="111111"/>
                </a:solidFill>
                <a:latin typeface="Calibri"/>
              </a:rPr>
              <a:t>42</a:t>
            </a:r>
          </a:p>
        </p:txBody>
      </p:sp>
      <p:sp>
        <p:nvSpPr>
          <p:cNvPr id="83" name="TextBox 82"/>
          <p:cNvSpPr txBox="1"/>
          <p:nvPr/>
        </p:nvSpPr>
        <p:spPr>
          <a:xfrm>
            <a:off x="6525049" y="5321808"/>
            <a:ext cx="107230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84" name="TextBox 83"/>
          <p:cNvSpPr txBox="1"/>
          <p:nvPr/>
        </p:nvSpPr>
        <p:spPr>
          <a:xfrm>
            <a:off x="7780235" y="5321808"/>
            <a:ext cx="1072306" cy="306324"/>
          </a:xfrm>
          <a:prstGeom prst="rect">
            <a:avLst/>
          </a:prstGeom>
          <a:noFill/>
        </p:spPr>
        <p:txBody>
          <a:bodyPr wrap="square" lIns="0" rIns="0" tIns="0" bIns="0" anchor="t">
            <a:spAutoFit/>
          </a:bodyPr>
          <a:lstStyle/>
          <a:p>
            <a:pPr algn="r"/>
            <a:r>
              <a:rPr sz="1050" b="0">
                <a:solidFill>
                  <a:srgbClr val="111111"/>
                </a:solidFill>
                <a:latin typeface="Calibri"/>
              </a:rPr>
              <a:t>41</a:t>
            </a:r>
          </a:p>
        </p:txBody>
      </p:sp>
      <p:sp>
        <p:nvSpPr>
          <p:cNvPr id="85" name="TextBox 84"/>
          <p:cNvSpPr txBox="1"/>
          <p:nvPr/>
        </p:nvSpPr>
        <p:spPr>
          <a:xfrm>
            <a:off x="9035421" y="5321808"/>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86" name="TextBox 85"/>
          <p:cNvSpPr txBox="1"/>
          <p:nvPr/>
        </p:nvSpPr>
        <p:spPr>
          <a:xfrm>
            <a:off x="10244119" y="5321808"/>
            <a:ext cx="1304748"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87" name="Rectangle 86"/>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67512" y="5628132"/>
            <a:ext cx="2141540" cy="306324"/>
          </a:xfrm>
          <a:prstGeom prst="rect">
            <a:avLst/>
          </a:prstGeom>
          <a:noFill/>
        </p:spPr>
        <p:txBody>
          <a:bodyPr wrap="square" lIns="0" rIns="0" tIns="0" bIns="0" anchor="t">
            <a:spAutoFit/>
          </a:bodyPr>
          <a:lstStyle/>
          <a:p>
            <a:pPr algn="l"/>
            <a:r>
              <a:rPr sz="1050" b="1">
                <a:solidFill>
                  <a:srgbClr val="111111"/>
                </a:solidFill>
                <a:latin typeface="Calibri"/>
              </a:rPr>
              <a:t>TP Group</a:t>
            </a:r>
          </a:p>
        </p:txBody>
      </p:sp>
      <p:sp>
        <p:nvSpPr>
          <p:cNvPr id="90" name="TextBox 89"/>
          <p:cNvSpPr txBox="1"/>
          <p:nvPr/>
        </p:nvSpPr>
        <p:spPr>
          <a:xfrm>
            <a:off x="2991932" y="5628132"/>
            <a:ext cx="932841" cy="306324"/>
          </a:xfrm>
          <a:prstGeom prst="rect">
            <a:avLst/>
          </a:prstGeom>
          <a:noFill/>
        </p:spPr>
        <p:txBody>
          <a:bodyPr wrap="square" lIns="0" rIns="0" tIns="0" bIns="0" anchor="t">
            <a:spAutoFit/>
          </a:bodyPr>
          <a:lstStyle/>
          <a:p>
            <a:pPr algn="r"/>
            <a:r>
              <a:rPr sz="1050" b="0">
                <a:solidFill>
                  <a:srgbClr val="111111"/>
                </a:solidFill>
                <a:latin typeface="Calibri"/>
              </a:rPr>
              <a:t>67</a:t>
            </a:r>
          </a:p>
        </p:txBody>
      </p:sp>
      <p:sp>
        <p:nvSpPr>
          <p:cNvPr id="91" name="TextBox 90"/>
          <p:cNvSpPr txBox="1"/>
          <p:nvPr/>
        </p:nvSpPr>
        <p:spPr>
          <a:xfrm>
            <a:off x="4107653" y="5628132"/>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2" name="TextBox 91"/>
          <p:cNvSpPr txBox="1"/>
          <p:nvPr/>
        </p:nvSpPr>
        <p:spPr>
          <a:xfrm>
            <a:off x="5223374" y="5628132"/>
            <a:ext cx="1118795"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3" name="TextBox 92"/>
          <p:cNvSpPr txBox="1"/>
          <p:nvPr/>
        </p:nvSpPr>
        <p:spPr>
          <a:xfrm>
            <a:off x="6525049" y="5628132"/>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4" name="TextBox 93"/>
          <p:cNvSpPr txBox="1"/>
          <p:nvPr/>
        </p:nvSpPr>
        <p:spPr>
          <a:xfrm>
            <a:off x="7780235" y="5628132"/>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5" name="TextBox 94"/>
          <p:cNvSpPr txBox="1"/>
          <p:nvPr/>
        </p:nvSpPr>
        <p:spPr>
          <a:xfrm>
            <a:off x="9035421" y="5628132"/>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6" name="TextBox 95"/>
          <p:cNvSpPr txBox="1"/>
          <p:nvPr/>
        </p:nvSpPr>
        <p:spPr>
          <a:xfrm>
            <a:off x="10244119" y="5628132"/>
            <a:ext cx="130474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7" name="Rectangle 96"/>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67512" y="5934456"/>
            <a:ext cx="2141540"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100" name="TextBox 99"/>
          <p:cNvSpPr txBox="1"/>
          <p:nvPr/>
        </p:nvSpPr>
        <p:spPr>
          <a:xfrm>
            <a:off x="2991932" y="5934456"/>
            <a:ext cx="932841" cy="306324"/>
          </a:xfrm>
          <a:prstGeom prst="rect">
            <a:avLst/>
          </a:prstGeom>
          <a:noFill/>
        </p:spPr>
        <p:txBody>
          <a:bodyPr wrap="square" lIns="0" rIns="0" tIns="0" bIns="0" anchor="t">
            <a:spAutoFit/>
          </a:bodyPr>
          <a:lstStyle/>
          <a:p>
            <a:pPr algn="r"/>
            <a:r>
              <a:rPr sz="1050" b="1">
                <a:solidFill>
                  <a:srgbClr val="1E2761"/>
                </a:solidFill>
                <a:latin typeface="Calibri"/>
              </a:rPr>
              <a:t>745</a:t>
            </a:r>
          </a:p>
        </p:txBody>
      </p:sp>
      <p:sp>
        <p:nvSpPr>
          <p:cNvPr id="101" name="TextBox 100"/>
          <p:cNvSpPr txBox="1"/>
          <p:nvPr/>
        </p:nvSpPr>
        <p:spPr>
          <a:xfrm>
            <a:off x="4107653" y="5934456"/>
            <a:ext cx="932841" cy="306324"/>
          </a:xfrm>
          <a:prstGeom prst="rect">
            <a:avLst/>
          </a:prstGeom>
          <a:noFill/>
        </p:spPr>
        <p:txBody>
          <a:bodyPr wrap="square" lIns="0" rIns="0" tIns="0" bIns="0" anchor="t">
            <a:spAutoFit/>
          </a:bodyPr>
          <a:lstStyle/>
          <a:p>
            <a:pPr algn="r"/>
            <a:r>
              <a:rPr sz="1050" b="1">
                <a:solidFill>
                  <a:srgbClr val="1E2761"/>
                </a:solidFill>
                <a:latin typeface="Calibri"/>
              </a:rPr>
              <a:t>954</a:t>
            </a:r>
          </a:p>
        </p:txBody>
      </p:sp>
      <p:sp>
        <p:nvSpPr>
          <p:cNvPr id="102" name="TextBox 101"/>
          <p:cNvSpPr txBox="1"/>
          <p:nvPr/>
        </p:nvSpPr>
        <p:spPr>
          <a:xfrm>
            <a:off x="5223374" y="5934456"/>
            <a:ext cx="1118795" cy="306324"/>
          </a:xfrm>
          <a:prstGeom prst="rect">
            <a:avLst/>
          </a:prstGeom>
          <a:noFill/>
        </p:spPr>
        <p:txBody>
          <a:bodyPr wrap="square" lIns="0" rIns="0" tIns="0" bIns="0" anchor="t">
            <a:spAutoFit/>
          </a:bodyPr>
          <a:lstStyle/>
          <a:p>
            <a:pPr algn="r"/>
            <a:r>
              <a:rPr sz="1050" b="1">
                <a:solidFill>
                  <a:srgbClr val="1E2761"/>
                </a:solidFill>
                <a:latin typeface="Calibri"/>
              </a:rPr>
              <a:t>941</a:t>
            </a:r>
          </a:p>
        </p:txBody>
      </p:sp>
      <p:sp>
        <p:nvSpPr>
          <p:cNvPr id="103" name="TextBox 102"/>
          <p:cNvSpPr txBox="1"/>
          <p:nvPr/>
        </p:nvSpPr>
        <p:spPr>
          <a:xfrm>
            <a:off x="6525049" y="5934456"/>
            <a:ext cx="1072306" cy="306324"/>
          </a:xfrm>
          <a:prstGeom prst="rect">
            <a:avLst/>
          </a:prstGeom>
          <a:noFill/>
        </p:spPr>
        <p:txBody>
          <a:bodyPr wrap="square" lIns="0" rIns="0" tIns="0" bIns="0" anchor="t">
            <a:spAutoFit/>
          </a:bodyPr>
          <a:lstStyle/>
          <a:p>
            <a:pPr algn="r"/>
            <a:r>
              <a:rPr sz="1050" b="1">
                <a:solidFill>
                  <a:srgbClr val="1E2761"/>
                </a:solidFill>
                <a:latin typeface="Calibri"/>
              </a:rPr>
              <a:t>259</a:t>
            </a:r>
          </a:p>
        </p:txBody>
      </p:sp>
      <p:sp>
        <p:nvSpPr>
          <p:cNvPr id="104" name="TextBox 103"/>
          <p:cNvSpPr txBox="1"/>
          <p:nvPr/>
        </p:nvSpPr>
        <p:spPr>
          <a:xfrm>
            <a:off x="7780235" y="5934456"/>
            <a:ext cx="1072306" cy="306324"/>
          </a:xfrm>
          <a:prstGeom prst="rect">
            <a:avLst/>
          </a:prstGeom>
          <a:noFill/>
        </p:spPr>
        <p:txBody>
          <a:bodyPr wrap="square" lIns="0" rIns="0" tIns="0" bIns="0" anchor="t">
            <a:spAutoFit/>
          </a:bodyPr>
          <a:lstStyle/>
          <a:p>
            <a:pPr algn="r"/>
            <a:r>
              <a:rPr sz="1050" b="1">
                <a:solidFill>
                  <a:srgbClr val="1E2761"/>
                </a:solidFill>
                <a:latin typeface="Calibri"/>
              </a:rPr>
              <a:t>668</a:t>
            </a:r>
          </a:p>
        </p:txBody>
      </p:sp>
      <p:sp>
        <p:nvSpPr>
          <p:cNvPr id="105" name="TextBox 104"/>
          <p:cNvSpPr txBox="1"/>
          <p:nvPr/>
        </p:nvSpPr>
        <p:spPr>
          <a:xfrm>
            <a:off x="9035421" y="5934456"/>
            <a:ext cx="1025818" cy="306324"/>
          </a:xfrm>
          <a:prstGeom prst="rect">
            <a:avLst/>
          </a:prstGeom>
          <a:noFill/>
        </p:spPr>
        <p:txBody>
          <a:bodyPr wrap="square" lIns="0" rIns="0" tIns="0" bIns="0" anchor="t">
            <a:spAutoFit/>
          </a:bodyPr>
          <a:lstStyle/>
          <a:p>
            <a:pPr algn="r"/>
            <a:r>
              <a:rPr sz="1050" b="1">
                <a:solidFill>
                  <a:srgbClr val="1E2761"/>
                </a:solidFill>
                <a:latin typeface="Calibri"/>
              </a:rPr>
              <a:t>14</a:t>
            </a:r>
          </a:p>
        </p:txBody>
      </p:sp>
      <p:sp>
        <p:nvSpPr>
          <p:cNvPr id="106" name="TextBox 105"/>
          <p:cNvSpPr txBox="1"/>
          <p:nvPr/>
        </p:nvSpPr>
        <p:spPr>
          <a:xfrm>
            <a:off x="10244119" y="5934456"/>
            <a:ext cx="1304748" cy="306324"/>
          </a:xfrm>
          <a:prstGeom prst="rect">
            <a:avLst/>
          </a:prstGeom>
          <a:noFill/>
        </p:spPr>
        <p:txBody>
          <a:bodyPr wrap="square" lIns="0" rIns="0" tIns="0" bIns="0" anchor="t">
            <a:spAutoFit/>
          </a:bodyPr>
          <a:lstStyle/>
          <a:p>
            <a:pPr algn="r"/>
            <a:r>
              <a:rPr sz="1050" b="1">
                <a:solidFill>
                  <a:srgbClr val="1E2761"/>
                </a:solidFill>
                <a:latin typeface="Calibri"/>
              </a:rPr>
              <a:t>28%</a:t>
            </a:r>
          </a:p>
        </p:txBody>
      </p:sp>
      <p:sp>
        <p:nvSpPr>
          <p:cNvPr id="107" name="TextBox 106"/>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Staff and general workers are listed separately because a job spec is held by either, and the staff figure includes the 16 exempt from KPI scoring. AMC and TP Group have no versions on file at all, so they have no approval rate to show. Approved %% is of all versions on file at that company.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 approvals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941 versions on file, 259 approved (28%). Approvals moved by 31 this cycle; Globinaco still holds the backlog.</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20%</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680</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139</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C62828"/>
                </a:solidFill>
                <a:latin typeface="Calibri"/>
              </a:rPr>
              <a:t>527</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680 versions, 139 approved. 335 pending general worker specs are the single biggest block in the group.</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41%</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147</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61</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86</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147 versions, 61 approved. Steady progress since coming online in August.</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81%</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72</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58</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14</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72 versions and 58 approved — the highest approval rate in the group, all for staff.</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job spec versions on file at all. Nothing has been started here.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2%</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42</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2E7D32"/>
                </a:solidFill>
                <a:latin typeface="Calibri"/>
              </a:rPr>
              <a:t>1</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41</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42 versions but only 1 approved. Came online in August and has not progressed.</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job spec versions on file. 61 staff, nothing started.</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668 pending and 14 rejected group-wide. Approval rate is of all versions on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FOUR</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Merit/Demerit Issuance</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using the recognition tool, and how the mix has shifted over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ADOPTION &amp; CONCENTRATION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Merit/Demerit issuance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1,207 records issued to date. 2026 is already the busiest year on record, by a wide margin.</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1,207</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Records issued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2023 – 12 Oct 2026. Up 142 since September.</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61%</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Merit share, group-wide</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741 merit vs 464 demerit (2 unclassified)</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690</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so far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vs 368 for all of 2025 — up 88% on the full prior year</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78%</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Concentrated at Grandis</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945 of 1,207 records. The tool is one company's habit.</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3357676"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4208068"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Merit</a:t>
            </a:r>
          </a:p>
        </p:txBody>
      </p:sp>
      <p:sp>
        <p:nvSpPr>
          <p:cNvPr id="31" name="TextBox 30"/>
          <p:cNvSpPr txBox="1"/>
          <p:nvPr/>
        </p:nvSpPr>
        <p:spPr>
          <a:xfrm>
            <a:off x="6715962"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Demerit</a:t>
            </a:r>
          </a:p>
        </p:txBody>
      </p:sp>
      <p:sp>
        <p:nvSpPr>
          <p:cNvPr id="32" name="TextBox 31"/>
          <p:cNvSpPr txBox="1"/>
          <p:nvPr/>
        </p:nvSpPr>
        <p:spPr>
          <a:xfrm>
            <a:off x="9223856"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Total</a:t>
            </a:r>
          </a:p>
        </p:txBody>
      </p:sp>
      <p:sp>
        <p:nvSpPr>
          <p:cNvPr id="33" name="Rectangle 32"/>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96512"/>
            <a:ext cx="3357676" cy="306324"/>
          </a:xfrm>
          <a:prstGeom prst="rect">
            <a:avLst/>
          </a:prstGeom>
          <a:noFill/>
        </p:spPr>
        <p:txBody>
          <a:bodyPr wrap="square" lIns="0" rIns="0" tIns="0" bIns="0" anchor="t">
            <a:spAutoFit/>
          </a:bodyPr>
          <a:lstStyle/>
          <a:p>
            <a:pPr algn="l"/>
            <a:r>
              <a:rPr sz="1050" b="1">
                <a:solidFill>
                  <a:srgbClr val="111111"/>
                </a:solidFill>
                <a:latin typeface="Calibri"/>
              </a:rPr>
              <a:t>2023</a:t>
            </a:r>
          </a:p>
        </p:txBody>
      </p:sp>
      <p:sp>
        <p:nvSpPr>
          <p:cNvPr id="36" name="TextBox 35"/>
          <p:cNvSpPr txBox="1"/>
          <p:nvPr/>
        </p:nvSpPr>
        <p:spPr>
          <a:xfrm>
            <a:off x="4208068"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0</a:t>
            </a:r>
          </a:p>
        </p:txBody>
      </p:sp>
      <p:sp>
        <p:nvSpPr>
          <p:cNvPr id="37" name="TextBox 36"/>
          <p:cNvSpPr txBox="1"/>
          <p:nvPr/>
        </p:nvSpPr>
        <p:spPr>
          <a:xfrm>
            <a:off x="6715962"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38" name="TextBox 37"/>
          <p:cNvSpPr txBox="1"/>
          <p:nvPr/>
        </p:nvSpPr>
        <p:spPr>
          <a:xfrm>
            <a:off x="9223856"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39" name="Rectangle 38"/>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402836"/>
            <a:ext cx="3357676" cy="306324"/>
          </a:xfrm>
          <a:prstGeom prst="rect">
            <a:avLst/>
          </a:prstGeom>
          <a:noFill/>
        </p:spPr>
        <p:txBody>
          <a:bodyPr wrap="square" lIns="0" rIns="0" tIns="0" bIns="0" anchor="t">
            <a:spAutoFit/>
          </a:bodyPr>
          <a:lstStyle/>
          <a:p>
            <a:pPr algn="l"/>
            <a:r>
              <a:rPr sz="1050" b="1">
                <a:solidFill>
                  <a:srgbClr val="111111"/>
                </a:solidFill>
                <a:latin typeface="Calibri"/>
              </a:rPr>
              <a:t>2024</a:t>
            </a:r>
          </a:p>
        </p:txBody>
      </p:sp>
      <p:sp>
        <p:nvSpPr>
          <p:cNvPr id="42" name="TextBox 41"/>
          <p:cNvSpPr txBox="1"/>
          <p:nvPr/>
        </p:nvSpPr>
        <p:spPr>
          <a:xfrm>
            <a:off x="4208068"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3" name="TextBox 42"/>
          <p:cNvSpPr txBox="1"/>
          <p:nvPr/>
        </p:nvSpPr>
        <p:spPr>
          <a:xfrm>
            <a:off x="6715962"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146</a:t>
            </a:r>
          </a:p>
        </p:txBody>
      </p:sp>
      <p:sp>
        <p:nvSpPr>
          <p:cNvPr id="44" name="TextBox 43"/>
          <p:cNvSpPr txBox="1"/>
          <p:nvPr/>
        </p:nvSpPr>
        <p:spPr>
          <a:xfrm>
            <a:off x="9223856"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148</a:t>
            </a:r>
          </a:p>
        </p:txBody>
      </p:sp>
      <p:sp>
        <p:nvSpPr>
          <p:cNvPr id="45" name="Rectangle 44"/>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709160"/>
            <a:ext cx="3357676" cy="306324"/>
          </a:xfrm>
          <a:prstGeom prst="rect">
            <a:avLst/>
          </a:prstGeom>
          <a:noFill/>
        </p:spPr>
        <p:txBody>
          <a:bodyPr wrap="square" lIns="0" rIns="0" tIns="0" bIns="0" anchor="t">
            <a:spAutoFit/>
          </a:bodyPr>
          <a:lstStyle/>
          <a:p>
            <a:pPr algn="l"/>
            <a:r>
              <a:rPr sz="1050" b="1">
                <a:solidFill>
                  <a:srgbClr val="111111"/>
                </a:solidFill>
                <a:latin typeface="Calibri"/>
              </a:rPr>
              <a:t>2025</a:t>
            </a:r>
          </a:p>
        </p:txBody>
      </p:sp>
      <p:sp>
        <p:nvSpPr>
          <p:cNvPr id="48" name="TextBox 47"/>
          <p:cNvSpPr txBox="1"/>
          <p:nvPr/>
        </p:nvSpPr>
        <p:spPr>
          <a:xfrm>
            <a:off x="4208068"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260</a:t>
            </a:r>
          </a:p>
        </p:txBody>
      </p:sp>
      <p:sp>
        <p:nvSpPr>
          <p:cNvPr id="49" name="TextBox 48"/>
          <p:cNvSpPr txBox="1"/>
          <p:nvPr/>
        </p:nvSpPr>
        <p:spPr>
          <a:xfrm>
            <a:off x="6715962"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108</a:t>
            </a:r>
          </a:p>
        </p:txBody>
      </p:sp>
      <p:sp>
        <p:nvSpPr>
          <p:cNvPr id="50" name="TextBox 49"/>
          <p:cNvSpPr txBox="1"/>
          <p:nvPr/>
        </p:nvSpPr>
        <p:spPr>
          <a:xfrm>
            <a:off x="9223856"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368</a:t>
            </a:r>
          </a:p>
        </p:txBody>
      </p:sp>
      <p:sp>
        <p:nvSpPr>
          <p:cNvPr id="51" name="Rectangle 50"/>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015484"/>
            <a:ext cx="3357676" cy="306324"/>
          </a:xfrm>
          <a:prstGeom prst="rect">
            <a:avLst/>
          </a:prstGeom>
          <a:noFill/>
        </p:spPr>
        <p:txBody>
          <a:bodyPr wrap="square" lIns="0" rIns="0" tIns="0" bIns="0" anchor="t">
            <a:spAutoFit/>
          </a:bodyPr>
          <a:lstStyle/>
          <a:p>
            <a:pPr algn="l"/>
            <a:r>
              <a:rPr sz="1050" b="1">
                <a:solidFill>
                  <a:srgbClr val="111111"/>
                </a:solidFill>
                <a:latin typeface="Calibri"/>
              </a:rPr>
              <a:t>2026 YTD</a:t>
            </a:r>
          </a:p>
        </p:txBody>
      </p:sp>
      <p:sp>
        <p:nvSpPr>
          <p:cNvPr id="54" name="TextBox 53"/>
          <p:cNvSpPr txBox="1"/>
          <p:nvPr/>
        </p:nvSpPr>
        <p:spPr>
          <a:xfrm>
            <a:off x="4208068"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480</a:t>
            </a:r>
          </a:p>
        </p:txBody>
      </p:sp>
      <p:sp>
        <p:nvSpPr>
          <p:cNvPr id="55" name="TextBox 54"/>
          <p:cNvSpPr txBox="1"/>
          <p:nvPr/>
        </p:nvSpPr>
        <p:spPr>
          <a:xfrm>
            <a:off x="6715962"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209</a:t>
            </a:r>
          </a:p>
        </p:txBody>
      </p:sp>
      <p:sp>
        <p:nvSpPr>
          <p:cNvPr id="56" name="TextBox 55"/>
          <p:cNvSpPr txBox="1"/>
          <p:nvPr/>
        </p:nvSpPr>
        <p:spPr>
          <a:xfrm>
            <a:off x="9223856"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690</a:t>
            </a:r>
          </a:p>
        </p:txBody>
      </p:sp>
      <p:sp>
        <p:nvSpPr>
          <p:cNvPr id="57" name="Rectangle 56"/>
          <p:cNvSpPr/>
          <p:nvPr/>
        </p:nvSpPr>
        <p:spPr>
          <a:xfrm>
            <a:off x="566928" y="525780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321808"/>
            <a:ext cx="3357676"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60" name="TextBox 59"/>
          <p:cNvSpPr txBox="1"/>
          <p:nvPr/>
        </p:nvSpPr>
        <p:spPr>
          <a:xfrm>
            <a:off x="4208068"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741</a:t>
            </a:r>
          </a:p>
        </p:txBody>
      </p:sp>
      <p:sp>
        <p:nvSpPr>
          <p:cNvPr id="61" name="TextBox 60"/>
          <p:cNvSpPr txBox="1"/>
          <p:nvPr/>
        </p:nvSpPr>
        <p:spPr>
          <a:xfrm>
            <a:off x="6715962"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464</a:t>
            </a:r>
          </a:p>
        </p:txBody>
      </p:sp>
      <p:sp>
        <p:nvSpPr>
          <p:cNvPr id="62" name="TextBox 61"/>
          <p:cNvSpPr txBox="1"/>
          <p:nvPr/>
        </p:nvSpPr>
        <p:spPr>
          <a:xfrm>
            <a:off x="9223856"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1,207</a:t>
            </a:r>
          </a:p>
        </p:txBody>
      </p:sp>
      <p:sp>
        <p:nvSpPr>
          <p:cNvPr id="63" name="TextBox 6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Merit/demerit records held against staff accounts, deleted records excluded. Two records carry no merit/demerit classification and are counted in totals only; merit share is measured on classified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Merit/Demerit issuance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Grandis carries 78% of group volume and is merit-led; Globinaco is almost entirely demerit.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75%</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712</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233</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945</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945 records, 78% of the group's volume, and merit-led — the model use case for the tool.</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C62828"/>
                </a:solidFill>
                <a:latin typeface="Cambria"/>
              </a:rPr>
              <a:t>3%</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6</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223</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229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231 records but only 6 are merit. The tool is being used almost purely to record problems.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76%</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19</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6</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25</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15 records against 676 people on file. Barely adopted.</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2E7D32"/>
                </a:solidFill>
                <a:latin typeface="Cambria"/>
              </a:rPr>
              <a:t>67%</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2E7D32"/>
                </a:solidFill>
                <a:latin typeface="Calibri"/>
              </a:rPr>
              <a:t>4</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C62828"/>
                </a:solidFill>
                <a:latin typeface="Calibri"/>
              </a:rPr>
              <a:t>2</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6</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 records all-time. Effectively unused.</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5A6478"/>
                </a:solidFill>
                <a:latin typeface="Cambria"/>
              </a:rPr>
              <a:t>—</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records at all. The tool has never been used here.</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5A647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records at all. 61 staff, nothing issued.</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Records attributed to the company of the staff member they were issued against. Merit share is measured on classified records only; the group's 2 unclassified records are excluded from the shares shown 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FIVE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Memo Activity</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Is the group-wide memo broadcast back in 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ADOPTION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93 memos on file. 2026 has already passed 2025, and five senders who had never issued one have started.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93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Memos issued, all-time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2022 – 2026 YTD</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 YTD</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vs 5 in all of 2025 — and 2 at the last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Senders active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9 distinct senders in the whole history</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82%</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Still from one person</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76 of 93 memos came from the Chief Executive Officer</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5744391"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6594783" y="3776472"/>
            <a:ext cx="4954088"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31" name="Rectangle 30"/>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096512"/>
            <a:ext cx="5744391" cy="306324"/>
          </a:xfrm>
          <a:prstGeom prst="rect">
            <a:avLst/>
          </a:prstGeom>
          <a:noFill/>
        </p:spPr>
        <p:txBody>
          <a:bodyPr wrap="square" lIns="0" rIns="0" tIns="0" bIns="0" anchor="t">
            <a:spAutoFit/>
          </a:bodyPr>
          <a:lstStyle/>
          <a:p>
            <a:pPr algn="l"/>
            <a:r>
              <a:rPr sz="1050" b="1">
                <a:solidFill>
                  <a:srgbClr val="111111"/>
                </a:solidFill>
                <a:latin typeface="Calibri"/>
              </a:rPr>
              <a:t>2022</a:t>
            </a:r>
          </a:p>
        </p:txBody>
      </p:sp>
      <p:sp>
        <p:nvSpPr>
          <p:cNvPr id="34" name="TextBox 33"/>
          <p:cNvSpPr txBox="1"/>
          <p:nvPr/>
        </p:nvSpPr>
        <p:spPr>
          <a:xfrm>
            <a:off x="6594783" y="4096512"/>
            <a:ext cx="4954088" cy="306324"/>
          </a:xfrm>
          <a:prstGeom prst="rect">
            <a:avLst/>
          </a:prstGeom>
          <a:noFill/>
        </p:spPr>
        <p:txBody>
          <a:bodyPr wrap="square" lIns="0" rIns="0" tIns="0" bIns="0" anchor="t">
            <a:spAutoFit/>
          </a:bodyPr>
          <a:lstStyle/>
          <a:p>
            <a:pPr algn="r"/>
            <a:r>
              <a:rPr sz="1050" b="0">
                <a:solidFill>
                  <a:srgbClr val="111111"/>
                </a:solidFill>
                <a:latin typeface="Calibri"/>
              </a:rPr>
              <a:t>31</a:t>
            </a:r>
          </a:p>
        </p:txBody>
      </p:sp>
      <p:sp>
        <p:nvSpPr>
          <p:cNvPr id="35" name="Rectangle 34"/>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402836"/>
            <a:ext cx="5744391" cy="306324"/>
          </a:xfrm>
          <a:prstGeom prst="rect">
            <a:avLst/>
          </a:prstGeom>
          <a:noFill/>
        </p:spPr>
        <p:txBody>
          <a:bodyPr wrap="square" lIns="0" rIns="0" tIns="0" bIns="0" anchor="t">
            <a:spAutoFit/>
          </a:bodyPr>
          <a:lstStyle/>
          <a:p>
            <a:pPr algn="l"/>
            <a:r>
              <a:rPr sz="1050" b="1">
                <a:solidFill>
                  <a:srgbClr val="111111"/>
                </a:solidFill>
                <a:latin typeface="Calibri"/>
              </a:rPr>
              <a:t>2023</a:t>
            </a:r>
          </a:p>
        </p:txBody>
      </p:sp>
      <p:sp>
        <p:nvSpPr>
          <p:cNvPr id="38" name="TextBox 37"/>
          <p:cNvSpPr txBox="1"/>
          <p:nvPr/>
        </p:nvSpPr>
        <p:spPr>
          <a:xfrm>
            <a:off x="6594783" y="4402836"/>
            <a:ext cx="4954088" cy="306324"/>
          </a:xfrm>
          <a:prstGeom prst="rect">
            <a:avLst/>
          </a:prstGeom>
          <a:noFill/>
        </p:spPr>
        <p:txBody>
          <a:bodyPr wrap="square" lIns="0" rIns="0" tIns="0" bIns="0" anchor="t">
            <a:spAutoFit/>
          </a:bodyPr>
          <a:lstStyle/>
          <a:p>
            <a:pPr algn="r"/>
            <a:r>
              <a:rPr sz="1050" b="0">
                <a:solidFill>
                  <a:srgbClr val="111111"/>
                </a:solidFill>
                <a:latin typeface="Calibri"/>
              </a:rPr>
              <a:t>31</a:t>
            </a:r>
          </a:p>
        </p:txBody>
      </p:sp>
      <p:sp>
        <p:nvSpPr>
          <p:cNvPr id="39" name="Rectangle 38"/>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709160"/>
            <a:ext cx="5744391" cy="306324"/>
          </a:xfrm>
          <a:prstGeom prst="rect">
            <a:avLst/>
          </a:prstGeom>
          <a:noFill/>
        </p:spPr>
        <p:txBody>
          <a:bodyPr wrap="square" lIns="0" rIns="0" tIns="0" bIns="0" anchor="t">
            <a:spAutoFit/>
          </a:bodyPr>
          <a:lstStyle/>
          <a:p>
            <a:pPr algn="l"/>
            <a:r>
              <a:rPr sz="1050" b="1">
                <a:solidFill>
                  <a:srgbClr val="111111"/>
                </a:solidFill>
                <a:latin typeface="Calibri"/>
              </a:rPr>
              <a:t>2024</a:t>
            </a:r>
          </a:p>
        </p:txBody>
      </p:sp>
      <p:sp>
        <p:nvSpPr>
          <p:cNvPr id="42" name="TextBox 41"/>
          <p:cNvSpPr txBox="1"/>
          <p:nvPr/>
        </p:nvSpPr>
        <p:spPr>
          <a:xfrm>
            <a:off x="6594783" y="4709160"/>
            <a:ext cx="4954088" cy="306324"/>
          </a:xfrm>
          <a:prstGeom prst="rect">
            <a:avLst/>
          </a:prstGeom>
          <a:noFill/>
        </p:spPr>
        <p:txBody>
          <a:bodyPr wrap="square" lIns="0" rIns="0" tIns="0" bIns="0" anchor="t">
            <a:spAutoFit/>
          </a:bodyPr>
          <a:lstStyle/>
          <a:p>
            <a:pPr algn="r"/>
            <a:r>
              <a:rPr sz="1050" b="0">
                <a:solidFill>
                  <a:srgbClr val="111111"/>
                </a:solidFill>
                <a:latin typeface="Calibri"/>
              </a:rPr>
              <a:t>16</a:t>
            </a:r>
          </a:p>
        </p:txBody>
      </p:sp>
      <p:sp>
        <p:nvSpPr>
          <p:cNvPr id="43" name="Rectangle 42"/>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5015484"/>
            <a:ext cx="5744391" cy="306324"/>
          </a:xfrm>
          <a:prstGeom prst="rect">
            <a:avLst/>
          </a:prstGeom>
          <a:noFill/>
        </p:spPr>
        <p:txBody>
          <a:bodyPr wrap="square" lIns="0" rIns="0" tIns="0" bIns="0" anchor="t">
            <a:spAutoFit/>
          </a:bodyPr>
          <a:lstStyle/>
          <a:p>
            <a:pPr algn="l"/>
            <a:r>
              <a:rPr sz="1050" b="1">
                <a:solidFill>
                  <a:srgbClr val="111111"/>
                </a:solidFill>
                <a:latin typeface="Calibri"/>
              </a:rPr>
              <a:t>2025</a:t>
            </a:r>
          </a:p>
        </p:txBody>
      </p:sp>
      <p:sp>
        <p:nvSpPr>
          <p:cNvPr id="46" name="TextBox 45"/>
          <p:cNvSpPr txBox="1"/>
          <p:nvPr/>
        </p:nvSpPr>
        <p:spPr>
          <a:xfrm>
            <a:off x="6594783" y="5015484"/>
            <a:ext cx="4954088" cy="306324"/>
          </a:xfrm>
          <a:prstGeom prst="rect">
            <a:avLst/>
          </a:prstGeom>
          <a:noFill/>
        </p:spPr>
        <p:txBody>
          <a:bodyPr wrap="square" lIns="0" rIns="0" tIns="0" bIns="0" anchor="t">
            <a:spAutoFit/>
          </a:bodyPr>
          <a:lstStyle/>
          <a:p>
            <a:pPr algn="r"/>
            <a:r>
              <a:rPr sz="1050" b="0">
                <a:solidFill>
                  <a:srgbClr val="111111"/>
                </a:solidFill>
                <a:latin typeface="Calibri"/>
              </a:rPr>
              <a:t>5</a:t>
            </a:r>
          </a:p>
        </p:txBody>
      </p:sp>
      <p:sp>
        <p:nvSpPr>
          <p:cNvPr id="47" name="Rectangle 4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5321808"/>
            <a:ext cx="5744391" cy="306324"/>
          </a:xfrm>
          <a:prstGeom prst="rect">
            <a:avLst/>
          </a:prstGeom>
          <a:noFill/>
        </p:spPr>
        <p:txBody>
          <a:bodyPr wrap="square" lIns="0" rIns="0" tIns="0" bIns="0" anchor="t">
            <a:spAutoFit/>
          </a:bodyPr>
          <a:lstStyle/>
          <a:p>
            <a:pPr algn="l"/>
            <a:r>
              <a:rPr sz="1050" b="1">
                <a:solidFill>
                  <a:srgbClr val="111111"/>
                </a:solidFill>
                <a:latin typeface="Calibri"/>
              </a:rPr>
              <a:t>2026 YTD</a:t>
            </a:r>
          </a:p>
        </p:txBody>
      </p:sp>
      <p:sp>
        <p:nvSpPr>
          <p:cNvPr id="50" name="TextBox 49"/>
          <p:cNvSpPr txBox="1"/>
          <p:nvPr/>
        </p:nvSpPr>
        <p:spPr>
          <a:xfrm>
            <a:off x="6594783" y="5321808"/>
            <a:ext cx="4954088" cy="306324"/>
          </a:xfrm>
          <a:prstGeom prst="rect">
            <a:avLst/>
          </a:prstGeom>
          <a:noFill/>
        </p:spPr>
        <p:txBody>
          <a:bodyPr wrap="square" lIns="0" rIns="0" tIns="0" bIns="0" anchor="t">
            <a:spAutoFit/>
          </a:bodyPr>
          <a:lstStyle/>
          <a:p>
            <a:pPr algn="r"/>
            <a:r>
              <a:rPr sz="1050" b="0">
                <a:solidFill>
                  <a:srgbClr val="111111"/>
                </a:solidFill>
                <a:latin typeface="Calibri"/>
              </a:rPr>
              <a:t>9</a:t>
            </a:r>
          </a:p>
        </p:txBody>
      </p:sp>
      <p:sp>
        <p:nvSpPr>
          <p:cNvPr id="51" name="Rectangle 50"/>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628132"/>
            <a:ext cx="5744391" cy="306324"/>
          </a:xfrm>
          <a:prstGeom prst="rect">
            <a:avLst/>
          </a:prstGeom>
          <a:noFill/>
        </p:spPr>
        <p:txBody>
          <a:bodyPr wrap="square" lIns="0" rIns="0" tIns="0" bIns="0" anchor="t">
            <a:spAutoFit/>
          </a:bodyPr>
          <a:lstStyle/>
          <a:p>
            <a:pPr algn="l"/>
            <a:r>
              <a:rPr sz="1050" b="1">
                <a:solidFill>
                  <a:srgbClr val="111111"/>
                </a:solidFill>
                <a:latin typeface="Calibri"/>
              </a:rPr>
              <a:t>Undated</a:t>
            </a:r>
          </a:p>
        </p:txBody>
      </p:sp>
      <p:sp>
        <p:nvSpPr>
          <p:cNvPr id="54" name="TextBox 53"/>
          <p:cNvSpPr txBox="1"/>
          <p:nvPr/>
        </p:nvSpPr>
        <p:spPr>
          <a:xfrm>
            <a:off x="6594783" y="5628132"/>
            <a:ext cx="4954088"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5" name="Rectangle 54"/>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5934456"/>
            <a:ext cx="5744391"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58" name="TextBox 57"/>
          <p:cNvSpPr txBox="1"/>
          <p:nvPr/>
        </p:nvSpPr>
        <p:spPr>
          <a:xfrm>
            <a:off x="6594783" y="5934456"/>
            <a:ext cx="4954088" cy="306324"/>
          </a:xfrm>
          <a:prstGeom prst="rect">
            <a:avLst/>
          </a:prstGeom>
          <a:noFill/>
        </p:spPr>
        <p:txBody>
          <a:bodyPr wrap="square" lIns="0" rIns="0" tIns="0" bIns="0" anchor="t">
            <a:spAutoFit/>
          </a:bodyPr>
          <a:lstStyle/>
          <a:p>
            <a:pPr algn="r"/>
            <a:r>
              <a:rPr sz="1050" b="1">
                <a:solidFill>
                  <a:srgbClr val="1E2761"/>
                </a:solidFill>
                <a:latin typeface="Calibri"/>
              </a:rPr>
              <a:t>93</a:t>
            </a:r>
          </a:p>
        </p:txBody>
      </p:sp>
      <p:sp>
        <p:nvSpPr>
          <p:cNvPr id="59" name="TextBox 58"/>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memos on file, deleted records excluded. The date is a free-text field recorded in several different formats, so the year is taken from its four-digit part rather than parsed as a date; 1 memo carries no usable year and is in the total only. Treat single-year counts as directional.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USAGE PATTERN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who is sending them</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Sender is a free-text field, not tied to a company — identities grouped by hand across spellings.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3736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810512"/>
            <a:ext cx="4349459" cy="329184"/>
          </a:xfrm>
          <a:prstGeom prst="rect">
            <a:avLst/>
          </a:prstGeom>
          <a:noFill/>
        </p:spPr>
        <p:txBody>
          <a:bodyPr wrap="square" lIns="0" rIns="0" tIns="0" bIns="0" anchor="t">
            <a:spAutoFit/>
          </a:bodyPr>
          <a:lstStyle/>
          <a:p>
            <a:pPr algn="l"/>
            <a:r>
              <a:rPr sz="950" b="1">
                <a:solidFill>
                  <a:srgbClr val="FFFFFF"/>
                </a:solidFill>
                <a:latin typeface="Calibri"/>
              </a:rPr>
              <a:t>Sender (identity, as recorded)</a:t>
            </a:r>
          </a:p>
        </p:txBody>
      </p:sp>
      <p:sp>
        <p:nvSpPr>
          <p:cNvPr id="10" name="TextBox 9"/>
          <p:cNvSpPr txBox="1"/>
          <p:nvPr/>
        </p:nvSpPr>
        <p:spPr>
          <a:xfrm>
            <a:off x="5199851" y="1810512"/>
            <a:ext cx="3816242" cy="329184"/>
          </a:xfrm>
          <a:prstGeom prst="rect">
            <a:avLst/>
          </a:prstGeom>
          <a:noFill/>
        </p:spPr>
        <p:txBody>
          <a:bodyPr wrap="square" lIns="0" rIns="0" tIns="0" bIns="0" anchor="t">
            <a:spAutoFit/>
          </a:bodyPr>
          <a:lstStyle/>
          <a:p>
            <a:pPr algn="r"/>
            <a:r>
              <a:rPr sz="950" b="1">
                <a:solidFill>
                  <a:srgbClr val="FFFFFF"/>
                </a:solidFill>
                <a:latin typeface="Calibri"/>
              </a:rPr>
              <a:t>Position</a:t>
            </a:r>
          </a:p>
        </p:txBody>
      </p:sp>
      <p:sp>
        <p:nvSpPr>
          <p:cNvPr id="11" name="TextBox 10"/>
          <p:cNvSpPr txBox="1"/>
          <p:nvPr/>
        </p:nvSpPr>
        <p:spPr>
          <a:xfrm>
            <a:off x="9198973" y="1810512"/>
            <a:ext cx="1150160"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12" name="TextBox 11"/>
          <p:cNvSpPr txBox="1"/>
          <p:nvPr/>
        </p:nvSpPr>
        <p:spPr>
          <a:xfrm>
            <a:off x="10532013" y="1810512"/>
            <a:ext cx="1016856" cy="329184"/>
          </a:xfrm>
          <a:prstGeom prst="rect">
            <a:avLst/>
          </a:prstGeom>
          <a:noFill/>
        </p:spPr>
        <p:txBody>
          <a:bodyPr wrap="square" lIns="0" rIns="0" tIns="0" bIns="0" anchor="t">
            <a:spAutoFit/>
          </a:bodyPr>
          <a:lstStyle/>
          <a:p>
            <a:pPr algn="r"/>
            <a:r>
              <a:rPr sz="950" b="1">
                <a:solidFill>
                  <a:srgbClr val="FFFFFF"/>
                </a:solidFill>
                <a:latin typeface="Calibri"/>
              </a:rPr>
              <a:t>Share</a:t>
            </a:r>
          </a:p>
        </p:txBody>
      </p:sp>
      <p:sp>
        <p:nvSpPr>
          <p:cNvPr id="13" name="Rectangle 12"/>
          <p:cNvSpPr/>
          <p:nvPr/>
        </p:nvSpPr>
        <p:spPr>
          <a:xfrm>
            <a:off x="566928" y="206654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37286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130552"/>
            <a:ext cx="4349459" cy="306324"/>
          </a:xfrm>
          <a:prstGeom prst="rect">
            <a:avLst/>
          </a:prstGeom>
          <a:noFill/>
        </p:spPr>
        <p:txBody>
          <a:bodyPr wrap="square" lIns="0" rIns="0" tIns="0" bIns="0" anchor="t">
            <a:spAutoFit/>
          </a:bodyPr>
          <a:lstStyle/>
          <a:p>
            <a:pPr algn="l"/>
            <a:r>
              <a:rPr sz="1050" b="1">
                <a:solidFill>
                  <a:srgbClr val="111111"/>
                </a:solidFill>
                <a:latin typeface="Calibri"/>
              </a:rPr>
              <a:t>Dr. Lawrence Chu</a:t>
            </a:r>
          </a:p>
        </p:txBody>
      </p:sp>
      <p:sp>
        <p:nvSpPr>
          <p:cNvPr id="16" name="TextBox 15"/>
          <p:cNvSpPr txBox="1"/>
          <p:nvPr/>
        </p:nvSpPr>
        <p:spPr>
          <a:xfrm>
            <a:off x="5199851" y="2130552"/>
            <a:ext cx="3816242" cy="306324"/>
          </a:xfrm>
          <a:prstGeom prst="rect">
            <a:avLst/>
          </a:prstGeom>
          <a:noFill/>
        </p:spPr>
        <p:txBody>
          <a:bodyPr wrap="square" lIns="0" rIns="0" tIns="0" bIns="0" anchor="t">
            <a:spAutoFit/>
          </a:bodyPr>
          <a:lstStyle/>
          <a:p>
            <a:pPr algn="r"/>
            <a:r>
              <a:rPr sz="1050" b="0">
                <a:solidFill>
                  <a:srgbClr val="111111"/>
                </a:solidFill>
                <a:latin typeface="Calibri"/>
              </a:rPr>
              <a:t>Chief Executive Officer</a:t>
            </a:r>
          </a:p>
        </p:txBody>
      </p:sp>
      <p:sp>
        <p:nvSpPr>
          <p:cNvPr id="17" name="TextBox 16"/>
          <p:cNvSpPr txBox="1"/>
          <p:nvPr/>
        </p:nvSpPr>
        <p:spPr>
          <a:xfrm>
            <a:off x="9198973" y="2130552"/>
            <a:ext cx="1150160" cy="306324"/>
          </a:xfrm>
          <a:prstGeom prst="rect">
            <a:avLst/>
          </a:prstGeom>
          <a:noFill/>
        </p:spPr>
        <p:txBody>
          <a:bodyPr wrap="square" lIns="0" rIns="0" tIns="0" bIns="0" anchor="t">
            <a:spAutoFit/>
          </a:bodyPr>
          <a:lstStyle/>
          <a:p>
            <a:pPr algn="r"/>
            <a:r>
              <a:rPr sz="1050" b="0">
                <a:solidFill>
                  <a:srgbClr val="111111"/>
                </a:solidFill>
                <a:latin typeface="Calibri"/>
              </a:rPr>
              <a:t>76</a:t>
            </a:r>
          </a:p>
        </p:txBody>
      </p:sp>
      <p:sp>
        <p:nvSpPr>
          <p:cNvPr id="18" name="TextBox 17"/>
          <p:cNvSpPr txBox="1"/>
          <p:nvPr/>
        </p:nvSpPr>
        <p:spPr>
          <a:xfrm>
            <a:off x="10532013" y="2130552"/>
            <a:ext cx="1016856" cy="306324"/>
          </a:xfrm>
          <a:prstGeom prst="rect">
            <a:avLst/>
          </a:prstGeom>
          <a:noFill/>
        </p:spPr>
        <p:txBody>
          <a:bodyPr wrap="square" lIns="0" rIns="0" tIns="0" bIns="0" anchor="t">
            <a:spAutoFit/>
          </a:bodyPr>
          <a:lstStyle/>
          <a:p>
            <a:pPr algn="r"/>
            <a:r>
              <a:rPr sz="1050" b="0">
                <a:solidFill>
                  <a:srgbClr val="111111"/>
                </a:solidFill>
                <a:latin typeface="Calibri"/>
              </a:rPr>
              <a:t>82%</a:t>
            </a:r>
          </a:p>
        </p:txBody>
      </p:sp>
      <p:sp>
        <p:nvSpPr>
          <p:cNvPr id="19" name="Rectangle 18"/>
          <p:cNvSpPr/>
          <p:nvPr/>
        </p:nvSpPr>
        <p:spPr>
          <a:xfrm>
            <a:off x="566928" y="237286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67919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2436876"/>
            <a:ext cx="4349459" cy="306324"/>
          </a:xfrm>
          <a:prstGeom prst="rect">
            <a:avLst/>
          </a:prstGeom>
          <a:noFill/>
        </p:spPr>
        <p:txBody>
          <a:bodyPr wrap="square" lIns="0" rIns="0" tIns="0" bIns="0" anchor="t">
            <a:spAutoFit/>
          </a:bodyPr>
          <a:lstStyle/>
          <a:p>
            <a:pPr algn="l"/>
            <a:r>
              <a:rPr sz="1050" b="1">
                <a:solidFill>
                  <a:srgbClr val="111111"/>
                </a:solidFill>
                <a:latin typeface="Calibri"/>
              </a:rPr>
              <a:t>Jeffrey Soo Yee Lieh</a:t>
            </a:r>
          </a:p>
        </p:txBody>
      </p:sp>
      <p:sp>
        <p:nvSpPr>
          <p:cNvPr id="22" name="TextBox 21"/>
          <p:cNvSpPr txBox="1"/>
          <p:nvPr/>
        </p:nvSpPr>
        <p:spPr>
          <a:xfrm>
            <a:off x="5199851" y="2436876"/>
            <a:ext cx="3816242" cy="306324"/>
          </a:xfrm>
          <a:prstGeom prst="rect">
            <a:avLst/>
          </a:prstGeom>
          <a:noFill/>
        </p:spPr>
        <p:txBody>
          <a:bodyPr wrap="square" lIns="0" rIns="0" tIns="0" bIns="0" anchor="t">
            <a:spAutoFit/>
          </a:bodyPr>
          <a:lstStyle/>
          <a:p>
            <a:pPr algn="r"/>
            <a:r>
              <a:rPr sz="1050" b="0">
                <a:solidFill>
                  <a:srgbClr val="111111"/>
                </a:solidFill>
                <a:latin typeface="Calibri"/>
              </a:rPr>
              <a:t>Deputy Chief Executive Officer</a:t>
            </a:r>
          </a:p>
        </p:txBody>
      </p:sp>
      <p:sp>
        <p:nvSpPr>
          <p:cNvPr id="23" name="TextBox 22"/>
          <p:cNvSpPr txBox="1"/>
          <p:nvPr/>
        </p:nvSpPr>
        <p:spPr>
          <a:xfrm>
            <a:off x="9198973" y="2436876"/>
            <a:ext cx="1150160" cy="306324"/>
          </a:xfrm>
          <a:prstGeom prst="rect">
            <a:avLst/>
          </a:prstGeom>
          <a:noFill/>
        </p:spPr>
        <p:txBody>
          <a:bodyPr wrap="square" lIns="0" rIns="0" tIns="0" bIns="0" anchor="t">
            <a:spAutoFit/>
          </a:bodyPr>
          <a:lstStyle/>
          <a:p>
            <a:pPr algn="r"/>
            <a:r>
              <a:rPr sz="1050" b="0">
                <a:solidFill>
                  <a:srgbClr val="111111"/>
                </a:solidFill>
                <a:latin typeface="Calibri"/>
              </a:rPr>
              <a:t>7</a:t>
            </a:r>
          </a:p>
        </p:txBody>
      </p:sp>
      <p:sp>
        <p:nvSpPr>
          <p:cNvPr id="24" name="TextBox 23"/>
          <p:cNvSpPr txBox="1"/>
          <p:nvPr/>
        </p:nvSpPr>
        <p:spPr>
          <a:xfrm>
            <a:off x="10532013" y="2436876"/>
            <a:ext cx="1016856" cy="306324"/>
          </a:xfrm>
          <a:prstGeom prst="rect">
            <a:avLst/>
          </a:prstGeom>
          <a:noFill/>
        </p:spPr>
        <p:txBody>
          <a:bodyPr wrap="square" lIns="0" rIns="0" tIns="0" bIns="0" anchor="t">
            <a:spAutoFit/>
          </a:bodyPr>
          <a:lstStyle/>
          <a:p>
            <a:pPr algn="r"/>
            <a:r>
              <a:rPr sz="1050" b="0">
                <a:solidFill>
                  <a:srgbClr val="111111"/>
                </a:solidFill>
                <a:latin typeface="Calibri"/>
              </a:rPr>
              <a:t>8%</a:t>
            </a:r>
          </a:p>
        </p:txBody>
      </p:sp>
      <p:sp>
        <p:nvSpPr>
          <p:cNvPr id="25" name="Rectangle 24"/>
          <p:cNvSpPr/>
          <p:nvPr/>
        </p:nvSpPr>
        <p:spPr>
          <a:xfrm>
            <a:off x="566928" y="267919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298551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2743200"/>
            <a:ext cx="4349459" cy="306324"/>
          </a:xfrm>
          <a:prstGeom prst="rect">
            <a:avLst/>
          </a:prstGeom>
          <a:noFill/>
        </p:spPr>
        <p:txBody>
          <a:bodyPr wrap="square" lIns="0" rIns="0" tIns="0" bIns="0" anchor="t">
            <a:spAutoFit/>
          </a:bodyPr>
          <a:lstStyle/>
          <a:p>
            <a:pPr algn="l"/>
            <a:r>
              <a:rPr sz="1050" b="1">
                <a:solidFill>
                  <a:srgbClr val="111111"/>
                </a:solidFill>
                <a:latin typeface="Calibri"/>
              </a:rPr>
              <a:t>Dr. Brian Lim Kai Hoe</a:t>
            </a:r>
          </a:p>
        </p:txBody>
      </p:sp>
      <p:sp>
        <p:nvSpPr>
          <p:cNvPr id="28" name="TextBox 27"/>
          <p:cNvSpPr txBox="1"/>
          <p:nvPr/>
        </p:nvSpPr>
        <p:spPr>
          <a:xfrm>
            <a:off x="5199851" y="2743200"/>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a:t>
            </a:r>
          </a:p>
        </p:txBody>
      </p:sp>
      <p:sp>
        <p:nvSpPr>
          <p:cNvPr id="29" name="TextBox 28"/>
          <p:cNvSpPr txBox="1"/>
          <p:nvPr/>
        </p:nvSpPr>
        <p:spPr>
          <a:xfrm>
            <a:off x="9198973" y="2743200"/>
            <a:ext cx="1150160" cy="306324"/>
          </a:xfrm>
          <a:prstGeom prst="rect">
            <a:avLst/>
          </a:prstGeom>
          <a:noFill/>
        </p:spPr>
        <p:txBody>
          <a:bodyPr wrap="square" lIns="0" rIns="0" tIns="0" bIns="0" anchor="t">
            <a:spAutoFit/>
          </a:bodyPr>
          <a:lstStyle/>
          <a:p>
            <a:pPr algn="r"/>
            <a:r>
              <a:rPr sz="1050" b="0">
                <a:solidFill>
                  <a:srgbClr val="111111"/>
                </a:solidFill>
                <a:latin typeface="Calibri"/>
              </a:rPr>
              <a:t>3</a:t>
            </a:r>
          </a:p>
        </p:txBody>
      </p:sp>
      <p:sp>
        <p:nvSpPr>
          <p:cNvPr id="30" name="TextBox 29"/>
          <p:cNvSpPr txBox="1"/>
          <p:nvPr/>
        </p:nvSpPr>
        <p:spPr>
          <a:xfrm>
            <a:off x="10532013" y="2743200"/>
            <a:ext cx="1016856" cy="306324"/>
          </a:xfrm>
          <a:prstGeom prst="rect">
            <a:avLst/>
          </a:prstGeom>
          <a:noFill/>
        </p:spPr>
        <p:txBody>
          <a:bodyPr wrap="square" lIns="0" rIns="0" tIns="0" bIns="0" anchor="t">
            <a:spAutoFit/>
          </a:bodyPr>
          <a:lstStyle/>
          <a:p>
            <a:pPr algn="r"/>
            <a:r>
              <a:rPr sz="1050" b="0">
                <a:solidFill>
                  <a:srgbClr val="111111"/>
                </a:solidFill>
                <a:latin typeface="Calibri"/>
              </a:rPr>
              <a:t>3%</a:t>
            </a:r>
          </a:p>
        </p:txBody>
      </p:sp>
      <p:sp>
        <p:nvSpPr>
          <p:cNvPr id="31" name="Rectangle 30"/>
          <p:cNvSpPr/>
          <p:nvPr/>
        </p:nvSpPr>
        <p:spPr>
          <a:xfrm>
            <a:off x="566928" y="298551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329184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3049524"/>
            <a:ext cx="4349459" cy="306324"/>
          </a:xfrm>
          <a:prstGeom prst="rect">
            <a:avLst/>
          </a:prstGeom>
          <a:noFill/>
        </p:spPr>
        <p:txBody>
          <a:bodyPr wrap="square" lIns="0" rIns="0" tIns="0" bIns="0" anchor="t">
            <a:spAutoFit/>
          </a:bodyPr>
          <a:lstStyle/>
          <a:p>
            <a:pPr algn="l"/>
            <a:r>
              <a:rPr sz="1050" b="1">
                <a:solidFill>
                  <a:srgbClr val="111111"/>
                </a:solidFill>
                <a:latin typeface="Calibri"/>
              </a:rPr>
              <a:t>Aqilla Dalinte</a:t>
            </a:r>
          </a:p>
        </p:txBody>
      </p:sp>
      <p:sp>
        <p:nvSpPr>
          <p:cNvPr id="34" name="TextBox 33"/>
          <p:cNvSpPr txBox="1"/>
          <p:nvPr/>
        </p:nvSpPr>
        <p:spPr>
          <a:xfrm>
            <a:off x="5199851" y="3049524"/>
            <a:ext cx="3816242" cy="306324"/>
          </a:xfrm>
          <a:prstGeom prst="rect">
            <a:avLst/>
          </a:prstGeom>
          <a:noFill/>
        </p:spPr>
        <p:txBody>
          <a:bodyPr wrap="square" lIns="0" rIns="0" tIns="0" bIns="0" anchor="t">
            <a:spAutoFit/>
          </a:bodyPr>
          <a:lstStyle/>
          <a:p>
            <a:pPr algn="r"/>
            <a:r>
              <a:rPr sz="1050" b="0">
                <a:solidFill>
                  <a:srgbClr val="111111"/>
                </a:solidFill>
                <a:latin typeface="Calibri"/>
              </a:rPr>
              <a:t>Assistant HR &amp; Admin Manager</a:t>
            </a:r>
          </a:p>
        </p:txBody>
      </p:sp>
      <p:sp>
        <p:nvSpPr>
          <p:cNvPr id="35" name="TextBox 34"/>
          <p:cNvSpPr txBox="1"/>
          <p:nvPr/>
        </p:nvSpPr>
        <p:spPr>
          <a:xfrm>
            <a:off x="9198973" y="3049524"/>
            <a:ext cx="1150160"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36" name="TextBox 35"/>
          <p:cNvSpPr txBox="1"/>
          <p:nvPr/>
        </p:nvSpPr>
        <p:spPr>
          <a:xfrm>
            <a:off x="10532013" y="3049524"/>
            <a:ext cx="1016856"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37" name="Rectangle 36"/>
          <p:cNvSpPr/>
          <p:nvPr/>
        </p:nvSpPr>
        <p:spPr>
          <a:xfrm>
            <a:off x="566928" y="329184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359816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3355848"/>
            <a:ext cx="4349459" cy="306324"/>
          </a:xfrm>
          <a:prstGeom prst="rect">
            <a:avLst/>
          </a:prstGeom>
          <a:noFill/>
        </p:spPr>
        <p:txBody>
          <a:bodyPr wrap="square" lIns="0" rIns="0" tIns="0" bIns="0" anchor="t">
            <a:spAutoFit/>
          </a:bodyPr>
          <a:lstStyle/>
          <a:p>
            <a:pPr algn="l"/>
            <a:r>
              <a:rPr sz="1050" b="1">
                <a:solidFill>
                  <a:srgbClr val="111111"/>
                </a:solidFill>
                <a:latin typeface="Calibri"/>
              </a:rPr>
              <a:t>Vincent Ng Tung Hau</a:t>
            </a:r>
          </a:p>
        </p:txBody>
      </p:sp>
      <p:sp>
        <p:nvSpPr>
          <p:cNvPr id="40" name="TextBox 39"/>
          <p:cNvSpPr txBox="1"/>
          <p:nvPr/>
        </p:nvSpPr>
        <p:spPr>
          <a:xfrm>
            <a:off x="5199851" y="3355848"/>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 Admin &amp; HR</a:t>
            </a:r>
          </a:p>
        </p:txBody>
      </p:sp>
      <p:sp>
        <p:nvSpPr>
          <p:cNvPr id="41" name="TextBox 40"/>
          <p:cNvSpPr txBox="1"/>
          <p:nvPr/>
        </p:nvSpPr>
        <p:spPr>
          <a:xfrm>
            <a:off x="9198973" y="3355848"/>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2" name="TextBox 41"/>
          <p:cNvSpPr txBox="1"/>
          <p:nvPr/>
        </p:nvSpPr>
        <p:spPr>
          <a:xfrm>
            <a:off x="10532013" y="3355848"/>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3" name="Rectangle 42"/>
          <p:cNvSpPr/>
          <p:nvPr/>
        </p:nvSpPr>
        <p:spPr>
          <a:xfrm>
            <a:off x="566928" y="359816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390448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3662172"/>
            <a:ext cx="4349459" cy="306324"/>
          </a:xfrm>
          <a:prstGeom prst="rect">
            <a:avLst/>
          </a:prstGeom>
          <a:noFill/>
        </p:spPr>
        <p:txBody>
          <a:bodyPr wrap="square" lIns="0" rIns="0" tIns="0" bIns="0" anchor="t">
            <a:spAutoFit/>
          </a:bodyPr>
          <a:lstStyle/>
          <a:p>
            <a:pPr algn="l"/>
            <a:r>
              <a:rPr sz="1050" b="1">
                <a:solidFill>
                  <a:srgbClr val="111111"/>
                </a:solidFill>
                <a:latin typeface="Calibri"/>
              </a:rPr>
              <a:t>Soo Chee Kiong</a:t>
            </a:r>
          </a:p>
        </p:txBody>
      </p:sp>
      <p:sp>
        <p:nvSpPr>
          <p:cNvPr id="46" name="TextBox 45"/>
          <p:cNvSpPr txBox="1"/>
          <p:nvPr/>
        </p:nvSpPr>
        <p:spPr>
          <a:xfrm>
            <a:off x="5199851" y="3662172"/>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a:t>
            </a:r>
          </a:p>
        </p:txBody>
      </p:sp>
      <p:sp>
        <p:nvSpPr>
          <p:cNvPr id="47" name="TextBox 46"/>
          <p:cNvSpPr txBox="1"/>
          <p:nvPr/>
        </p:nvSpPr>
        <p:spPr>
          <a:xfrm>
            <a:off x="9198973" y="3662172"/>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8" name="TextBox 47"/>
          <p:cNvSpPr txBox="1"/>
          <p:nvPr/>
        </p:nvSpPr>
        <p:spPr>
          <a:xfrm>
            <a:off x="10532013" y="3662172"/>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9" name="Rectangle 48"/>
          <p:cNvSpPr/>
          <p:nvPr/>
        </p:nvSpPr>
        <p:spPr>
          <a:xfrm>
            <a:off x="566928" y="3904488"/>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66928" y="421081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 y="3968496"/>
            <a:ext cx="4349459" cy="306324"/>
          </a:xfrm>
          <a:prstGeom prst="rect">
            <a:avLst/>
          </a:prstGeom>
          <a:noFill/>
        </p:spPr>
        <p:txBody>
          <a:bodyPr wrap="square" lIns="0" rIns="0" tIns="0" bIns="0" anchor="t">
            <a:spAutoFit/>
          </a:bodyPr>
          <a:lstStyle/>
          <a:p>
            <a:pPr algn="l"/>
            <a:r>
              <a:rPr sz="1050" b="1">
                <a:solidFill>
                  <a:srgbClr val="111111"/>
                </a:solidFill>
                <a:latin typeface="Calibri"/>
              </a:rPr>
              <a:t>Dr. Pan</a:t>
            </a:r>
          </a:p>
        </p:txBody>
      </p:sp>
      <p:sp>
        <p:nvSpPr>
          <p:cNvPr id="52" name="TextBox 51"/>
          <p:cNvSpPr txBox="1"/>
          <p:nvPr/>
        </p:nvSpPr>
        <p:spPr>
          <a:xfrm>
            <a:off x="5199851" y="3968496"/>
            <a:ext cx="3816242" cy="306324"/>
          </a:xfrm>
          <a:prstGeom prst="rect">
            <a:avLst/>
          </a:prstGeom>
          <a:noFill/>
        </p:spPr>
        <p:txBody>
          <a:bodyPr wrap="square" lIns="0" rIns="0" tIns="0" bIns="0" anchor="t">
            <a:spAutoFit/>
          </a:bodyPr>
          <a:lstStyle/>
          <a:p>
            <a:pPr algn="r"/>
            <a:r>
              <a:rPr sz="1050" b="0">
                <a:solidFill>
                  <a:srgbClr val="111111"/>
                </a:solidFill>
                <a:latin typeface="Calibri"/>
              </a:rPr>
              <a:t>Not matched to a staff record</a:t>
            </a:r>
          </a:p>
        </p:txBody>
      </p:sp>
      <p:sp>
        <p:nvSpPr>
          <p:cNvPr id="53" name="TextBox 52"/>
          <p:cNvSpPr txBox="1"/>
          <p:nvPr/>
        </p:nvSpPr>
        <p:spPr>
          <a:xfrm>
            <a:off x="9198973" y="3968496"/>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4" name="TextBox 53"/>
          <p:cNvSpPr txBox="1"/>
          <p:nvPr/>
        </p:nvSpPr>
        <p:spPr>
          <a:xfrm>
            <a:off x="10532013" y="3968496"/>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5" name="Rectangle 54"/>
          <p:cNvSpPr/>
          <p:nvPr/>
        </p:nvSpPr>
        <p:spPr>
          <a:xfrm>
            <a:off x="566928" y="4210812"/>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451713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4274820"/>
            <a:ext cx="4349459" cy="306324"/>
          </a:xfrm>
          <a:prstGeom prst="rect">
            <a:avLst/>
          </a:prstGeom>
          <a:noFill/>
        </p:spPr>
        <p:txBody>
          <a:bodyPr wrap="square" lIns="0" rIns="0" tIns="0" bIns="0" anchor="t">
            <a:spAutoFit/>
          </a:bodyPr>
          <a:lstStyle/>
          <a:p>
            <a:pPr algn="l"/>
            <a:r>
              <a:rPr sz="1050" b="1">
                <a:solidFill>
                  <a:srgbClr val="111111"/>
                </a:solidFill>
                <a:latin typeface="Calibri"/>
              </a:rPr>
              <a:t>Jet Mah Mun Keat</a:t>
            </a:r>
          </a:p>
        </p:txBody>
      </p:sp>
      <p:sp>
        <p:nvSpPr>
          <p:cNvPr id="58" name="TextBox 57"/>
          <p:cNvSpPr txBox="1"/>
          <p:nvPr/>
        </p:nvSpPr>
        <p:spPr>
          <a:xfrm>
            <a:off x="5199851" y="4274820"/>
            <a:ext cx="3816242" cy="306324"/>
          </a:xfrm>
          <a:prstGeom prst="rect">
            <a:avLst/>
          </a:prstGeom>
          <a:noFill/>
        </p:spPr>
        <p:txBody>
          <a:bodyPr wrap="square" lIns="0" rIns="0" tIns="0" bIns="0" anchor="t">
            <a:spAutoFit/>
          </a:bodyPr>
          <a:lstStyle/>
          <a:p>
            <a:pPr algn="r"/>
            <a:r>
              <a:rPr sz="1050" b="0">
                <a:solidFill>
                  <a:srgbClr val="111111"/>
                </a:solidFill>
                <a:latin typeface="Calibri"/>
              </a:rPr>
              <a:t>Rooms Division Manager</a:t>
            </a:r>
          </a:p>
        </p:txBody>
      </p:sp>
      <p:sp>
        <p:nvSpPr>
          <p:cNvPr id="59" name="TextBox 58"/>
          <p:cNvSpPr txBox="1"/>
          <p:nvPr/>
        </p:nvSpPr>
        <p:spPr>
          <a:xfrm>
            <a:off x="9198973" y="4274820"/>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0" name="TextBox 59"/>
          <p:cNvSpPr txBox="1"/>
          <p:nvPr/>
        </p:nvSpPr>
        <p:spPr>
          <a:xfrm>
            <a:off x="10532013" y="4274820"/>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1" name="Rectangle 60"/>
          <p:cNvSpPr/>
          <p:nvPr/>
        </p:nvSpPr>
        <p:spPr>
          <a:xfrm>
            <a:off x="566928" y="4517136"/>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482346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7512" y="4581144"/>
            <a:ext cx="4349459" cy="306324"/>
          </a:xfrm>
          <a:prstGeom prst="rect">
            <a:avLst/>
          </a:prstGeom>
          <a:noFill/>
        </p:spPr>
        <p:txBody>
          <a:bodyPr wrap="square" lIns="0" rIns="0" tIns="0" bIns="0" anchor="t">
            <a:spAutoFit/>
          </a:bodyPr>
          <a:lstStyle/>
          <a:p>
            <a:pPr algn="l"/>
            <a:r>
              <a:rPr sz="1050" b="1">
                <a:solidFill>
                  <a:srgbClr val="111111"/>
                </a:solidFill>
                <a:latin typeface="Calibri"/>
              </a:rPr>
              <a:t>HR</a:t>
            </a:r>
          </a:p>
        </p:txBody>
      </p:sp>
      <p:sp>
        <p:nvSpPr>
          <p:cNvPr id="64" name="TextBox 63"/>
          <p:cNvSpPr txBox="1"/>
          <p:nvPr/>
        </p:nvSpPr>
        <p:spPr>
          <a:xfrm>
            <a:off x="5199851" y="4581144"/>
            <a:ext cx="3816242" cy="306324"/>
          </a:xfrm>
          <a:prstGeom prst="rect">
            <a:avLst/>
          </a:prstGeom>
          <a:noFill/>
        </p:spPr>
        <p:txBody>
          <a:bodyPr wrap="square" lIns="0" rIns="0" tIns="0" bIns="0" anchor="t">
            <a:spAutoFit/>
          </a:bodyPr>
          <a:lstStyle/>
          <a:p>
            <a:pPr algn="r"/>
            <a:r>
              <a:rPr sz="1050" b="0">
                <a:solidFill>
                  <a:srgbClr val="111111"/>
                </a:solidFill>
                <a:latin typeface="Calibri"/>
              </a:rPr>
              <a:t>Not matched to a staff record</a:t>
            </a:r>
          </a:p>
        </p:txBody>
      </p:sp>
      <p:sp>
        <p:nvSpPr>
          <p:cNvPr id="65" name="TextBox 64"/>
          <p:cNvSpPr txBox="1"/>
          <p:nvPr/>
        </p:nvSpPr>
        <p:spPr>
          <a:xfrm>
            <a:off x="9198973" y="4581144"/>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6" name="TextBox 65"/>
          <p:cNvSpPr txBox="1"/>
          <p:nvPr/>
        </p:nvSpPr>
        <p:spPr>
          <a:xfrm>
            <a:off x="10532013" y="4581144"/>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7" name="Rectangle 66"/>
          <p:cNvSpPr/>
          <p:nvPr/>
        </p:nvSpPr>
        <p:spPr>
          <a:xfrm>
            <a:off x="566928" y="482346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12978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4887468"/>
            <a:ext cx="4349459"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70" name="TextBox 69"/>
          <p:cNvSpPr txBox="1"/>
          <p:nvPr/>
        </p:nvSpPr>
        <p:spPr>
          <a:xfrm>
            <a:off x="5199851" y="4887468"/>
            <a:ext cx="3816242" cy="306324"/>
          </a:xfrm>
          <a:prstGeom prst="rect">
            <a:avLst/>
          </a:prstGeom>
          <a:noFill/>
        </p:spPr>
        <p:txBody>
          <a:bodyPr wrap="square" lIns="0" rIns="0" tIns="0" bIns="0" anchor="t">
            <a:spAutoFit/>
          </a:bodyPr>
          <a:lstStyle/>
          <a:p>
            <a:pPr algn="r"/>
            <a:r>
              <a:rPr sz="1050" b="1">
                <a:solidFill>
                  <a:srgbClr val="1E2761"/>
                </a:solidFill>
                <a:latin typeface="Calibri"/>
              </a:rPr>
              <a:t>9 distinct identities</a:t>
            </a:r>
          </a:p>
        </p:txBody>
      </p:sp>
      <p:sp>
        <p:nvSpPr>
          <p:cNvPr id="71" name="TextBox 70"/>
          <p:cNvSpPr txBox="1"/>
          <p:nvPr/>
        </p:nvSpPr>
        <p:spPr>
          <a:xfrm>
            <a:off x="9198973" y="4887468"/>
            <a:ext cx="1150160" cy="306324"/>
          </a:xfrm>
          <a:prstGeom prst="rect">
            <a:avLst/>
          </a:prstGeom>
          <a:noFill/>
        </p:spPr>
        <p:txBody>
          <a:bodyPr wrap="square" lIns="0" rIns="0" tIns="0" bIns="0" anchor="t">
            <a:spAutoFit/>
          </a:bodyPr>
          <a:lstStyle/>
          <a:p>
            <a:pPr algn="r"/>
            <a:r>
              <a:rPr sz="1050" b="1">
                <a:solidFill>
                  <a:srgbClr val="1E2761"/>
                </a:solidFill>
                <a:latin typeface="Calibri"/>
              </a:rPr>
              <a:t>93</a:t>
            </a:r>
          </a:p>
        </p:txBody>
      </p:sp>
      <p:sp>
        <p:nvSpPr>
          <p:cNvPr id="72" name="TextBox 71"/>
          <p:cNvSpPr txBox="1"/>
          <p:nvPr/>
        </p:nvSpPr>
        <p:spPr>
          <a:xfrm>
            <a:off x="10532013" y="4887468"/>
            <a:ext cx="1016856" cy="306324"/>
          </a:xfrm>
          <a:prstGeom prst="rect">
            <a:avLst/>
          </a:prstGeom>
          <a:noFill/>
        </p:spPr>
        <p:txBody>
          <a:bodyPr wrap="square" lIns="0" rIns="0" tIns="0" bIns="0" anchor="t">
            <a:spAutoFit/>
          </a:bodyPr>
          <a:lstStyle/>
          <a:p>
            <a:pPr algn="r"/>
            <a:r>
              <a:rPr sz="1050" b="1">
                <a:solidFill>
                  <a:srgbClr val="1E2761"/>
                </a:solidFill>
                <a:latin typeface="Calibri"/>
              </a:rPr>
              <a:t>100%</a:t>
            </a:r>
          </a:p>
        </p:txBody>
      </p:sp>
      <p:sp>
        <p:nvSpPr>
          <p:cNvPr id="73" name="TextBox 7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93 memos on file, deleted records excluded. Positions taken from the staff record of the matching account; two sender strings match no account. "Dr. Lawrence Chu" and "Jeffrey Soo Yee Lieh" each appear under two spellings and are combined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