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71" r:id="rId22"/>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783080"/>
            <a:ext cx="10058400" cy="320040"/>
          </a:xfrm>
          <a:prstGeom prst="rect">
            <a:avLst/>
          </a:prstGeom>
          <a:noFill/>
        </p:spPr>
        <p:txBody>
          <a:bodyPr wrap="square" lIns="0" rIns="0" tIns="0" bIns="0" anchor="t">
            <a:spAutoFit/>
          </a:bodyPr>
          <a:lstStyle/>
          <a:p>
            <a:pPr algn="l"/>
            <a:r>
              <a:rPr sz="1250" b="1">
                <a:solidFill>
                  <a:srgbClr val="F9A825"/>
                </a:solidFill>
                <a:latin typeface="Calibri"/>
              </a:rPr>
              <a:t>MANAGEMENT REVIEW</a:t>
            </a:r>
          </a:p>
        </p:txBody>
      </p:sp>
      <p:sp>
        <p:nvSpPr>
          <p:cNvPr id="5" name="TextBox 4"/>
          <p:cNvSpPr txBox="1"/>
          <p:nvPr/>
        </p:nvSpPr>
        <p:spPr>
          <a:xfrm>
            <a:off x="1051560" y="2212848"/>
            <a:ext cx="10058400" cy="914400"/>
          </a:xfrm>
          <a:prstGeom prst="rect">
            <a:avLst/>
          </a:prstGeom>
          <a:noFill/>
        </p:spPr>
        <p:txBody>
          <a:bodyPr wrap="square" lIns="0" rIns="0" tIns="0" bIns="0" anchor="t">
            <a:spAutoFit/>
          </a:bodyPr>
          <a:lstStyle/>
          <a:p>
            <a:pPr algn="l"/>
            <a:r>
              <a:rPr sz="4600" b="1">
                <a:solidFill>
                  <a:srgbClr val="FFFFFF"/>
                </a:solidFill>
                <a:latin typeface="Cambria"/>
              </a:rPr>
              <a:t>MK Command</a:t>
            </a:r>
          </a:p>
        </p:txBody>
      </p:sp>
      <p:sp>
        <p:nvSpPr>
          <p:cNvPr id="6" name="Rectangle 5"/>
          <p:cNvSpPr/>
          <p:nvPr/>
        </p:nvSpPr>
        <p:spPr>
          <a:xfrm>
            <a:off x="1051560" y="3218688"/>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3529584"/>
            <a:ext cx="10058400" cy="365760"/>
          </a:xfrm>
          <a:prstGeom prst="rect">
            <a:avLst/>
          </a:prstGeom>
          <a:noFill/>
        </p:spPr>
        <p:txBody>
          <a:bodyPr wrap="square" lIns="0" rIns="0" tIns="0" bIns="0" anchor="t">
            <a:spAutoFit/>
          </a:bodyPr>
          <a:lstStyle/>
          <a:p>
            <a:pPr algn="l"/>
            <a:r>
              <a:rPr sz="1400" b="0">
                <a:solidFill>
                  <a:srgbClr val="9AA4C0"/>
                </a:solidFill>
                <a:latin typeface="Calibri"/>
              </a:rPr>
              <a:t>Ownership  ·  Staff Headcount  ·  Job Specs  ·  Merit / Demerit  ·  Memo Activity</a:t>
            </a:r>
          </a:p>
        </p:txBody>
      </p:sp>
      <p:sp>
        <p:nvSpPr>
          <p:cNvPr id="8" name="TextBox 7"/>
          <p:cNvSpPr txBox="1"/>
          <p:nvPr/>
        </p:nvSpPr>
        <p:spPr>
          <a:xfrm>
            <a:off x="1051560" y="4206240"/>
            <a:ext cx="10241280" cy="822960"/>
          </a:xfrm>
          <a:prstGeom prst="rect">
            <a:avLst/>
          </a:prstGeom>
          <a:noFill/>
        </p:spPr>
        <p:txBody>
          <a:bodyPr wrap="square" lIns="0" rIns="0" tIns="0" bIns="0" anchor="t">
            <a:spAutoFit/>
          </a:bodyPr>
          <a:lstStyle/>
          <a:p>
            <a:pPr algn="l"/>
            <a:r>
              <a:rPr sz="1300" b="0">
                <a:solidFill>
                  <a:srgbClr val="FFFFFF"/>
                </a:solidFill>
                <a:latin typeface="Calibri"/>
              </a:rPr>
              <a:t>7 companies  ·  739 staff  ·  931 general workers  ·  1,045 job specs  ·  1,253 merit/demerit records</a:t>
            </a:r>
          </a:p>
        </p:txBody>
      </p:sp>
      <p:sp>
        <p:nvSpPr>
          <p:cNvPr id="9" name="TextBox 8"/>
          <p:cNvSpPr txBox="1"/>
          <p:nvPr/>
        </p:nvSpPr>
        <p:spPr>
          <a:xfrm>
            <a:off x="1051560" y="5760720"/>
            <a:ext cx="10058400" cy="274320"/>
          </a:xfrm>
          <a:prstGeom prst="rect">
            <a:avLst/>
          </a:prstGeom>
          <a:noFill/>
        </p:spPr>
        <p:txBody>
          <a:bodyPr wrap="square" lIns="0" rIns="0" tIns="0" bIns="0" anchor="t">
            <a:spAutoFit/>
          </a:bodyPr>
          <a:lstStyle/>
          <a:p>
            <a:pPr algn="l"/>
            <a:r>
              <a:rPr sz="1000" b="0">
                <a:solidFill>
                  <a:srgbClr val="9AA4C0"/>
                </a:solidFill>
                <a:latin typeface="Calibri"/>
              </a:rPr>
              <a:t>Snapshot 23 Oct 2026 13:46  ·  every staff figure on the staff pool basis, Trillium included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AGENDA</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How This Review Works</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Five topics. Each is shown for the group first, then across the seven companies.</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45920"/>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45920"/>
            <a:ext cx="50292" cy="8412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1883664"/>
            <a:ext cx="457200" cy="365760"/>
          </a:xfrm>
          <a:prstGeom prst="rect">
            <a:avLst/>
          </a:prstGeom>
          <a:noFill/>
        </p:spPr>
        <p:txBody>
          <a:bodyPr wrap="square" lIns="0" rIns="0" tIns="0" bIns="0" anchor="t">
            <a:spAutoFit/>
          </a:bodyPr>
          <a:lstStyle/>
          <a:p>
            <a:pPr algn="l"/>
            <a:r>
              <a:rPr sz="2000" b="1">
                <a:solidFill>
                  <a:srgbClr val="F9A825"/>
                </a:solidFill>
                <a:latin typeface="Cambria"/>
              </a:rPr>
              <a:t>1</a:t>
            </a:r>
          </a:p>
        </p:txBody>
      </p:sp>
      <p:sp>
        <p:nvSpPr>
          <p:cNvPr id="11" name="TextBox 10"/>
          <p:cNvSpPr txBox="1"/>
          <p:nvPr/>
        </p:nvSpPr>
        <p:spPr>
          <a:xfrm>
            <a:off x="1353312" y="1801368"/>
            <a:ext cx="3840480" cy="274320"/>
          </a:xfrm>
          <a:prstGeom prst="rect">
            <a:avLst/>
          </a:prstGeom>
          <a:noFill/>
        </p:spPr>
        <p:txBody>
          <a:bodyPr wrap="square" lIns="0" rIns="0" tIns="0" bIns="0" anchor="t">
            <a:spAutoFit/>
          </a:bodyPr>
          <a:lstStyle/>
          <a:p>
            <a:pPr algn="l"/>
            <a:r>
              <a:rPr sz="1400" b="1">
                <a:solidFill>
                  <a:srgbClr val="16203F"/>
                </a:solidFill>
                <a:latin typeface="Cambria"/>
              </a:rPr>
              <a:t>Ownership</a:t>
            </a:r>
          </a:p>
        </p:txBody>
      </p:sp>
      <p:sp>
        <p:nvSpPr>
          <p:cNvPr id="12" name="TextBox 11"/>
          <p:cNvSpPr txBox="1"/>
          <p:nvPr/>
        </p:nvSpPr>
        <p:spPr>
          <a:xfrm>
            <a:off x="1353312" y="2121408"/>
            <a:ext cx="5486400" cy="274320"/>
          </a:xfrm>
          <a:prstGeom prst="rect">
            <a:avLst/>
          </a:prstGeom>
          <a:noFill/>
        </p:spPr>
        <p:txBody>
          <a:bodyPr wrap="square" lIns="0" rIns="0" tIns="0" bIns="0" anchor="t">
            <a:spAutoFit/>
          </a:bodyPr>
          <a:lstStyle/>
          <a:p>
            <a:pPr algn="l"/>
            <a:r>
              <a:rPr sz="1050" b="0">
                <a:solidFill>
                  <a:srgbClr val="5A6478"/>
                </a:solidFill>
                <a:latin typeface="Calibri"/>
              </a:rPr>
              <a:t>Who can run the training system in each company</a:t>
            </a:r>
          </a:p>
        </p:txBody>
      </p:sp>
      <p:sp>
        <p:nvSpPr>
          <p:cNvPr id="13" name="TextBox 12"/>
          <p:cNvSpPr txBox="1"/>
          <p:nvPr/>
        </p:nvSpPr>
        <p:spPr>
          <a:xfrm>
            <a:off x="7882128" y="1828800"/>
            <a:ext cx="2377440" cy="384048"/>
          </a:xfrm>
          <a:prstGeom prst="rect">
            <a:avLst/>
          </a:prstGeom>
          <a:noFill/>
        </p:spPr>
        <p:txBody>
          <a:bodyPr wrap="square" lIns="0" rIns="0" tIns="0" bIns="0" anchor="t">
            <a:spAutoFit/>
          </a:bodyPr>
          <a:lstStyle/>
          <a:p>
            <a:pPr algn="r"/>
            <a:r>
              <a:rPr sz="2000" b="1">
                <a:solidFill>
                  <a:srgbClr val="1E2761"/>
                </a:solidFill>
                <a:latin typeface="Cambria"/>
              </a:rPr>
              <a:t>13</a:t>
            </a:r>
          </a:p>
        </p:txBody>
      </p:sp>
      <p:sp>
        <p:nvSpPr>
          <p:cNvPr id="14" name="TextBox 13"/>
          <p:cNvSpPr txBox="1"/>
          <p:nvPr/>
        </p:nvSpPr>
        <p:spPr>
          <a:xfrm>
            <a:off x="7882128" y="2212848"/>
            <a:ext cx="2377440" cy="219456"/>
          </a:xfrm>
          <a:prstGeom prst="rect">
            <a:avLst/>
          </a:prstGeom>
          <a:noFill/>
        </p:spPr>
        <p:txBody>
          <a:bodyPr wrap="square" lIns="0" rIns="0" tIns="0" bIns="0" anchor="t">
            <a:spAutoFit/>
          </a:bodyPr>
          <a:lstStyle/>
          <a:p>
            <a:pPr algn="r"/>
            <a:r>
              <a:rPr sz="850" b="1">
                <a:solidFill>
                  <a:srgbClr val="5A6478"/>
                </a:solidFill>
                <a:latin typeface="Calibri"/>
              </a:rPr>
              <a:t>PEOPLE WITH ACCESS</a:t>
            </a:r>
          </a:p>
        </p:txBody>
      </p:sp>
      <p:sp>
        <p:nvSpPr>
          <p:cNvPr id="15" name="Rectangle 14"/>
          <p:cNvSpPr/>
          <p:nvPr/>
        </p:nvSpPr>
        <p:spPr>
          <a:xfrm>
            <a:off x="566928" y="2560320"/>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2560320"/>
            <a:ext cx="50292" cy="8412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2798064"/>
            <a:ext cx="457200" cy="365760"/>
          </a:xfrm>
          <a:prstGeom prst="rect">
            <a:avLst/>
          </a:prstGeom>
          <a:noFill/>
        </p:spPr>
        <p:txBody>
          <a:bodyPr wrap="square" lIns="0" rIns="0" tIns="0" bIns="0" anchor="t">
            <a:spAutoFit/>
          </a:bodyPr>
          <a:lstStyle/>
          <a:p>
            <a:pPr algn="l"/>
            <a:r>
              <a:rPr sz="2000" b="1">
                <a:solidFill>
                  <a:srgbClr val="F9A825"/>
                </a:solidFill>
                <a:latin typeface="Cambria"/>
              </a:rPr>
              <a:t>2</a:t>
            </a:r>
          </a:p>
        </p:txBody>
      </p:sp>
      <p:sp>
        <p:nvSpPr>
          <p:cNvPr id="18" name="TextBox 17"/>
          <p:cNvSpPr txBox="1"/>
          <p:nvPr/>
        </p:nvSpPr>
        <p:spPr>
          <a:xfrm>
            <a:off x="1353312" y="2715768"/>
            <a:ext cx="3840480" cy="274320"/>
          </a:xfrm>
          <a:prstGeom prst="rect">
            <a:avLst/>
          </a:prstGeom>
          <a:noFill/>
        </p:spPr>
        <p:txBody>
          <a:bodyPr wrap="square" lIns="0" rIns="0" tIns="0" bIns="0" anchor="t">
            <a:spAutoFit/>
          </a:bodyPr>
          <a:lstStyle/>
          <a:p>
            <a:pPr algn="l"/>
            <a:r>
              <a:rPr sz="1400" b="1">
                <a:solidFill>
                  <a:srgbClr val="16203F"/>
                </a:solidFill>
                <a:latin typeface="Cambria"/>
              </a:rPr>
              <a:t>Staff Headcount</a:t>
            </a:r>
          </a:p>
        </p:txBody>
      </p:sp>
      <p:sp>
        <p:nvSpPr>
          <p:cNvPr id="19" name="TextBox 18"/>
          <p:cNvSpPr txBox="1"/>
          <p:nvPr/>
        </p:nvSpPr>
        <p:spPr>
          <a:xfrm>
            <a:off x="1353312" y="3035808"/>
            <a:ext cx="5486400" cy="274320"/>
          </a:xfrm>
          <a:prstGeom prst="rect">
            <a:avLst/>
          </a:prstGeom>
          <a:noFill/>
        </p:spPr>
        <p:txBody>
          <a:bodyPr wrap="square" lIns="0" rIns="0" tIns="0" bIns="0" anchor="t">
            <a:spAutoFit/>
          </a:bodyPr>
          <a:lstStyle/>
          <a:p>
            <a:pPr algn="l"/>
            <a:r>
              <a:rPr sz="1050" b="0">
                <a:solidFill>
                  <a:srgbClr val="5A6478"/>
                </a:solidFill>
                <a:latin typeface="Calibri"/>
              </a:rPr>
              <a:t>Who is on the books across seven companies</a:t>
            </a:r>
          </a:p>
        </p:txBody>
      </p:sp>
      <p:sp>
        <p:nvSpPr>
          <p:cNvPr id="20" name="TextBox 19"/>
          <p:cNvSpPr txBox="1"/>
          <p:nvPr/>
        </p:nvSpPr>
        <p:spPr>
          <a:xfrm>
            <a:off x="7882128" y="2743200"/>
            <a:ext cx="2377440" cy="384048"/>
          </a:xfrm>
          <a:prstGeom prst="rect">
            <a:avLst/>
          </a:prstGeom>
          <a:noFill/>
        </p:spPr>
        <p:txBody>
          <a:bodyPr wrap="square" lIns="0" rIns="0" tIns="0" bIns="0" anchor="t">
            <a:spAutoFit/>
          </a:bodyPr>
          <a:lstStyle/>
          <a:p>
            <a:pPr algn="r"/>
            <a:r>
              <a:rPr sz="2000" b="1">
                <a:solidFill>
                  <a:srgbClr val="1E2761"/>
                </a:solidFill>
                <a:latin typeface="Cambria"/>
              </a:rPr>
              <a:t>1,670</a:t>
            </a:r>
          </a:p>
        </p:txBody>
      </p:sp>
      <p:sp>
        <p:nvSpPr>
          <p:cNvPr id="21" name="TextBox 20"/>
          <p:cNvSpPr txBox="1"/>
          <p:nvPr/>
        </p:nvSpPr>
        <p:spPr>
          <a:xfrm>
            <a:off x="7882128" y="3127248"/>
            <a:ext cx="2377440" cy="219456"/>
          </a:xfrm>
          <a:prstGeom prst="rect">
            <a:avLst/>
          </a:prstGeom>
          <a:noFill/>
        </p:spPr>
        <p:txBody>
          <a:bodyPr wrap="square" lIns="0" rIns="0" tIns="0" bIns="0" anchor="t">
            <a:spAutoFit/>
          </a:bodyPr>
          <a:lstStyle/>
          <a:p>
            <a:pPr algn="r"/>
            <a:r>
              <a:rPr sz="850" b="1">
                <a:solidFill>
                  <a:srgbClr val="5A6478"/>
                </a:solidFill>
                <a:latin typeface="Calibri"/>
              </a:rPr>
              <a:t>TOTAL STAFF</a:t>
            </a:r>
          </a:p>
        </p:txBody>
      </p:sp>
      <p:sp>
        <p:nvSpPr>
          <p:cNvPr id="22" name="Rectangle 21"/>
          <p:cNvSpPr/>
          <p:nvPr/>
        </p:nvSpPr>
        <p:spPr>
          <a:xfrm>
            <a:off x="566928" y="3474720"/>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74720"/>
            <a:ext cx="50292" cy="8412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3712464"/>
            <a:ext cx="457200" cy="365760"/>
          </a:xfrm>
          <a:prstGeom prst="rect">
            <a:avLst/>
          </a:prstGeom>
          <a:noFill/>
        </p:spPr>
        <p:txBody>
          <a:bodyPr wrap="square" lIns="0" rIns="0" tIns="0" bIns="0" anchor="t">
            <a:spAutoFit/>
          </a:bodyPr>
          <a:lstStyle/>
          <a:p>
            <a:pPr algn="l"/>
            <a:r>
              <a:rPr sz="2000" b="1">
                <a:solidFill>
                  <a:srgbClr val="F9A825"/>
                </a:solidFill>
                <a:latin typeface="Cambria"/>
              </a:rPr>
              <a:t>3</a:t>
            </a:r>
          </a:p>
        </p:txBody>
      </p:sp>
      <p:sp>
        <p:nvSpPr>
          <p:cNvPr id="25" name="TextBox 24"/>
          <p:cNvSpPr txBox="1"/>
          <p:nvPr/>
        </p:nvSpPr>
        <p:spPr>
          <a:xfrm>
            <a:off x="1353312" y="3630168"/>
            <a:ext cx="3840480" cy="274320"/>
          </a:xfrm>
          <a:prstGeom prst="rect">
            <a:avLst/>
          </a:prstGeom>
          <a:noFill/>
        </p:spPr>
        <p:txBody>
          <a:bodyPr wrap="square" lIns="0" rIns="0" tIns="0" bIns="0" anchor="t">
            <a:spAutoFit/>
          </a:bodyPr>
          <a:lstStyle/>
          <a:p>
            <a:pPr algn="l"/>
            <a:r>
              <a:rPr sz="1400" b="1">
                <a:solidFill>
                  <a:srgbClr val="16203F"/>
                </a:solidFill>
                <a:latin typeface="Cambria"/>
              </a:rPr>
              <a:t>Job Specs</a:t>
            </a:r>
          </a:p>
        </p:txBody>
      </p:sp>
      <p:sp>
        <p:nvSpPr>
          <p:cNvPr id="26" name="TextBox 25"/>
          <p:cNvSpPr txBox="1"/>
          <p:nvPr/>
        </p:nvSpPr>
        <p:spPr>
          <a:xfrm>
            <a:off x="1353312" y="3950208"/>
            <a:ext cx="5486400" cy="274320"/>
          </a:xfrm>
          <a:prstGeom prst="rect">
            <a:avLst/>
          </a:prstGeom>
          <a:noFill/>
        </p:spPr>
        <p:txBody>
          <a:bodyPr wrap="square" lIns="0" rIns="0" tIns="0" bIns="0" anchor="t">
            <a:spAutoFit/>
          </a:bodyPr>
          <a:lstStyle/>
          <a:p>
            <a:pPr algn="l"/>
            <a:r>
              <a:rPr sz="1050" b="0">
                <a:solidFill>
                  <a:srgbClr val="5A6478"/>
                </a:solidFill>
                <a:latin typeface="Calibri"/>
              </a:rPr>
              <a:t>How many people hold an approved job spec</a:t>
            </a:r>
          </a:p>
        </p:txBody>
      </p:sp>
      <p:sp>
        <p:nvSpPr>
          <p:cNvPr id="27" name="TextBox 26"/>
          <p:cNvSpPr txBox="1"/>
          <p:nvPr/>
        </p:nvSpPr>
        <p:spPr>
          <a:xfrm>
            <a:off x="7882128" y="3657600"/>
            <a:ext cx="2377440" cy="384048"/>
          </a:xfrm>
          <a:prstGeom prst="rect">
            <a:avLst/>
          </a:prstGeom>
          <a:noFill/>
        </p:spPr>
        <p:txBody>
          <a:bodyPr wrap="square" lIns="0" rIns="0" tIns="0" bIns="0" anchor="t">
            <a:spAutoFit/>
          </a:bodyPr>
          <a:lstStyle/>
          <a:p>
            <a:pPr algn="r"/>
            <a:r>
              <a:rPr sz="2000" b="1">
                <a:solidFill>
                  <a:srgbClr val="1E2761"/>
                </a:solidFill>
                <a:latin typeface="Cambria"/>
              </a:rPr>
              <a:t>81%</a:t>
            </a:r>
          </a:p>
        </p:txBody>
      </p:sp>
      <p:sp>
        <p:nvSpPr>
          <p:cNvPr id="28" name="TextBox 27"/>
          <p:cNvSpPr txBox="1"/>
          <p:nvPr/>
        </p:nvSpPr>
        <p:spPr>
          <a:xfrm>
            <a:off x="7882128" y="4041648"/>
            <a:ext cx="2377440" cy="219456"/>
          </a:xfrm>
          <a:prstGeom prst="rect">
            <a:avLst/>
          </a:prstGeom>
          <a:noFill/>
        </p:spPr>
        <p:txBody>
          <a:bodyPr wrap="square" lIns="0" rIns="0" tIns="0" bIns="0" anchor="t">
            <a:spAutoFit/>
          </a:bodyPr>
          <a:lstStyle/>
          <a:p>
            <a:pPr algn="r"/>
            <a:r>
              <a:rPr sz="850" b="1">
                <a:solidFill>
                  <a:srgbClr val="5A6478"/>
                </a:solidFill>
                <a:latin typeface="Calibri"/>
              </a:rPr>
              <a:t>OF STAFF APPROVED</a:t>
            </a:r>
          </a:p>
        </p:txBody>
      </p:sp>
      <p:sp>
        <p:nvSpPr>
          <p:cNvPr id="29" name="Rectangle 28"/>
          <p:cNvSpPr/>
          <p:nvPr/>
        </p:nvSpPr>
        <p:spPr>
          <a:xfrm>
            <a:off x="566928" y="4389120"/>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9120"/>
            <a:ext cx="50292" cy="8412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 y="4626864"/>
            <a:ext cx="457200" cy="365760"/>
          </a:xfrm>
          <a:prstGeom prst="rect">
            <a:avLst/>
          </a:prstGeom>
          <a:noFill/>
        </p:spPr>
        <p:txBody>
          <a:bodyPr wrap="square" lIns="0" rIns="0" tIns="0" bIns="0" anchor="t">
            <a:spAutoFit/>
          </a:bodyPr>
          <a:lstStyle/>
          <a:p>
            <a:pPr algn="l"/>
            <a:r>
              <a:rPr sz="2000" b="1">
                <a:solidFill>
                  <a:srgbClr val="F9A825"/>
                </a:solidFill>
                <a:latin typeface="Cambria"/>
              </a:rPr>
              <a:t>4</a:t>
            </a:r>
          </a:p>
        </p:txBody>
      </p:sp>
      <p:sp>
        <p:nvSpPr>
          <p:cNvPr id="32" name="TextBox 31"/>
          <p:cNvSpPr txBox="1"/>
          <p:nvPr/>
        </p:nvSpPr>
        <p:spPr>
          <a:xfrm>
            <a:off x="1353312" y="4544568"/>
            <a:ext cx="3840480" cy="274320"/>
          </a:xfrm>
          <a:prstGeom prst="rect">
            <a:avLst/>
          </a:prstGeom>
          <a:noFill/>
        </p:spPr>
        <p:txBody>
          <a:bodyPr wrap="square" lIns="0" rIns="0" tIns="0" bIns="0" anchor="t">
            <a:spAutoFit/>
          </a:bodyPr>
          <a:lstStyle/>
          <a:p>
            <a:pPr algn="l"/>
            <a:r>
              <a:rPr sz="1400" b="1">
                <a:solidFill>
                  <a:srgbClr val="16203F"/>
                </a:solidFill>
                <a:latin typeface="Cambria"/>
              </a:rPr>
              <a:t>Merit / Demerit</a:t>
            </a:r>
          </a:p>
        </p:txBody>
      </p:sp>
      <p:sp>
        <p:nvSpPr>
          <p:cNvPr id="33" name="TextBox 32"/>
          <p:cNvSpPr txBox="1"/>
          <p:nvPr/>
        </p:nvSpPr>
        <p:spPr>
          <a:xfrm>
            <a:off x="1353312" y="4864608"/>
            <a:ext cx="5486400" cy="274320"/>
          </a:xfrm>
          <a:prstGeom prst="rect">
            <a:avLst/>
          </a:prstGeom>
          <a:noFill/>
        </p:spPr>
        <p:txBody>
          <a:bodyPr wrap="square" lIns="0" rIns="0" tIns="0" bIns="0" anchor="t">
            <a:spAutoFit/>
          </a:bodyPr>
          <a:lstStyle/>
          <a:p>
            <a:pPr algn="l"/>
            <a:r>
              <a:rPr sz="1050" b="0">
                <a:solidFill>
                  <a:srgbClr val="5A6478"/>
                </a:solidFill>
                <a:latin typeface="Calibri"/>
              </a:rPr>
              <a:t>Who is using the recognition tool</a:t>
            </a:r>
          </a:p>
        </p:txBody>
      </p:sp>
      <p:sp>
        <p:nvSpPr>
          <p:cNvPr id="34" name="TextBox 33"/>
          <p:cNvSpPr txBox="1"/>
          <p:nvPr/>
        </p:nvSpPr>
        <p:spPr>
          <a:xfrm>
            <a:off x="7882128" y="4572000"/>
            <a:ext cx="2377440" cy="384048"/>
          </a:xfrm>
          <a:prstGeom prst="rect">
            <a:avLst/>
          </a:prstGeom>
          <a:noFill/>
        </p:spPr>
        <p:txBody>
          <a:bodyPr wrap="square" lIns="0" rIns="0" tIns="0" bIns="0" anchor="t">
            <a:spAutoFit/>
          </a:bodyPr>
          <a:lstStyle/>
          <a:p>
            <a:pPr algn="r"/>
            <a:r>
              <a:rPr sz="2000" b="1">
                <a:solidFill>
                  <a:srgbClr val="1E2761"/>
                </a:solidFill>
                <a:latin typeface="Cambria"/>
              </a:rPr>
              <a:t>1,253</a:t>
            </a:r>
          </a:p>
        </p:txBody>
      </p:sp>
      <p:sp>
        <p:nvSpPr>
          <p:cNvPr id="35" name="TextBox 34"/>
          <p:cNvSpPr txBox="1"/>
          <p:nvPr/>
        </p:nvSpPr>
        <p:spPr>
          <a:xfrm>
            <a:off x="7882128" y="4956048"/>
            <a:ext cx="2377440" cy="219456"/>
          </a:xfrm>
          <a:prstGeom prst="rect">
            <a:avLst/>
          </a:prstGeom>
          <a:noFill/>
        </p:spPr>
        <p:txBody>
          <a:bodyPr wrap="square" lIns="0" rIns="0" tIns="0" bIns="0" anchor="t">
            <a:spAutoFit/>
          </a:bodyPr>
          <a:lstStyle/>
          <a:p>
            <a:pPr algn="r"/>
            <a:r>
              <a:rPr sz="850" b="1">
                <a:solidFill>
                  <a:srgbClr val="5A6478"/>
                </a:solidFill>
                <a:latin typeface="Calibri"/>
              </a:rPr>
              <a:t>RECORDS ISSUED</a:t>
            </a:r>
          </a:p>
        </p:txBody>
      </p:sp>
      <p:sp>
        <p:nvSpPr>
          <p:cNvPr id="36" name="Rectangle 35"/>
          <p:cNvSpPr/>
          <p:nvPr/>
        </p:nvSpPr>
        <p:spPr>
          <a:xfrm>
            <a:off x="566928" y="5303520"/>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5303520"/>
            <a:ext cx="50292" cy="8412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248" y="5541264"/>
            <a:ext cx="457200" cy="365760"/>
          </a:xfrm>
          <a:prstGeom prst="rect">
            <a:avLst/>
          </a:prstGeom>
          <a:noFill/>
        </p:spPr>
        <p:txBody>
          <a:bodyPr wrap="square" lIns="0" rIns="0" tIns="0" bIns="0" anchor="t">
            <a:spAutoFit/>
          </a:bodyPr>
          <a:lstStyle/>
          <a:p>
            <a:pPr algn="l"/>
            <a:r>
              <a:rPr sz="2000" b="1">
                <a:solidFill>
                  <a:srgbClr val="F9A825"/>
                </a:solidFill>
                <a:latin typeface="Cambria"/>
              </a:rPr>
              <a:t>5</a:t>
            </a:r>
          </a:p>
        </p:txBody>
      </p:sp>
      <p:sp>
        <p:nvSpPr>
          <p:cNvPr id="39" name="TextBox 38"/>
          <p:cNvSpPr txBox="1"/>
          <p:nvPr/>
        </p:nvSpPr>
        <p:spPr>
          <a:xfrm>
            <a:off x="1353312" y="5458968"/>
            <a:ext cx="3840480" cy="274320"/>
          </a:xfrm>
          <a:prstGeom prst="rect">
            <a:avLst/>
          </a:prstGeom>
          <a:noFill/>
        </p:spPr>
        <p:txBody>
          <a:bodyPr wrap="square" lIns="0" rIns="0" tIns="0" bIns="0" anchor="t">
            <a:spAutoFit/>
          </a:bodyPr>
          <a:lstStyle/>
          <a:p>
            <a:pPr algn="l"/>
            <a:r>
              <a:rPr sz="1400" b="1">
                <a:solidFill>
                  <a:srgbClr val="16203F"/>
                </a:solidFill>
                <a:latin typeface="Cambria"/>
              </a:rPr>
              <a:t>Memo Activity</a:t>
            </a:r>
          </a:p>
        </p:txBody>
      </p:sp>
      <p:sp>
        <p:nvSpPr>
          <p:cNvPr id="40" name="TextBox 39"/>
          <p:cNvSpPr txBox="1"/>
          <p:nvPr/>
        </p:nvSpPr>
        <p:spPr>
          <a:xfrm>
            <a:off x="1353312" y="5779008"/>
            <a:ext cx="5486400" cy="274320"/>
          </a:xfrm>
          <a:prstGeom prst="rect">
            <a:avLst/>
          </a:prstGeom>
          <a:noFill/>
        </p:spPr>
        <p:txBody>
          <a:bodyPr wrap="square" lIns="0" rIns="0" tIns="0" bIns="0" anchor="t">
            <a:spAutoFit/>
          </a:bodyPr>
          <a:lstStyle/>
          <a:p>
            <a:pPr algn="l"/>
            <a:r>
              <a:rPr sz="1050" b="0">
                <a:solidFill>
                  <a:srgbClr val="5A6478"/>
                </a:solidFill>
                <a:latin typeface="Calibri"/>
              </a:rPr>
              <a:t>Which companies are broadcasting, and who sends</a:t>
            </a:r>
          </a:p>
        </p:txBody>
      </p:sp>
      <p:sp>
        <p:nvSpPr>
          <p:cNvPr id="41" name="TextBox 40"/>
          <p:cNvSpPr txBox="1"/>
          <p:nvPr/>
        </p:nvSpPr>
        <p:spPr>
          <a:xfrm>
            <a:off x="7882128" y="5486400"/>
            <a:ext cx="2377440" cy="384048"/>
          </a:xfrm>
          <a:prstGeom prst="rect">
            <a:avLst/>
          </a:prstGeom>
          <a:noFill/>
        </p:spPr>
        <p:txBody>
          <a:bodyPr wrap="square" lIns="0" rIns="0" tIns="0" bIns="0" anchor="t">
            <a:spAutoFit/>
          </a:bodyPr>
          <a:lstStyle/>
          <a:p>
            <a:pPr algn="r"/>
            <a:r>
              <a:rPr sz="2000" b="1">
                <a:solidFill>
                  <a:srgbClr val="1E2761"/>
                </a:solidFill>
                <a:latin typeface="Cambria"/>
              </a:rPr>
              <a:t>19</a:t>
            </a:r>
          </a:p>
        </p:txBody>
      </p:sp>
      <p:sp>
        <p:nvSpPr>
          <p:cNvPr id="42" name="TextBox 41"/>
          <p:cNvSpPr txBox="1"/>
          <p:nvPr/>
        </p:nvSpPr>
        <p:spPr>
          <a:xfrm>
            <a:off x="7882128" y="5870448"/>
            <a:ext cx="2377440" cy="219456"/>
          </a:xfrm>
          <a:prstGeom prst="rect">
            <a:avLst/>
          </a:prstGeom>
          <a:noFill/>
        </p:spPr>
        <p:txBody>
          <a:bodyPr wrap="square" lIns="0" rIns="0" tIns="0" bIns="0" anchor="t">
            <a:spAutoFit/>
          </a:bodyPr>
          <a:lstStyle/>
          <a:p>
            <a:pPr algn="r"/>
            <a:r>
              <a:rPr sz="850" b="1">
                <a:solidFill>
                  <a:srgbClr val="5A6478"/>
                </a:solidFill>
                <a:latin typeface="Calibri"/>
              </a:rPr>
              <a:t>SENT IN 2026</a:t>
            </a:r>
          </a:p>
        </p:txBody>
      </p:sp>
      <p:sp>
        <p:nvSpPr>
          <p:cNvPr id="43" name="TextBox 42"/>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All figures re-queried 23 oct 2026 13:46. Staff figures are the staff pool (staffPoolAPI.php), which already leaves out the 21 people an override has removed.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ONE</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Ownership</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Who can run this in each company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TWO</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Staff Headcount</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Who is on the books across seven companies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2 · GROUP SUMMARY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Staff Headcount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1,670 people on the books: 739 staff and 931 general workers.</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739</a:t>
            </a:r>
          </a:p>
        </p:txBody>
      </p:sp>
      <p:sp>
        <p:nvSpPr>
          <p:cNvPr id="11" name="TextBox 10"/>
          <p:cNvSpPr txBox="1"/>
          <p:nvPr/>
        </p:nvSpPr>
        <p:spPr>
          <a:xfrm>
            <a:off x="804672"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Staff</a:t>
            </a:r>
          </a:p>
        </p:txBody>
      </p:sp>
      <p:sp>
        <p:nvSpPr>
          <p:cNvPr id="12" name="TextBox 11"/>
          <p:cNvSpPr txBox="1"/>
          <p:nvPr/>
        </p:nvSpPr>
        <p:spPr>
          <a:xfrm>
            <a:off x="804672"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Across all seven companies, Trillium included.</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6996"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4740" y="1810512"/>
            <a:ext cx="2203704" cy="548640"/>
          </a:xfrm>
          <a:prstGeom prst="rect">
            <a:avLst/>
          </a:prstGeom>
          <a:noFill/>
        </p:spPr>
        <p:txBody>
          <a:bodyPr wrap="square" lIns="0" rIns="0" tIns="0" bIns="0" anchor="t">
            <a:spAutoFit/>
          </a:bodyPr>
          <a:lstStyle/>
          <a:p>
            <a:pPr algn="l"/>
            <a:r>
              <a:rPr sz="3400" b="1">
                <a:solidFill>
                  <a:srgbClr val="F9A825"/>
                </a:solidFill>
                <a:latin typeface="Cambria"/>
              </a:rPr>
              <a:t>931</a:t>
            </a:r>
          </a:p>
        </p:txBody>
      </p:sp>
      <p:sp>
        <p:nvSpPr>
          <p:cNvPr id="16" name="TextBox 15"/>
          <p:cNvSpPr txBox="1"/>
          <p:nvPr/>
        </p:nvSpPr>
        <p:spPr>
          <a:xfrm>
            <a:off x="3634740"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General workers</a:t>
            </a:r>
          </a:p>
        </p:txBody>
      </p:sp>
      <p:sp>
        <p:nvSpPr>
          <p:cNvPr id="17" name="TextBox 16"/>
          <p:cNvSpPr txBox="1"/>
          <p:nvPr/>
        </p:nvSpPr>
        <p:spPr>
          <a:xfrm>
            <a:off x="3634740"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346 at Globinaco and 585 at Arus Sawit.</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1,670</a:t>
            </a:r>
          </a:p>
        </p:txBody>
      </p:sp>
      <p:sp>
        <p:nvSpPr>
          <p:cNvPr id="21" name="TextBox 20"/>
          <p:cNvSpPr txBox="1"/>
          <p:nvPr/>
        </p:nvSpPr>
        <p:spPr>
          <a:xfrm>
            <a:off x="6464808"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Total Staff</a:t>
            </a:r>
          </a:p>
        </p:txBody>
      </p:sp>
      <p:sp>
        <p:nvSpPr>
          <p:cNvPr id="22" name="TextBox 21"/>
          <p:cNvSpPr txBox="1"/>
          <p:nvPr/>
        </p:nvSpPr>
        <p:spPr>
          <a:xfrm>
            <a:off x="6464808"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Staff and general workers together.</a:t>
            </a:r>
          </a:p>
        </p:txBody>
      </p:sp>
      <p:sp>
        <p:nvSpPr>
          <p:cNvPr id="23" name="Rectangle 22"/>
          <p:cNvSpPr/>
          <p:nvPr/>
        </p:nvSpPr>
        <p:spPr>
          <a:xfrm>
            <a:off x="9057132"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7132" y="1627632"/>
            <a:ext cx="50292" cy="1783080"/>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4876" y="1810512"/>
            <a:ext cx="2203704" cy="548640"/>
          </a:xfrm>
          <a:prstGeom prst="rect">
            <a:avLst/>
          </a:prstGeom>
          <a:noFill/>
        </p:spPr>
        <p:txBody>
          <a:bodyPr wrap="square" lIns="0" rIns="0" tIns="0" bIns="0" anchor="t">
            <a:spAutoFit/>
          </a:bodyPr>
          <a:lstStyle/>
          <a:p>
            <a:pPr algn="l"/>
            <a:r>
              <a:rPr sz="3400" b="1">
                <a:solidFill>
                  <a:srgbClr val="5A6478"/>
                </a:solidFill>
                <a:latin typeface="Cambria"/>
              </a:rPr>
              <a:t>9</a:t>
            </a:r>
          </a:p>
        </p:txBody>
      </p:sp>
      <p:sp>
        <p:nvSpPr>
          <p:cNvPr id="26" name="TextBox 25"/>
          <p:cNvSpPr txBox="1"/>
          <p:nvPr/>
        </p:nvSpPr>
        <p:spPr>
          <a:xfrm>
            <a:off x="9294876"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Exempt from KPI</a:t>
            </a:r>
          </a:p>
        </p:txBody>
      </p:sp>
      <p:sp>
        <p:nvSpPr>
          <p:cNvPr id="27" name="TextBox 26"/>
          <p:cNvSpPr txBox="1"/>
          <p:nvPr/>
        </p:nvSpPr>
        <p:spPr>
          <a:xfrm>
            <a:off x="9294876"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Counted in the headcount, excused from scoring.</a:t>
            </a:r>
          </a:p>
        </p:txBody>
      </p:sp>
      <p:sp>
        <p:nvSpPr>
          <p:cNvPr id="28" name="Rectangle 27"/>
          <p:cNvSpPr/>
          <p:nvPr/>
        </p:nvSpPr>
        <p:spPr>
          <a:xfrm>
            <a:off x="566928" y="3639312"/>
            <a:ext cx="690372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712464"/>
            <a:ext cx="1777435" cy="329184"/>
          </a:xfrm>
          <a:prstGeom prst="rect">
            <a:avLst/>
          </a:prstGeom>
          <a:noFill/>
        </p:spPr>
        <p:txBody>
          <a:bodyPr wrap="square" lIns="0" rIns="0" tIns="0" bIns="0" anchor="t">
            <a:spAutoFit/>
          </a:bodyPr>
          <a:lstStyle/>
          <a:p>
            <a:pPr algn="l"/>
            <a:r>
              <a:rPr sz="950" b="1">
                <a:solidFill>
                  <a:srgbClr val="FFFFFF"/>
                </a:solidFill>
                <a:latin typeface="Calibri"/>
              </a:rPr>
              <a:t>Company</a:t>
            </a:r>
          </a:p>
        </p:txBody>
      </p:sp>
      <p:sp>
        <p:nvSpPr>
          <p:cNvPr id="30" name="TextBox 29"/>
          <p:cNvSpPr txBox="1"/>
          <p:nvPr/>
        </p:nvSpPr>
        <p:spPr>
          <a:xfrm>
            <a:off x="2627827" y="3712464"/>
            <a:ext cx="839893" cy="329184"/>
          </a:xfrm>
          <a:prstGeom prst="rect">
            <a:avLst/>
          </a:prstGeom>
          <a:noFill/>
        </p:spPr>
        <p:txBody>
          <a:bodyPr wrap="square" lIns="0" rIns="0" tIns="0" bIns="0" anchor="t">
            <a:spAutoFit/>
          </a:bodyPr>
          <a:lstStyle/>
          <a:p>
            <a:pPr algn="r"/>
            <a:r>
              <a:rPr sz="950" b="1">
                <a:solidFill>
                  <a:srgbClr val="FFFFFF"/>
                </a:solidFill>
                <a:latin typeface="Calibri"/>
              </a:rPr>
              <a:t>Staff</a:t>
            </a:r>
          </a:p>
        </p:txBody>
      </p:sp>
      <p:sp>
        <p:nvSpPr>
          <p:cNvPr id="31" name="TextBox 30"/>
          <p:cNvSpPr txBox="1"/>
          <p:nvPr/>
        </p:nvSpPr>
        <p:spPr>
          <a:xfrm>
            <a:off x="3650600" y="3712464"/>
            <a:ext cx="1095586" cy="329184"/>
          </a:xfrm>
          <a:prstGeom prst="rect">
            <a:avLst/>
          </a:prstGeom>
          <a:noFill/>
        </p:spPr>
        <p:txBody>
          <a:bodyPr wrap="square" lIns="0" rIns="0" tIns="0" bIns="0" anchor="t">
            <a:spAutoFit/>
          </a:bodyPr>
          <a:lstStyle/>
          <a:p>
            <a:pPr algn="r"/>
            <a:r>
              <a:rPr sz="950" b="1">
                <a:solidFill>
                  <a:srgbClr val="FFFFFF"/>
                </a:solidFill>
                <a:latin typeface="Calibri"/>
              </a:rPr>
              <a:t>Exempt from KPI</a:t>
            </a:r>
          </a:p>
        </p:txBody>
      </p:sp>
      <p:sp>
        <p:nvSpPr>
          <p:cNvPr id="32" name="TextBox 31"/>
          <p:cNvSpPr txBox="1"/>
          <p:nvPr/>
        </p:nvSpPr>
        <p:spPr>
          <a:xfrm>
            <a:off x="4929066" y="3712464"/>
            <a:ext cx="1180817" cy="329184"/>
          </a:xfrm>
          <a:prstGeom prst="rect">
            <a:avLst/>
          </a:prstGeom>
          <a:noFill/>
        </p:spPr>
        <p:txBody>
          <a:bodyPr wrap="square" lIns="0" rIns="0" tIns="0" bIns="0" anchor="t">
            <a:spAutoFit/>
          </a:bodyPr>
          <a:lstStyle/>
          <a:p>
            <a:pPr algn="r"/>
            <a:r>
              <a:rPr sz="950" b="1">
                <a:solidFill>
                  <a:srgbClr val="FFFFFF"/>
                </a:solidFill>
                <a:latin typeface="Calibri"/>
              </a:rPr>
              <a:t>General workers</a:t>
            </a:r>
          </a:p>
        </p:txBody>
      </p:sp>
      <p:sp>
        <p:nvSpPr>
          <p:cNvPr id="33" name="TextBox 32"/>
          <p:cNvSpPr txBox="1"/>
          <p:nvPr/>
        </p:nvSpPr>
        <p:spPr>
          <a:xfrm>
            <a:off x="6292763" y="3712464"/>
            <a:ext cx="1095586" cy="329184"/>
          </a:xfrm>
          <a:prstGeom prst="rect">
            <a:avLst/>
          </a:prstGeom>
          <a:noFill/>
        </p:spPr>
        <p:txBody>
          <a:bodyPr wrap="square" lIns="0" rIns="0" tIns="0" bIns="0" anchor="t">
            <a:spAutoFit/>
          </a:bodyPr>
          <a:lstStyle/>
          <a:p>
            <a:pPr algn="r"/>
            <a:r>
              <a:rPr sz="950" b="1">
                <a:solidFill>
                  <a:srgbClr val="FFFFFF"/>
                </a:solidFill>
                <a:latin typeface="Calibri"/>
              </a:rPr>
              <a:t>Total Staff</a:t>
            </a:r>
          </a:p>
        </p:txBody>
      </p:sp>
      <p:sp>
        <p:nvSpPr>
          <p:cNvPr id="34" name="Rectangle 33"/>
          <p:cNvSpPr/>
          <p:nvPr/>
        </p:nvSpPr>
        <p:spPr>
          <a:xfrm>
            <a:off x="566928" y="3968496"/>
            <a:ext cx="6903720" cy="2743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424281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7512" y="4032504"/>
            <a:ext cx="1777435" cy="274320"/>
          </a:xfrm>
          <a:prstGeom prst="rect">
            <a:avLst/>
          </a:prstGeom>
          <a:noFill/>
        </p:spPr>
        <p:txBody>
          <a:bodyPr wrap="square" lIns="0" rIns="0" tIns="0" bIns="0" anchor="t">
            <a:spAutoFit/>
          </a:bodyPr>
          <a:lstStyle/>
          <a:p>
            <a:pPr algn="l"/>
            <a:r>
              <a:rPr sz="1000" b="1">
                <a:solidFill>
                  <a:srgbClr val="111111"/>
                </a:solidFill>
                <a:latin typeface="Calibri"/>
              </a:rPr>
              <a:t>Globinaco</a:t>
            </a:r>
          </a:p>
        </p:txBody>
      </p:sp>
      <p:sp>
        <p:nvSpPr>
          <p:cNvPr id="37" name="TextBox 36"/>
          <p:cNvSpPr txBox="1"/>
          <p:nvPr/>
        </p:nvSpPr>
        <p:spPr>
          <a:xfrm>
            <a:off x="2627827" y="4032504"/>
            <a:ext cx="839893" cy="274320"/>
          </a:xfrm>
          <a:prstGeom prst="rect">
            <a:avLst/>
          </a:prstGeom>
          <a:noFill/>
        </p:spPr>
        <p:txBody>
          <a:bodyPr wrap="square" lIns="0" rIns="0" tIns="0" bIns="0" anchor="t">
            <a:spAutoFit/>
          </a:bodyPr>
          <a:lstStyle/>
          <a:p>
            <a:pPr algn="r"/>
            <a:r>
              <a:rPr sz="1000" b="0">
                <a:solidFill>
                  <a:srgbClr val="111111"/>
                </a:solidFill>
                <a:latin typeface="Calibri"/>
              </a:rPr>
              <a:t>319</a:t>
            </a:r>
          </a:p>
        </p:txBody>
      </p:sp>
      <p:sp>
        <p:nvSpPr>
          <p:cNvPr id="38" name="TextBox 37"/>
          <p:cNvSpPr txBox="1"/>
          <p:nvPr/>
        </p:nvSpPr>
        <p:spPr>
          <a:xfrm>
            <a:off x="3650600" y="4032504"/>
            <a:ext cx="1095586" cy="274320"/>
          </a:xfrm>
          <a:prstGeom prst="rect">
            <a:avLst/>
          </a:prstGeom>
          <a:noFill/>
        </p:spPr>
        <p:txBody>
          <a:bodyPr wrap="square" lIns="0" rIns="0" tIns="0" bIns="0" anchor="t">
            <a:spAutoFit/>
          </a:bodyPr>
          <a:lstStyle/>
          <a:p>
            <a:pPr algn="r"/>
            <a:r>
              <a:rPr sz="1000" b="0">
                <a:solidFill>
                  <a:srgbClr val="111111"/>
                </a:solidFill>
                <a:latin typeface="Calibri"/>
              </a:rPr>
              <a:t>2</a:t>
            </a:r>
          </a:p>
        </p:txBody>
      </p:sp>
      <p:sp>
        <p:nvSpPr>
          <p:cNvPr id="39" name="TextBox 38"/>
          <p:cNvSpPr txBox="1"/>
          <p:nvPr/>
        </p:nvSpPr>
        <p:spPr>
          <a:xfrm>
            <a:off x="4929066" y="4032504"/>
            <a:ext cx="1180817" cy="274320"/>
          </a:xfrm>
          <a:prstGeom prst="rect">
            <a:avLst/>
          </a:prstGeom>
          <a:noFill/>
        </p:spPr>
        <p:txBody>
          <a:bodyPr wrap="square" lIns="0" rIns="0" tIns="0" bIns="0" anchor="t">
            <a:spAutoFit/>
          </a:bodyPr>
          <a:lstStyle/>
          <a:p>
            <a:pPr algn="r"/>
            <a:r>
              <a:rPr sz="1000" b="0">
                <a:solidFill>
                  <a:srgbClr val="111111"/>
                </a:solidFill>
                <a:latin typeface="Calibri"/>
              </a:rPr>
              <a:t>346</a:t>
            </a:r>
          </a:p>
        </p:txBody>
      </p:sp>
      <p:sp>
        <p:nvSpPr>
          <p:cNvPr id="40" name="TextBox 39"/>
          <p:cNvSpPr txBox="1"/>
          <p:nvPr/>
        </p:nvSpPr>
        <p:spPr>
          <a:xfrm>
            <a:off x="6292763" y="4032504"/>
            <a:ext cx="1095586" cy="274320"/>
          </a:xfrm>
          <a:prstGeom prst="rect">
            <a:avLst/>
          </a:prstGeom>
          <a:noFill/>
        </p:spPr>
        <p:txBody>
          <a:bodyPr wrap="square" lIns="0" rIns="0" tIns="0" bIns="0" anchor="t">
            <a:spAutoFit/>
          </a:bodyPr>
          <a:lstStyle/>
          <a:p>
            <a:pPr algn="r"/>
            <a:r>
              <a:rPr sz="1000" b="0">
                <a:solidFill>
                  <a:srgbClr val="111111"/>
                </a:solidFill>
                <a:latin typeface="Calibri"/>
              </a:rPr>
              <a:t>665</a:t>
            </a:r>
          </a:p>
        </p:txBody>
      </p:sp>
      <p:sp>
        <p:nvSpPr>
          <p:cNvPr id="41" name="Rectangle 40"/>
          <p:cNvSpPr/>
          <p:nvPr/>
        </p:nvSpPr>
        <p:spPr>
          <a:xfrm>
            <a:off x="566928" y="4242816"/>
            <a:ext cx="690372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51713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7512" y="4306824"/>
            <a:ext cx="1777435" cy="274320"/>
          </a:xfrm>
          <a:prstGeom prst="rect">
            <a:avLst/>
          </a:prstGeom>
          <a:noFill/>
        </p:spPr>
        <p:txBody>
          <a:bodyPr wrap="square" lIns="0" rIns="0" tIns="0" bIns="0" anchor="t">
            <a:spAutoFit/>
          </a:bodyPr>
          <a:lstStyle/>
          <a:p>
            <a:pPr algn="l"/>
            <a:r>
              <a:rPr sz="1000" b="1">
                <a:solidFill>
                  <a:srgbClr val="111111"/>
                </a:solidFill>
                <a:latin typeface="Calibri"/>
              </a:rPr>
              <a:t>Hotel Grandis</a:t>
            </a:r>
          </a:p>
        </p:txBody>
      </p:sp>
      <p:sp>
        <p:nvSpPr>
          <p:cNvPr id="44" name="TextBox 43"/>
          <p:cNvSpPr txBox="1"/>
          <p:nvPr/>
        </p:nvSpPr>
        <p:spPr>
          <a:xfrm>
            <a:off x="2627827" y="4306824"/>
            <a:ext cx="839893" cy="274320"/>
          </a:xfrm>
          <a:prstGeom prst="rect">
            <a:avLst/>
          </a:prstGeom>
          <a:noFill/>
        </p:spPr>
        <p:txBody>
          <a:bodyPr wrap="square" lIns="0" rIns="0" tIns="0" bIns="0" anchor="t">
            <a:spAutoFit/>
          </a:bodyPr>
          <a:lstStyle/>
          <a:p>
            <a:pPr algn="r"/>
            <a:r>
              <a:rPr sz="1000" b="0">
                <a:solidFill>
                  <a:srgbClr val="111111"/>
                </a:solidFill>
                <a:latin typeface="Calibri"/>
              </a:rPr>
              <a:t>150</a:t>
            </a:r>
          </a:p>
        </p:txBody>
      </p:sp>
      <p:sp>
        <p:nvSpPr>
          <p:cNvPr id="45" name="TextBox 44"/>
          <p:cNvSpPr txBox="1"/>
          <p:nvPr/>
        </p:nvSpPr>
        <p:spPr>
          <a:xfrm>
            <a:off x="3650600" y="4306824"/>
            <a:ext cx="1095586" cy="274320"/>
          </a:xfrm>
          <a:prstGeom prst="rect">
            <a:avLst/>
          </a:prstGeom>
          <a:noFill/>
        </p:spPr>
        <p:txBody>
          <a:bodyPr wrap="square" lIns="0" rIns="0" tIns="0" bIns="0" anchor="t">
            <a:spAutoFit/>
          </a:bodyPr>
          <a:lstStyle/>
          <a:p>
            <a:pPr algn="r"/>
            <a:r>
              <a:rPr sz="1000" b="0">
                <a:solidFill>
                  <a:srgbClr val="111111"/>
                </a:solidFill>
                <a:latin typeface="Calibri"/>
              </a:rPr>
              <a:t>1</a:t>
            </a:r>
          </a:p>
        </p:txBody>
      </p:sp>
      <p:sp>
        <p:nvSpPr>
          <p:cNvPr id="46" name="TextBox 45"/>
          <p:cNvSpPr txBox="1"/>
          <p:nvPr/>
        </p:nvSpPr>
        <p:spPr>
          <a:xfrm>
            <a:off x="4929066" y="4306824"/>
            <a:ext cx="1180817" cy="274320"/>
          </a:xfrm>
          <a:prstGeom prst="rect">
            <a:avLst/>
          </a:prstGeom>
          <a:noFill/>
        </p:spPr>
        <p:txBody>
          <a:bodyPr wrap="square" lIns="0" rIns="0" tIns="0" bIns="0" anchor="t">
            <a:spAutoFit/>
          </a:bodyPr>
          <a:lstStyle/>
          <a:p>
            <a:pPr algn="r"/>
            <a:r>
              <a:rPr sz="1000" b="0">
                <a:solidFill>
                  <a:srgbClr val="111111"/>
                </a:solidFill>
                <a:latin typeface="Calibri"/>
              </a:rPr>
              <a:t>—</a:t>
            </a:r>
          </a:p>
        </p:txBody>
      </p:sp>
      <p:sp>
        <p:nvSpPr>
          <p:cNvPr id="47" name="TextBox 46"/>
          <p:cNvSpPr txBox="1"/>
          <p:nvPr/>
        </p:nvSpPr>
        <p:spPr>
          <a:xfrm>
            <a:off x="6292763" y="4306824"/>
            <a:ext cx="1095586" cy="274320"/>
          </a:xfrm>
          <a:prstGeom prst="rect">
            <a:avLst/>
          </a:prstGeom>
          <a:noFill/>
        </p:spPr>
        <p:txBody>
          <a:bodyPr wrap="square" lIns="0" rIns="0" tIns="0" bIns="0" anchor="t">
            <a:spAutoFit/>
          </a:bodyPr>
          <a:lstStyle/>
          <a:p>
            <a:pPr algn="r"/>
            <a:r>
              <a:rPr sz="1000" b="0">
                <a:solidFill>
                  <a:srgbClr val="111111"/>
                </a:solidFill>
                <a:latin typeface="Calibri"/>
              </a:rPr>
              <a:t>150</a:t>
            </a:r>
          </a:p>
        </p:txBody>
      </p:sp>
      <p:sp>
        <p:nvSpPr>
          <p:cNvPr id="48" name="Rectangle 47"/>
          <p:cNvSpPr/>
          <p:nvPr/>
        </p:nvSpPr>
        <p:spPr>
          <a:xfrm>
            <a:off x="566928" y="4517136"/>
            <a:ext cx="6903720" cy="2743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66928" y="479145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67512" y="4581144"/>
            <a:ext cx="1777435" cy="274320"/>
          </a:xfrm>
          <a:prstGeom prst="rect">
            <a:avLst/>
          </a:prstGeom>
          <a:noFill/>
        </p:spPr>
        <p:txBody>
          <a:bodyPr wrap="square" lIns="0" rIns="0" tIns="0" bIns="0" anchor="t">
            <a:spAutoFit/>
          </a:bodyPr>
          <a:lstStyle/>
          <a:p>
            <a:pPr algn="l"/>
            <a:r>
              <a:rPr sz="1000" b="1">
                <a:solidFill>
                  <a:srgbClr val="111111"/>
                </a:solidFill>
                <a:latin typeface="Calibri"/>
              </a:rPr>
              <a:t>Arus Sawit</a:t>
            </a:r>
          </a:p>
        </p:txBody>
      </p:sp>
      <p:sp>
        <p:nvSpPr>
          <p:cNvPr id="51" name="TextBox 50"/>
          <p:cNvSpPr txBox="1"/>
          <p:nvPr/>
        </p:nvSpPr>
        <p:spPr>
          <a:xfrm>
            <a:off x="2627827" y="4581144"/>
            <a:ext cx="839893" cy="274320"/>
          </a:xfrm>
          <a:prstGeom prst="rect">
            <a:avLst/>
          </a:prstGeom>
          <a:noFill/>
        </p:spPr>
        <p:txBody>
          <a:bodyPr wrap="square" lIns="0" rIns="0" tIns="0" bIns="0" anchor="t">
            <a:spAutoFit/>
          </a:bodyPr>
          <a:lstStyle/>
          <a:p>
            <a:pPr algn="r"/>
            <a:r>
              <a:rPr sz="1000" b="0">
                <a:solidFill>
                  <a:srgbClr val="111111"/>
                </a:solidFill>
                <a:latin typeface="Calibri"/>
              </a:rPr>
              <a:t>73</a:t>
            </a:r>
          </a:p>
        </p:txBody>
      </p:sp>
      <p:sp>
        <p:nvSpPr>
          <p:cNvPr id="52" name="TextBox 51"/>
          <p:cNvSpPr txBox="1"/>
          <p:nvPr/>
        </p:nvSpPr>
        <p:spPr>
          <a:xfrm>
            <a:off x="3650600" y="4581144"/>
            <a:ext cx="1095586" cy="274320"/>
          </a:xfrm>
          <a:prstGeom prst="rect">
            <a:avLst/>
          </a:prstGeom>
          <a:noFill/>
        </p:spPr>
        <p:txBody>
          <a:bodyPr wrap="square" lIns="0" rIns="0" tIns="0" bIns="0" anchor="t">
            <a:spAutoFit/>
          </a:bodyPr>
          <a:lstStyle/>
          <a:p>
            <a:pPr algn="r"/>
            <a:r>
              <a:rPr sz="1000" b="0">
                <a:solidFill>
                  <a:srgbClr val="111111"/>
                </a:solidFill>
                <a:latin typeface="Calibri"/>
              </a:rPr>
              <a:t>1</a:t>
            </a:r>
          </a:p>
        </p:txBody>
      </p:sp>
      <p:sp>
        <p:nvSpPr>
          <p:cNvPr id="53" name="TextBox 52"/>
          <p:cNvSpPr txBox="1"/>
          <p:nvPr/>
        </p:nvSpPr>
        <p:spPr>
          <a:xfrm>
            <a:off x="4929066" y="4581144"/>
            <a:ext cx="1180817" cy="274320"/>
          </a:xfrm>
          <a:prstGeom prst="rect">
            <a:avLst/>
          </a:prstGeom>
          <a:noFill/>
        </p:spPr>
        <p:txBody>
          <a:bodyPr wrap="square" lIns="0" rIns="0" tIns="0" bIns="0" anchor="t">
            <a:spAutoFit/>
          </a:bodyPr>
          <a:lstStyle/>
          <a:p>
            <a:pPr algn="r"/>
            <a:r>
              <a:rPr sz="1000" b="0">
                <a:solidFill>
                  <a:srgbClr val="111111"/>
                </a:solidFill>
                <a:latin typeface="Calibri"/>
              </a:rPr>
              <a:t>585</a:t>
            </a:r>
          </a:p>
        </p:txBody>
      </p:sp>
      <p:sp>
        <p:nvSpPr>
          <p:cNvPr id="54" name="TextBox 53"/>
          <p:cNvSpPr txBox="1"/>
          <p:nvPr/>
        </p:nvSpPr>
        <p:spPr>
          <a:xfrm>
            <a:off x="6292763" y="4581144"/>
            <a:ext cx="1095586" cy="274320"/>
          </a:xfrm>
          <a:prstGeom prst="rect">
            <a:avLst/>
          </a:prstGeom>
          <a:noFill/>
        </p:spPr>
        <p:txBody>
          <a:bodyPr wrap="square" lIns="0" rIns="0" tIns="0" bIns="0" anchor="t">
            <a:spAutoFit/>
          </a:bodyPr>
          <a:lstStyle/>
          <a:p>
            <a:pPr algn="r"/>
            <a:r>
              <a:rPr sz="1000" b="0">
                <a:solidFill>
                  <a:srgbClr val="111111"/>
                </a:solidFill>
                <a:latin typeface="Calibri"/>
              </a:rPr>
              <a:t>658</a:t>
            </a:r>
          </a:p>
        </p:txBody>
      </p:sp>
      <p:sp>
        <p:nvSpPr>
          <p:cNvPr id="55" name="Rectangle 54"/>
          <p:cNvSpPr/>
          <p:nvPr/>
        </p:nvSpPr>
        <p:spPr>
          <a:xfrm>
            <a:off x="566928" y="4791456"/>
            <a:ext cx="690372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66928" y="506577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7512" y="4855464"/>
            <a:ext cx="1777435" cy="274320"/>
          </a:xfrm>
          <a:prstGeom prst="rect">
            <a:avLst/>
          </a:prstGeom>
          <a:noFill/>
        </p:spPr>
        <p:txBody>
          <a:bodyPr wrap="square" lIns="0" rIns="0" tIns="0" bIns="0" anchor="t">
            <a:spAutoFit/>
          </a:bodyPr>
          <a:lstStyle/>
          <a:p>
            <a:pPr algn="l"/>
            <a:r>
              <a:rPr sz="1000" b="1">
                <a:solidFill>
                  <a:srgbClr val="111111"/>
                </a:solidFill>
                <a:latin typeface="Calibri"/>
              </a:rPr>
              <a:t>TP Group</a:t>
            </a:r>
          </a:p>
        </p:txBody>
      </p:sp>
      <p:sp>
        <p:nvSpPr>
          <p:cNvPr id="58" name="TextBox 57"/>
          <p:cNvSpPr txBox="1"/>
          <p:nvPr/>
        </p:nvSpPr>
        <p:spPr>
          <a:xfrm>
            <a:off x="2627827" y="4855464"/>
            <a:ext cx="839893" cy="274320"/>
          </a:xfrm>
          <a:prstGeom prst="rect">
            <a:avLst/>
          </a:prstGeom>
          <a:noFill/>
        </p:spPr>
        <p:txBody>
          <a:bodyPr wrap="square" lIns="0" rIns="0" tIns="0" bIns="0" anchor="t">
            <a:spAutoFit/>
          </a:bodyPr>
          <a:lstStyle/>
          <a:p>
            <a:pPr algn="r"/>
            <a:r>
              <a:rPr sz="1000" b="0">
                <a:solidFill>
                  <a:srgbClr val="111111"/>
                </a:solidFill>
                <a:latin typeface="Calibri"/>
              </a:rPr>
              <a:t>65</a:t>
            </a:r>
          </a:p>
        </p:txBody>
      </p:sp>
      <p:sp>
        <p:nvSpPr>
          <p:cNvPr id="59" name="TextBox 58"/>
          <p:cNvSpPr txBox="1"/>
          <p:nvPr/>
        </p:nvSpPr>
        <p:spPr>
          <a:xfrm>
            <a:off x="3650600" y="4855464"/>
            <a:ext cx="1095586" cy="274320"/>
          </a:xfrm>
          <a:prstGeom prst="rect">
            <a:avLst/>
          </a:prstGeom>
          <a:noFill/>
        </p:spPr>
        <p:txBody>
          <a:bodyPr wrap="square" lIns="0" rIns="0" tIns="0" bIns="0" anchor="t">
            <a:spAutoFit/>
          </a:bodyPr>
          <a:lstStyle/>
          <a:p>
            <a:pPr algn="r"/>
            <a:r>
              <a:rPr sz="1000" b="0">
                <a:solidFill>
                  <a:srgbClr val="111111"/>
                </a:solidFill>
                <a:latin typeface="Calibri"/>
              </a:rPr>
              <a:t>2</a:t>
            </a:r>
          </a:p>
        </p:txBody>
      </p:sp>
      <p:sp>
        <p:nvSpPr>
          <p:cNvPr id="60" name="TextBox 59"/>
          <p:cNvSpPr txBox="1"/>
          <p:nvPr/>
        </p:nvSpPr>
        <p:spPr>
          <a:xfrm>
            <a:off x="4929066" y="4855464"/>
            <a:ext cx="1180817" cy="274320"/>
          </a:xfrm>
          <a:prstGeom prst="rect">
            <a:avLst/>
          </a:prstGeom>
          <a:noFill/>
        </p:spPr>
        <p:txBody>
          <a:bodyPr wrap="square" lIns="0" rIns="0" tIns="0" bIns="0" anchor="t">
            <a:spAutoFit/>
          </a:bodyPr>
          <a:lstStyle/>
          <a:p>
            <a:pPr algn="r"/>
            <a:r>
              <a:rPr sz="1000" b="0">
                <a:solidFill>
                  <a:srgbClr val="111111"/>
                </a:solidFill>
                <a:latin typeface="Calibri"/>
              </a:rPr>
              <a:t>—</a:t>
            </a:r>
          </a:p>
        </p:txBody>
      </p:sp>
      <p:sp>
        <p:nvSpPr>
          <p:cNvPr id="61" name="TextBox 60"/>
          <p:cNvSpPr txBox="1"/>
          <p:nvPr/>
        </p:nvSpPr>
        <p:spPr>
          <a:xfrm>
            <a:off x="6292763" y="4855464"/>
            <a:ext cx="1095586" cy="274320"/>
          </a:xfrm>
          <a:prstGeom prst="rect">
            <a:avLst/>
          </a:prstGeom>
          <a:noFill/>
        </p:spPr>
        <p:txBody>
          <a:bodyPr wrap="square" lIns="0" rIns="0" tIns="0" bIns="0" anchor="t">
            <a:spAutoFit/>
          </a:bodyPr>
          <a:lstStyle/>
          <a:p>
            <a:pPr algn="r"/>
            <a:r>
              <a:rPr sz="1000" b="0">
                <a:solidFill>
                  <a:srgbClr val="111111"/>
                </a:solidFill>
                <a:latin typeface="Calibri"/>
              </a:rPr>
              <a:t>65</a:t>
            </a:r>
          </a:p>
        </p:txBody>
      </p:sp>
      <p:sp>
        <p:nvSpPr>
          <p:cNvPr id="62" name="Rectangle 61"/>
          <p:cNvSpPr/>
          <p:nvPr/>
        </p:nvSpPr>
        <p:spPr>
          <a:xfrm>
            <a:off x="566928" y="5065776"/>
            <a:ext cx="6903720" cy="2743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566928" y="534009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67512" y="5129784"/>
            <a:ext cx="1777435" cy="274320"/>
          </a:xfrm>
          <a:prstGeom prst="rect">
            <a:avLst/>
          </a:prstGeom>
          <a:noFill/>
        </p:spPr>
        <p:txBody>
          <a:bodyPr wrap="square" lIns="0" rIns="0" tIns="0" bIns="0" anchor="t">
            <a:spAutoFit/>
          </a:bodyPr>
          <a:lstStyle/>
          <a:p>
            <a:pPr algn="l"/>
            <a:r>
              <a:rPr sz="1000" b="1">
                <a:solidFill>
                  <a:srgbClr val="111111"/>
                </a:solidFill>
                <a:latin typeface="Calibri"/>
              </a:rPr>
              <a:t>AMC</a:t>
            </a:r>
          </a:p>
        </p:txBody>
      </p:sp>
      <p:sp>
        <p:nvSpPr>
          <p:cNvPr id="65" name="TextBox 64"/>
          <p:cNvSpPr txBox="1"/>
          <p:nvPr/>
        </p:nvSpPr>
        <p:spPr>
          <a:xfrm>
            <a:off x="2627827" y="5129784"/>
            <a:ext cx="839893" cy="274320"/>
          </a:xfrm>
          <a:prstGeom prst="rect">
            <a:avLst/>
          </a:prstGeom>
          <a:noFill/>
        </p:spPr>
        <p:txBody>
          <a:bodyPr wrap="square" lIns="0" rIns="0" tIns="0" bIns="0" anchor="t">
            <a:spAutoFit/>
          </a:bodyPr>
          <a:lstStyle/>
          <a:p>
            <a:pPr algn="r"/>
            <a:r>
              <a:rPr sz="1000" b="0">
                <a:solidFill>
                  <a:srgbClr val="111111"/>
                </a:solidFill>
                <a:latin typeface="Calibri"/>
              </a:rPr>
              <a:t>61</a:t>
            </a:r>
          </a:p>
        </p:txBody>
      </p:sp>
      <p:sp>
        <p:nvSpPr>
          <p:cNvPr id="66" name="TextBox 65"/>
          <p:cNvSpPr txBox="1"/>
          <p:nvPr/>
        </p:nvSpPr>
        <p:spPr>
          <a:xfrm>
            <a:off x="3650600" y="5129784"/>
            <a:ext cx="1095586" cy="274320"/>
          </a:xfrm>
          <a:prstGeom prst="rect">
            <a:avLst/>
          </a:prstGeom>
          <a:noFill/>
        </p:spPr>
        <p:txBody>
          <a:bodyPr wrap="square" lIns="0" rIns="0" tIns="0" bIns="0" anchor="t">
            <a:spAutoFit/>
          </a:bodyPr>
          <a:lstStyle/>
          <a:p>
            <a:pPr algn="r"/>
            <a:r>
              <a:rPr sz="1000" b="0">
                <a:solidFill>
                  <a:srgbClr val="111111"/>
                </a:solidFill>
                <a:latin typeface="Calibri"/>
              </a:rPr>
              <a:t>1</a:t>
            </a:r>
          </a:p>
        </p:txBody>
      </p:sp>
      <p:sp>
        <p:nvSpPr>
          <p:cNvPr id="67" name="TextBox 66"/>
          <p:cNvSpPr txBox="1"/>
          <p:nvPr/>
        </p:nvSpPr>
        <p:spPr>
          <a:xfrm>
            <a:off x="4929066" y="5129784"/>
            <a:ext cx="1180817" cy="274320"/>
          </a:xfrm>
          <a:prstGeom prst="rect">
            <a:avLst/>
          </a:prstGeom>
          <a:noFill/>
        </p:spPr>
        <p:txBody>
          <a:bodyPr wrap="square" lIns="0" rIns="0" tIns="0" bIns="0" anchor="t">
            <a:spAutoFit/>
          </a:bodyPr>
          <a:lstStyle/>
          <a:p>
            <a:pPr algn="r"/>
            <a:r>
              <a:rPr sz="1000" b="0">
                <a:solidFill>
                  <a:srgbClr val="111111"/>
                </a:solidFill>
                <a:latin typeface="Calibri"/>
              </a:rPr>
              <a:t>—</a:t>
            </a:r>
          </a:p>
        </p:txBody>
      </p:sp>
      <p:sp>
        <p:nvSpPr>
          <p:cNvPr id="68" name="TextBox 67"/>
          <p:cNvSpPr txBox="1"/>
          <p:nvPr/>
        </p:nvSpPr>
        <p:spPr>
          <a:xfrm>
            <a:off x="6292763" y="5129784"/>
            <a:ext cx="1095586" cy="274320"/>
          </a:xfrm>
          <a:prstGeom prst="rect">
            <a:avLst/>
          </a:prstGeom>
          <a:noFill/>
        </p:spPr>
        <p:txBody>
          <a:bodyPr wrap="square" lIns="0" rIns="0" tIns="0" bIns="0" anchor="t">
            <a:spAutoFit/>
          </a:bodyPr>
          <a:lstStyle/>
          <a:p>
            <a:pPr algn="r"/>
            <a:r>
              <a:rPr sz="1000" b="0">
                <a:solidFill>
                  <a:srgbClr val="111111"/>
                </a:solidFill>
                <a:latin typeface="Calibri"/>
              </a:rPr>
              <a:t>61</a:t>
            </a:r>
          </a:p>
        </p:txBody>
      </p:sp>
      <p:sp>
        <p:nvSpPr>
          <p:cNvPr id="69" name="Rectangle 68"/>
          <p:cNvSpPr/>
          <p:nvPr/>
        </p:nvSpPr>
        <p:spPr>
          <a:xfrm>
            <a:off x="566928" y="5340096"/>
            <a:ext cx="690372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66928" y="561441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67512" y="5404104"/>
            <a:ext cx="1777435" cy="274320"/>
          </a:xfrm>
          <a:prstGeom prst="rect">
            <a:avLst/>
          </a:prstGeom>
          <a:noFill/>
        </p:spPr>
        <p:txBody>
          <a:bodyPr wrap="square" lIns="0" rIns="0" tIns="0" bIns="0" anchor="t">
            <a:spAutoFit/>
          </a:bodyPr>
          <a:lstStyle/>
          <a:p>
            <a:pPr algn="l"/>
            <a:r>
              <a:rPr sz="1000" b="1">
                <a:solidFill>
                  <a:srgbClr val="111111"/>
                </a:solidFill>
                <a:latin typeface="Calibri"/>
              </a:rPr>
              <a:t>Likas Square</a:t>
            </a:r>
          </a:p>
        </p:txBody>
      </p:sp>
      <p:sp>
        <p:nvSpPr>
          <p:cNvPr id="72" name="TextBox 71"/>
          <p:cNvSpPr txBox="1"/>
          <p:nvPr/>
        </p:nvSpPr>
        <p:spPr>
          <a:xfrm>
            <a:off x="2627827" y="5404104"/>
            <a:ext cx="839893" cy="274320"/>
          </a:xfrm>
          <a:prstGeom prst="rect">
            <a:avLst/>
          </a:prstGeom>
          <a:noFill/>
        </p:spPr>
        <p:txBody>
          <a:bodyPr wrap="square" lIns="0" rIns="0" tIns="0" bIns="0" anchor="t">
            <a:spAutoFit/>
          </a:bodyPr>
          <a:lstStyle/>
          <a:p>
            <a:pPr algn="r"/>
            <a:r>
              <a:rPr sz="1000" b="0">
                <a:solidFill>
                  <a:srgbClr val="111111"/>
                </a:solidFill>
                <a:latin typeface="Calibri"/>
              </a:rPr>
              <a:t>51</a:t>
            </a:r>
          </a:p>
        </p:txBody>
      </p:sp>
      <p:sp>
        <p:nvSpPr>
          <p:cNvPr id="73" name="TextBox 72"/>
          <p:cNvSpPr txBox="1"/>
          <p:nvPr/>
        </p:nvSpPr>
        <p:spPr>
          <a:xfrm>
            <a:off x="3650600" y="5404104"/>
            <a:ext cx="1095586" cy="274320"/>
          </a:xfrm>
          <a:prstGeom prst="rect">
            <a:avLst/>
          </a:prstGeom>
          <a:noFill/>
        </p:spPr>
        <p:txBody>
          <a:bodyPr wrap="square" lIns="0" rIns="0" tIns="0" bIns="0" anchor="t">
            <a:spAutoFit/>
          </a:bodyPr>
          <a:lstStyle/>
          <a:p>
            <a:pPr algn="r"/>
            <a:r>
              <a:rPr sz="1000" b="0">
                <a:solidFill>
                  <a:srgbClr val="111111"/>
                </a:solidFill>
                <a:latin typeface="Calibri"/>
              </a:rPr>
              <a:t>—</a:t>
            </a:r>
          </a:p>
        </p:txBody>
      </p:sp>
      <p:sp>
        <p:nvSpPr>
          <p:cNvPr id="74" name="TextBox 73"/>
          <p:cNvSpPr txBox="1"/>
          <p:nvPr/>
        </p:nvSpPr>
        <p:spPr>
          <a:xfrm>
            <a:off x="4929066" y="5404104"/>
            <a:ext cx="1180817" cy="274320"/>
          </a:xfrm>
          <a:prstGeom prst="rect">
            <a:avLst/>
          </a:prstGeom>
          <a:noFill/>
        </p:spPr>
        <p:txBody>
          <a:bodyPr wrap="square" lIns="0" rIns="0" tIns="0" bIns="0" anchor="t">
            <a:spAutoFit/>
          </a:bodyPr>
          <a:lstStyle/>
          <a:p>
            <a:pPr algn="r"/>
            <a:r>
              <a:rPr sz="1000" b="0">
                <a:solidFill>
                  <a:srgbClr val="111111"/>
                </a:solidFill>
                <a:latin typeface="Calibri"/>
              </a:rPr>
              <a:t>—</a:t>
            </a:r>
          </a:p>
        </p:txBody>
      </p:sp>
      <p:sp>
        <p:nvSpPr>
          <p:cNvPr id="75" name="TextBox 74"/>
          <p:cNvSpPr txBox="1"/>
          <p:nvPr/>
        </p:nvSpPr>
        <p:spPr>
          <a:xfrm>
            <a:off x="6292763" y="5404104"/>
            <a:ext cx="1095586" cy="274320"/>
          </a:xfrm>
          <a:prstGeom prst="rect">
            <a:avLst/>
          </a:prstGeom>
          <a:noFill/>
        </p:spPr>
        <p:txBody>
          <a:bodyPr wrap="square" lIns="0" rIns="0" tIns="0" bIns="0" anchor="t">
            <a:spAutoFit/>
          </a:bodyPr>
          <a:lstStyle/>
          <a:p>
            <a:pPr algn="r"/>
            <a:r>
              <a:rPr sz="1000" b="0">
                <a:solidFill>
                  <a:srgbClr val="111111"/>
                </a:solidFill>
                <a:latin typeface="Calibri"/>
              </a:rPr>
              <a:t>51</a:t>
            </a:r>
          </a:p>
        </p:txBody>
      </p:sp>
      <p:sp>
        <p:nvSpPr>
          <p:cNvPr id="76" name="Rectangle 75"/>
          <p:cNvSpPr/>
          <p:nvPr/>
        </p:nvSpPr>
        <p:spPr>
          <a:xfrm>
            <a:off x="566928" y="5614416"/>
            <a:ext cx="6903720" cy="2743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66928" y="588873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67512" y="5678424"/>
            <a:ext cx="1777435" cy="274320"/>
          </a:xfrm>
          <a:prstGeom prst="rect">
            <a:avLst/>
          </a:prstGeom>
          <a:noFill/>
        </p:spPr>
        <p:txBody>
          <a:bodyPr wrap="square" lIns="0" rIns="0" tIns="0" bIns="0" anchor="t">
            <a:spAutoFit/>
          </a:bodyPr>
          <a:lstStyle/>
          <a:p>
            <a:pPr algn="l"/>
            <a:r>
              <a:rPr sz="1000" b="1">
                <a:solidFill>
                  <a:srgbClr val="111111"/>
                </a:solidFill>
                <a:latin typeface="Calibri"/>
              </a:rPr>
              <a:t>Trillium</a:t>
            </a:r>
          </a:p>
        </p:txBody>
      </p:sp>
      <p:sp>
        <p:nvSpPr>
          <p:cNvPr id="79" name="TextBox 78"/>
          <p:cNvSpPr txBox="1"/>
          <p:nvPr/>
        </p:nvSpPr>
        <p:spPr>
          <a:xfrm>
            <a:off x="2627827" y="5678424"/>
            <a:ext cx="839893" cy="274320"/>
          </a:xfrm>
          <a:prstGeom prst="rect">
            <a:avLst/>
          </a:prstGeom>
          <a:noFill/>
        </p:spPr>
        <p:txBody>
          <a:bodyPr wrap="square" lIns="0" rIns="0" tIns="0" bIns="0" anchor="t">
            <a:spAutoFit/>
          </a:bodyPr>
          <a:lstStyle/>
          <a:p>
            <a:pPr algn="r"/>
            <a:r>
              <a:rPr sz="1000" b="0">
                <a:solidFill>
                  <a:srgbClr val="111111"/>
                </a:solidFill>
                <a:latin typeface="Calibri"/>
              </a:rPr>
              <a:t>20</a:t>
            </a:r>
          </a:p>
        </p:txBody>
      </p:sp>
      <p:sp>
        <p:nvSpPr>
          <p:cNvPr id="80" name="TextBox 79"/>
          <p:cNvSpPr txBox="1"/>
          <p:nvPr/>
        </p:nvSpPr>
        <p:spPr>
          <a:xfrm>
            <a:off x="3650600" y="5678424"/>
            <a:ext cx="1095586" cy="274320"/>
          </a:xfrm>
          <a:prstGeom prst="rect">
            <a:avLst/>
          </a:prstGeom>
          <a:noFill/>
        </p:spPr>
        <p:txBody>
          <a:bodyPr wrap="square" lIns="0" rIns="0" tIns="0" bIns="0" anchor="t">
            <a:spAutoFit/>
          </a:bodyPr>
          <a:lstStyle/>
          <a:p>
            <a:pPr algn="r"/>
            <a:r>
              <a:rPr sz="1000" b="0">
                <a:solidFill>
                  <a:srgbClr val="111111"/>
                </a:solidFill>
                <a:latin typeface="Calibri"/>
              </a:rPr>
              <a:t>2</a:t>
            </a:r>
          </a:p>
        </p:txBody>
      </p:sp>
      <p:sp>
        <p:nvSpPr>
          <p:cNvPr id="81" name="TextBox 80"/>
          <p:cNvSpPr txBox="1"/>
          <p:nvPr/>
        </p:nvSpPr>
        <p:spPr>
          <a:xfrm>
            <a:off x="4929066" y="5678424"/>
            <a:ext cx="1180817" cy="274320"/>
          </a:xfrm>
          <a:prstGeom prst="rect">
            <a:avLst/>
          </a:prstGeom>
          <a:noFill/>
        </p:spPr>
        <p:txBody>
          <a:bodyPr wrap="square" lIns="0" rIns="0" tIns="0" bIns="0" anchor="t">
            <a:spAutoFit/>
          </a:bodyPr>
          <a:lstStyle/>
          <a:p>
            <a:pPr algn="r"/>
            <a:r>
              <a:rPr sz="1000" b="0">
                <a:solidFill>
                  <a:srgbClr val="111111"/>
                </a:solidFill>
                <a:latin typeface="Calibri"/>
              </a:rPr>
              <a:t>—</a:t>
            </a:r>
          </a:p>
        </p:txBody>
      </p:sp>
      <p:sp>
        <p:nvSpPr>
          <p:cNvPr id="82" name="TextBox 81"/>
          <p:cNvSpPr txBox="1"/>
          <p:nvPr/>
        </p:nvSpPr>
        <p:spPr>
          <a:xfrm>
            <a:off x="6292763" y="5678424"/>
            <a:ext cx="1095586" cy="274320"/>
          </a:xfrm>
          <a:prstGeom prst="rect">
            <a:avLst/>
          </a:prstGeom>
          <a:noFill/>
        </p:spPr>
        <p:txBody>
          <a:bodyPr wrap="square" lIns="0" rIns="0" tIns="0" bIns="0" anchor="t">
            <a:spAutoFit/>
          </a:bodyPr>
          <a:lstStyle/>
          <a:p>
            <a:pPr algn="r"/>
            <a:r>
              <a:rPr sz="1000" b="0">
                <a:solidFill>
                  <a:srgbClr val="111111"/>
                </a:solidFill>
                <a:latin typeface="Calibri"/>
              </a:rPr>
              <a:t>20</a:t>
            </a:r>
          </a:p>
        </p:txBody>
      </p:sp>
      <p:sp>
        <p:nvSpPr>
          <p:cNvPr id="83" name="Rectangle 82"/>
          <p:cNvSpPr/>
          <p:nvPr/>
        </p:nvSpPr>
        <p:spPr>
          <a:xfrm>
            <a:off x="566928" y="5888736"/>
            <a:ext cx="6903720" cy="274320"/>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66928" y="616305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67512" y="5952744"/>
            <a:ext cx="1777435" cy="274320"/>
          </a:xfrm>
          <a:prstGeom prst="rect">
            <a:avLst/>
          </a:prstGeom>
          <a:noFill/>
        </p:spPr>
        <p:txBody>
          <a:bodyPr wrap="square" lIns="0" rIns="0" tIns="0" bIns="0" anchor="t">
            <a:spAutoFit/>
          </a:bodyPr>
          <a:lstStyle/>
          <a:p>
            <a:pPr algn="l"/>
            <a:r>
              <a:rPr sz="1000" b="1">
                <a:solidFill>
                  <a:srgbClr val="1E2761"/>
                </a:solidFill>
                <a:latin typeface="Calibri"/>
              </a:rPr>
              <a:t>Total</a:t>
            </a:r>
          </a:p>
        </p:txBody>
      </p:sp>
      <p:sp>
        <p:nvSpPr>
          <p:cNvPr id="86" name="TextBox 85"/>
          <p:cNvSpPr txBox="1"/>
          <p:nvPr/>
        </p:nvSpPr>
        <p:spPr>
          <a:xfrm>
            <a:off x="2627827" y="5952744"/>
            <a:ext cx="839893" cy="274320"/>
          </a:xfrm>
          <a:prstGeom prst="rect">
            <a:avLst/>
          </a:prstGeom>
          <a:noFill/>
        </p:spPr>
        <p:txBody>
          <a:bodyPr wrap="square" lIns="0" rIns="0" tIns="0" bIns="0" anchor="t">
            <a:spAutoFit/>
          </a:bodyPr>
          <a:lstStyle/>
          <a:p>
            <a:pPr algn="r"/>
            <a:r>
              <a:rPr sz="1000" b="1">
                <a:solidFill>
                  <a:srgbClr val="1E2761"/>
                </a:solidFill>
                <a:latin typeface="Calibri"/>
              </a:rPr>
              <a:t>739</a:t>
            </a:r>
          </a:p>
        </p:txBody>
      </p:sp>
      <p:sp>
        <p:nvSpPr>
          <p:cNvPr id="87" name="TextBox 86"/>
          <p:cNvSpPr txBox="1"/>
          <p:nvPr/>
        </p:nvSpPr>
        <p:spPr>
          <a:xfrm>
            <a:off x="3650600" y="5952744"/>
            <a:ext cx="1095586" cy="274320"/>
          </a:xfrm>
          <a:prstGeom prst="rect">
            <a:avLst/>
          </a:prstGeom>
          <a:noFill/>
        </p:spPr>
        <p:txBody>
          <a:bodyPr wrap="square" lIns="0" rIns="0" tIns="0" bIns="0" anchor="t">
            <a:spAutoFit/>
          </a:bodyPr>
          <a:lstStyle/>
          <a:p>
            <a:pPr algn="r"/>
            <a:r>
              <a:rPr sz="1000" b="1">
                <a:solidFill>
                  <a:srgbClr val="1E2761"/>
                </a:solidFill>
                <a:latin typeface="Calibri"/>
              </a:rPr>
              <a:t>9</a:t>
            </a:r>
          </a:p>
        </p:txBody>
      </p:sp>
      <p:sp>
        <p:nvSpPr>
          <p:cNvPr id="88" name="TextBox 87"/>
          <p:cNvSpPr txBox="1"/>
          <p:nvPr/>
        </p:nvSpPr>
        <p:spPr>
          <a:xfrm>
            <a:off x="4929066" y="5952744"/>
            <a:ext cx="1180817" cy="274320"/>
          </a:xfrm>
          <a:prstGeom prst="rect">
            <a:avLst/>
          </a:prstGeom>
          <a:noFill/>
        </p:spPr>
        <p:txBody>
          <a:bodyPr wrap="square" lIns="0" rIns="0" tIns="0" bIns="0" anchor="t">
            <a:spAutoFit/>
          </a:bodyPr>
          <a:lstStyle/>
          <a:p>
            <a:pPr algn="r"/>
            <a:r>
              <a:rPr sz="1000" b="1">
                <a:solidFill>
                  <a:srgbClr val="1E2761"/>
                </a:solidFill>
                <a:latin typeface="Calibri"/>
              </a:rPr>
              <a:t>931</a:t>
            </a:r>
          </a:p>
        </p:txBody>
      </p:sp>
      <p:sp>
        <p:nvSpPr>
          <p:cNvPr id="89" name="TextBox 88"/>
          <p:cNvSpPr txBox="1"/>
          <p:nvPr/>
        </p:nvSpPr>
        <p:spPr>
          <a:xfrm>
            <a:off x="6292763" y="5952744"/>
            <a:ext cx="1095586" cy="274320"/>
          </a:xfrm>
          <a:prstGeom prst="rect">
            <a:avLst/>
          </a:prstGeom>
          <a:noFill/>
        </p:spPr>
        <p:txBody>
          <a:bodyPr wrap="square" lIns="0" rIns="0" tIns="0" bIns="0" anchor="t">
            <a:spAutoFit/>
          </a:bodyPr>
          <a:lstStyle/>
          <a:p>
            <a:pPr algn="r"/>
            <a:r>
              <a:rPr sz="1000" b="1">
                <a:solidFill>
                  <a:srgbClr val="1E2761"/>
                </a:solidFill>
                <a:latin typeface="Calibri"/>
              </a:rPr>
              <a:t>1,670</a:t>
            </a:r>
          </a:p>
        </p:txBody>
      </p:sp>
      <p:sp>
        <p:nvSpPr>
          <p:cNvPr id="90" name="Rectangle 89"/>
          <p:cNvSpPr/>
          <p:nvPr/>
        </p:nvSpPr>
        <p:spPr>
          <a:xfrm>
            <a:off x="7790688" y="3639312"/>
            <a:ext cx="3840480" cy="120700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790688" y="3639312"/>
            <a:ext cx="50292" cy="120700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010144" y="3776472"/>
            <a:ext cx="3429000" cy="274320"/>
          </a:xfrm>
          <a:prstGeom prst="rect">
            <a:avLst/>
          </a:prstGeom>
          <a:noFill/>
        </p:spPr>
        <p:txBody>
          <a:bodyPr wrap="square" lIns="0" rIns="0" tIns="0" bIns="0" anchor="t">
            <a:spAutoFit/>
          </a:bodyPr>
          <a:lstStyle/>
          <a:p>
            <a:pPr algn="l"/>
            <a:r>
              <a:rPr sz="1150" b="1">
                <a:solidFill>
                  <a:srgbClr val="5A6478"/>
                </a:solidFill>
                <a:latin typeface="Calibri"/>
              </a:rPr>
              <a:t>21 people are not counted</a:t>
            </a:r>
          </a:p>
        </p:txBody>
      </p:sp>
      <p:sp>
        <p:nvSpPr>
          <p:cNvPr id="93" name="TextBox 92"/>
          <p:cNvSpPr txBox="1"/>
          <p:nvPr/>
        </p:nvSpPr>
        <p:spPr>
          <a:xfrm>
            <a:off x="8010144" y="4078224"/>
            <a:ext cx="3429000" cy="676656"/>
          </a:xfrm>
          <a:prstGeom prst="rect">
            <a:avLst/>
          </a:prstGeom>
          <a:noFill/>
        </p:spPr>
        <p:txBody>
          <a:bodyPr wrap="square" lIns="0" rIns="0" tIns="0" bIns="0" anchor="t">
            <a:spAutoFit/>
          </a:bodyPr>
          <a:lstStyle/>
          <a:p>
            <a:pPr algn="l">
              <a:lnSpc>
                <a:spcPct val="120000"/>
              </a:lnSpc>
            </a:pPr>
            <a:r>
              <a:rPr sz="1050" b="0">
                <a:solidFill>
                  <a:srgbClr val="333B52"/>
                </a:solidFill>
                <a:latin typeface="Calibri"/>
              </a:rPr>
              <a:t>Removed from the headcount by name — 15 at Globinaco, 3 at Likas Square, 3 at TP Group.</a:t>
            </a:r>
          </a:p>
        </p:txBody>
      </p:sp>
      <p:sp>
        <p:nvSpPr>
          <p:cNvPr id="94" name="Rectangle 93"/>
          <p:cNvSpPr/>
          <p:nvPr/>
        </p:nvSpPr>
        <p:spPr>
          <a:xfrm>
            <a:off x="7790688" y="4992624"/>
            <a:ext cx="3840480" cy="120700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7790688" y="4992624"/>
            <a:ext cx="50292" cy="120700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010144" y="5129784"/>
            <a:ext cx="3429000" cy="274320"/>
          </a:xfrm>
          <a:prstGeom prst="rect">
            <a:avLst/>
          </a:prstGeom>
          <a:noFill/>
        </p:spPr>
        <p:txBody>
          <a:bodyPr wrap="square" lIns="0" rIns="0" tIns="0" bIns="0" anchor="t">
            <a:spAutoFit/>
          </a:bodyPr>
          <a:lstStyle/>
          <a:p>
            <a:pPr algn="l"/>
            <a:r>
              <a:rPr sz="1150" b="1">
                <a:solidFill>
                  <a:srgbClr val="1E2761"/>
                </a:solidFill>
                <a:latin typeface="Calibri"/>
              </a:rPr>
              <a:t>Trillium joins the pack</a:t>
            </a:r>
          </a:p>
        </p:txBody>
      </p:sp>
      <p:sp>
        <p:nvSpPr>
          <p:cNvPr id="97" name="TextBox 96"/>
          <p:cNvSpPr txBox="1"/>
          <p:nvPr/>
        </p:nvSpPr>
        <p:spPr>
          <a:xfrm>
            <a:off x="8010144" y="5431536"/>
            <a:ext cx="3429000" cy="676656"/>
          </a:xfrm>
          <a:prstGeom prst="rect">
            <a:avLst/>
          </a:prstGeom>
          <a:noFill/>
        </p:spPr>
        <p:txBody>
          <a:bodyPr wrap="square" lIns="0" rIns="0" tIns="0" bIns="0" anchor="t">
            <a:spAutoFit/>
          </a:bodyPr>
          <a:lstStyle/>
          <a:p>
            <a:pPr algn="l">
              <a:lnSpc>
                <a:spcPct val="120000"/>
              </a:lnSpc>
            </a:pPr>
            <a:r>
              <a:rPr sz="1050" b="0">
                <a:solidFill>
                  <a:srgbClr val="333B52"/>
                </a:solidFill>
                <a:latin typeface="Calibri"/>
              </a:rPr>
              <a:t>20 staff, 2 of them exempt from scoring. They were inside Globinaco's figures before and are now reported on their own.</a:t>
            </a:r>
          </a:p>
        </p:txBody>
      </p:sp>
      <p:sp>
        <p:nvSpPr>
          <p:cNvPr id="98" name="TextBox 97"/>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Staff pool basis (staffPoolAPI.php), which every slide in this pack now follows. In-scope people only; the 21 removed by an override are excluded from every figure here. Exempt people are counted in the headcount.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2 · BY COMPANY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Staff Headcount — By Company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People on the books at each company, staff and general workers together.</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45920"/>
            <a:ext cx="2615184" cy="4114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Globinaco</a:t>
            </a:r>
          </a:p>
        </p:txBody>
      </p:sp>
      <p:sp>
        <p:nvSpPr>
          <p:cNvPr id="11" name="TextBox 10"/>
          <p:cNvSpPr txBox="1"/>
          <p:nvPr/>
        </p:nvSpPr>
        <p:spPr>
          <a:xfrm>
            <a:off x="749808" y="2039112"/>
            <a:ext cx="1463040" cy="457200"/>
          </a:xfrm>
          <a:prstGeom prst="rect">
            <a:avLst/>
          </a:prstGeom>
          <a:noFill/>
        </p:spPr>
        <p:txBody>
          <a:bodyPr wrap="square" lIns="0" rIns="0" tIns="0" bIns="0" anchor="t">
            <a:spAutoFit/>
          </a:bodyPr>
          <a:lstStyle/>
          <a:p>
            <a:pPr algn="l"/>
            <a:r>
              <a:rPr sz="2400" b="1">
                <a:solidFill>
                  <a:srgbClr val="F9A825"/>
                </a:solidFill>
                <a:latin typeface="Cambria"/>
              </a:rPr>
              <a:t>665</a:t>
            </a:r>
          </a:p>
        </p:txBody>
      </p:sp>
      <p:sp>
        <p:nvSpPr>
          <p:cNvPr id="12" name="TextBox 11"/>
          <p:cNvSpPr txBox="1"/>
          <p:nvPr/>
        </p:nvSpPr>
        <p:spPr>
          <a:xfrm>
            <a:off x="749808"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TOTAL STAFF</a:t>
            </a:r>
          </a:p>
        </p:txBody>
      </p:sp>
      <p:sp>
        <p:nvSpPr>
          <p:cNvPr id="13" name="TextBox 12"/>
          <p:cNvSpPr txBox="1"/>
          <p:nvPr/>
        </p:nvSpPr>
        <p:spPr>
          <a:xfrm>
            <a:off x="749808"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Staff</a:t>
            </a:r>
          </a:p>
        </p:txBody>
      </p:sp>
      <p:sp>
        <p:nvSpPr>
          <p:cNvPr id="14" name="TextBox 13"/>
          <p:cNvSpPr txBox="1"/>
          <p:nvPr/>
        </p:nvSpPr>
        <p:spPr>
          <a:xfrm>
            <a:off x="2212848" y="2638044"/>
            <a:ext cx="786384" cy="201168"/>
          </a:xfrm>
          <a:prstGeom prst="rect">
            <a:avLst/>
          </a:prstGeom>
          <a:noFill/>
        </p:spPr>
        <p:txBody>
          <a:bodyPr wrap="square" lIns="0" rIns="0" tIns="0" bIns="0" anchor="t">
            <a:spAutoFit/>
          </a:bodyPr>
          <a:lstStyle/>
          <a:p>
            <a:pPr algn="r"/>
            <a:r>
              <a:rPr sz="950" b="1">
                <a:solidFill>
                  <a:srgbClr val="111111"/>
                </a:solidFill>
                <a:latin typeface="Calibri"/>
              </a:rPr>
              <a:t>319</a:t>
            </a:r>
          </a:p>
        </p:txBody>
      </p:sp>
      <p:sp>
        <p:nvSpPr>
          <p:cNvPr id="15" name="TextBox 14"/>
          <p:cNvSpPr txBox="1"/>
          <p:nvPr/>
        </p:nvSpPr>
        <p:spPr>
          <a:xfrm>
            <a:off x="749808"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16" name="TextBox 15"/>
          <p:cNvSpPr txBox="1"/>
          <p:nvPr/>
        </p:nvSpPr>
        <p:spPr>
          <a:xfrm>
            <a:off x="2212848" y="2811780"/>
            <a:ext cx="786384" cy="201168"/>
          </a:xfrm>
          <a:prstGeom prst="rect">
            <a:avLst/>
          </a:prstGeom>
          <a:noFill/>
        </p:spPr>
        <p:txBody>
          <a:bodyPr wrap="square" lIns="0" rIns="0" tIns="0" bIns="0" anchor="t">
            <a:spAutoFit/>
          </a:bodyPr>
          <a:lstStyle/>
          <a:p>
            <a:pPr algn="r"/>
            <a:r>
              <a:rPr sz="950" b="1">
                <a:solidFill>
                  <a:srgbClr val="111111"/>
                </a:solidFill>
                <a:latin typeface="Calibri"/>
              </a:rPr>
              <a:t>346</a:t>
            </a:r>
          </a:p>
        </p:txBody>
      </p:sp>
      <p:sp>
        <p:nvSpPr>
          <p:cNvPr id="17" name="TextBox 16"/>
          <p:cNvSpPr txBox="1"/>
          <p:nvPr/>
        </p:nvSpPr>
        <p:spPr>
          <a:xfrm>
            <a:off x="749808"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Exempt from KPI</a:t>
            </a:r>
          </a:p>
        </p:txBody>
      </p:sp>
      <p:sp>
        <p:nvSpPr>
          <p:cNvPr id="18" name="TextBox 17"/>
          <p:cNvSpPr txBox="1"/>
          <p:nvPr/>
        </p:nvSpPr>
        <p:spPr>
          <a:xfrm>
            <a:off x="2212848" y="2985516"/>
            <a:ext cx="786384" cy="201168"/>
          </a:xfrm>
          <a:prstGeom prst="rect">
            <a:avLst/>
          </a:prstGeom>
          <a:noFill/>
        </p:spPr>
        <p:txBody>
          <a:bodyPr wrap="square" lIns="0" rIns="0" tIns="0" bIns="0" anchor="t">
            <a:spAutoFit/>
          </a:bodyPr>
          <a:lstStyle/>
          <a:p>
            <a:pPr algn="r"/>
            <a:r>
              <a:rPr sz="950" b="1">
                <a:solidFill>
                  <a:srgbClr val="5A6478"/>
                </a:solidFill>
                <a:latin typeface="Calibri"/>
              </a:rPr>
              <a:t>2</a:t>
            </a:r>
          </a:p>
        </p:txBody>
      </p:sp>
      <p:sp>
        <p:nvSpPr>
          <p:cNvPr id="19" name="TextBox 18"/>
          <p:cNvSpPr txBox="1"/>
          <p:nvPr/>
        </p:nvSpPr>
        <p:spPr>
          <a:xfrm>
            <a:off x="749808"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20" name="TextBox 19"/>
          <p:cNvSpPr txBox="1"/>
          <p:nvPr/>
        </p:nvSpPr>
        <p:spPr>
          <a:xfrm>
            <a:off x="2212848" y="3159252"/>
            <a:ext cx="786384" cy="201168"/>
          </a:xfrm>
          <a:prstGeom prst="rect">
            <a:avLst/>
          </a:prstGeom>
          <a:noFill/>
        </p:spPr>
        <p:txBody>
          <a:bodyPr wrap="square" lIns="0" rIns="0" tIns="0" bIns="0" anchor="t">
            <a:spAutoFit/>
          </a:bodyPr>
          <a:lstStyle/>
          <a:p>
            <a:pPr algn="r"/>
            <a:r>
              <a:rPr sz="950" b="1">
                <a:solidFill>
                  <a:srgbClr val="111111"/>
                </a:solidFill>
                <a:latin typeface="Calibri"/>
              </a:rPr>
              <a:t>40%</a:t>
            </a:r>
          </a:p>
        </p:txBody>
      </p:sp>
      <p:sp>
        <p:nvSpPr>
          <p:cNvPr id="21" name="Rectangle 20"/>
          <p:cNvSpPr/>
          <p:nvPr/>
        </p:nvSpPr>
        <p:spPr>
          <a:xfrm>
            <a:off x="749808"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319 staff and 346 general workers. 206 staff and 341 general workers clocked in during October.</a:t>
            </a:r>
          </a:p>
        </p:txBody>
      </p:sp>
      <p:sp>
        <p:nvSpPr>
          <p:cNvPr id="23" name="Rectangle 22"/>
          <p:cNvSpPr/>
          <p:nvPr/>
        </p:nvSpPr>
        <p:spPr>
          <a:xfrm>
            <a:off x="3396996"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96996" y="1645920"/>
            <a:ext cx="2615184"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79876"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Hotel Grandis</a:t>
            </a:r>
          </a:p>
        </p:txBody>
      </p:sp>
      <p:sp>
        <p:nvSpPr>
          <p:cNvPr id="26" name="TextBox 25"/>
          <p:cNvSpPr txBox="1"/>
          <p:nvPr/>
        </p:nvSpPr>
        <p:spPr>
          <a:xfrm>
            <a:off x="3579876" y="2039112"/>
            <a:ext cx="1463040" cy="457200"/>
          </a:xfrm>
          <a:prstGeom prst="rect">
            <a:avLst/>
          </a:prstGeom>
          <a:noFill/>
        </p:spPr>
        <p:txBody>
          <a:bodyPr wrap="square" lIns="0" rIns="0" tIns="0" bIns="0" anchor="t">
            <a:spAutoFit/>
          </a:bodyPr>
          <a:lstStyle/>
          <a:p>
            <a:pPr algn="l"/>
            <a:r>
              <a:rPr sz="2400" b="1">
                <a:solidFill>
                  <a:srgbClr val="1E2761"/>
                </a:solidFill>
                <a:latin typeface="Cambria"/>
              </a:rPr>
              <a:t>150</a:t>
            </a:r>
          </a:p>
        </p:txBody>
      </p:sp>
      <p:sp>
        <p:nvSpPr>
          <p:cNvPr id="27" name="TextBox 26"/>
          <p:cNvSpPr txBox="1"/>
          <p:nvPr/>
        </p:nvSpPr>
        <p:spPr>
          <a:xfrm>
            <a:off x="3579876"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TOTAL STAFF</a:t>
            </a:r>
          </a:p>
        </p:txBody>
      </p:sp>
      <p:sp>
        <p:nvSpPr>
          <p:cNvPr id="28" name="TextBox 27"/>
          <p:cNvSpPr txBox="1"/>
          <p:nvPr/>
        </p:nvSpPr>
        <p:spPr>
          <a:xfrm>
            <a:off x="3579876"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Staff</a:t>
            </a:r>
          </a:p>
        </p:txBody>
      </p:sp>
      <p:sp>
        <p:nvSpPr>
          <p:cNvPr id="29" name="TextBox 28"/>
          <p:cNvSpPr txBox="1"/>
          <p:nvPr/>
        </p:nvSpPr>
        <p:spPr>
          <a:xfrm>
            <a:off x="5042916" y="2638044"/>
            <a:ext cx="786384" cy="201168"/>
          </a:xfrm>
          <a:prstGeom prst="rect">
            <a:avLst/>
          </a:prstGeom>
          <a:noFill/>
        </p:spPr>
        <p:txBody>
          <a:bodyPr wrap="square" lIns="0" rIns="0" tIns="0" bIns="0" anchor="t">
            <a:spAutoFit/>
          </a:bodyPr>
          <a:lstStyle/>
          <a:p>
            <a:pPr algn="r"/>
            <a:r>
              <a:rPr sz="950" b="1">
                <a:solidFill>
                  <a:srgbClr val="111111"/>
                </a:solidFill>
                <a:latin typeface="Calibri"/>
              </a:rPr>
              <a:t>150</a:t>
            </a:r>
          </a:p>
        </p:txBody>
      </p:sp>
      <p:sp>
        <p:nvSpPr>
          <p:cNvPr id="30" name="TextBox 29"/>
          <p:cNvSpPr txBox="1"/>
          <p:nvPr/>
        </p:nvSpPr>
        <p:spPr>
          <a:xfrm>
            <a:off x="3579876"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31" name="TextBox 30"/>
          <p:cNvSpPr txBox="1"/>
          <p:nvPr/>
        </p:nvSpPr>
        <p:spPr>
          <a:xfrm>
            <a:off x="5042916" y="2811780"/>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32" name="TextBox 31"/>
          <p:cNvSpPr txBox="1"/>
          <p:nvPr/>
        </p:nvSpPr>
        <p:spPr>
          <a:xfrm>
            <a:off x="3579876"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Exempt from KPI</a:t>
            </a:r>
          </a:p>
        </p:txBody>
      </p:sp>
      <p:sp>
        <p:nvSpPr>
          <p:cNvPr id="33" name="TextBox 32"/>
          <p:cNvSpPr txBox="1"/>
          <p:nvPr/>
        </p:nvSpPr>
        <p:spPr>
          <a:xfrm>
            <a:off x="5042916" y="2985516"/>
            <a:ext cx="786384" cy="201168"/>
          </a:xfrm>
          <a:prstGeom prst="rect">
            <a:avLst/>
          </a:prstGeom>
          <a:noFill/>
        </p:spPr>
        <p:txBody>
          <a:bodyPr wrap="square" lIns="0" rIns="0" tIns="0" bIns="0" anchor="t">
            <a:spAutoFit/>
          </a:bodyPr>
          <a:lstStyle/>
          <a:p>
            <a:pPr algn="r"/>
            <a:r>
              <a:rPr sz="950" b="1">
                <a:solidFill>
                  <a:srgbClr val="5A6478"/>
                </a:solidFill>
                <a:latin typeface="Calibri"/>
              </a:rPr>
              <a:t>1</a:t>
            </a:r>
          </a:p>
        </p:txBody>
      </p:sp>
      <p:sp>
        <p:nvSpPr>
          <p:cNvPr id="34" name="TextBox 33"/>
          <p:cNvSpPr txBox="1"/>
          <p:nvPr/>
        </p:nvSpPr>
        <p:spPr>
          <a:xfrm>
            <a:off x="3579876"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35" name="TextBox 34"/>
          <p:cNvSpPr txBox="1"/>
          <p:nvPr/>
        </p:nvSpPr>
        <p:spPr>
          <a:xfrm>
            <a:off x="5042916" y="3159252"/>
            <a:ext cx="786384" cy="201168"/>
          </a:xfrm>
          <a:prstGeom prst="rect">
            <a:avLst/>
          </a:prstGeom>
          <a:noFill/>
        </p:spPr>
        <p:txBody>
          <a:bodyPr wrap="square" lIns="0" rIns="0" tIns="0" bIns="0" anchor="t">
            <a:spAutoFit/>
          </a:bodyPr>
          <a:lstStyle/>
          <a:p>
            <a:pPr algn="r"/>
            <a:r>
              <a:rPr sz="950" b="1">
                <a:solidFill>
                  <a:srgbClr val="111111"/>
                </a:solidFill>
                <a:latin typeface="Calibri"/>
              </a:rPr>
              <a:t>9%</a:t>
            </a:r>
          </a:p>
        </p:txBody>
      </p:sp>
      <p:sp>
        <p:nvSpPr>
          <p:cNvPr id="36" name="Rectangle 35"/>
          <p:cNvSpPr/>
          <p:nvPr/>
        </p:nvSpPr>
        <p:spPr>
          <a:xfrm>
            <a:off x="3579876"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79876"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150 staff, no general workers.</a:t>
            </a:r>
          </a:p>
        </p:txBody>
      </p:sp>
      <p:sp>
        <p:nvSpPr>
          <p:cNvPr id="38" name="Rectangle 37"/>
          <p:cNvSpPr/>
          <p:nvPr/>
        </p:nvSpPr>
        <p:spPr>
          <a:xfrm>
            <a:off x="6227064"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27064" y="1645920"/>
            <a:ext cx="2615184" cy="4114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9944"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Arus Sawit</a:t>
            </a:r>
          </a:p>
        </p:txBody>
      </p:sp>
      <p:sp>
        <p:nvSpPr>
          <p:cNvPr id="41" name="TextBox 40"/>
          <p:cNvSpPr txBox="1"/>
          <p:nvPr/>
        </p:nvSpPr>
        <p:spPr>
          <a:xfrm>
            <a:off x="6409944" y="2039112"/>
            <a:ext cx="1463040" cy="457200"/>
          </a:xfrm>
          <a:prstGeom prst="rect">
            <a:avLst/>
          </a:prstGeom>
          <a:noFill/>
        </p:spPr>
        <p:txBody>
          <a:bodyPr wrap="square" lIns="0" rIns="0" tIns="0" bIns="0" anchor="t">
            <a:spAutoFit/>
          </a:bodyPr>
          <a:lstStyle/>
          <a:p>
            <a:pPr algn="l"/>
            <a:r>
              <a:rPr sz="2400" b="1">
                <a:solidFill>
                  <a:srgbClr val="F9A825"/>
                </a:solidFill>
                <a:latin typeface="Cambria"/>
              </a:rPr>
              <a:t>658</a:t>
            </a:r>
          </a:p>
        </p:txBody>
      </p:sp>
      <p:sp>
        <p:nvSpPr>
          <p:cNvPr id="42" name="TextBox 41"/>
          <p:cNvSpPr txBox="1"/>
          <p:nvPr/>
        </p:nvSpPr>
        <p:spPr>
          <a:xfrm>
            <a:off x="6409944"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TOTAL STAFF</a:t>
            </a:r>
          </a:p>
        </p:txBody>
      </p:sp>
      <p:sp>
        <p:nvSpPr>
          <p:cNvPr id="43" name="TextBox 42"/>
          <p:cNvSpPr txBox="1"/>
          <p:nvPr/>
        </p:nvSpPr>
        <p:spPr>
          <a:xfrm>
            <a:off x="6409944"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Staff</a:t>
            </a:r>
          </a:p>
        </p:txBody>
      </p:sp>
      <p:sp>
        <p:nvSpPr>
          <p:cNvPr id="44" name="TextBox 43"/>
          <p:cNvSpPr txBox="1"/>
          <p:nvPr/>
        </p:nvSpPr>
        <p:spPr>
          <a:xfrm>
            <a:off x="7872984" y="2638044"/>
            <a:ext cx="786384" cy="201168"/>
          </a:xfrm>
          <a:prstGeom prst="rect">
            <a:avLst/>
          </a:prstGeom>
          <a:noFill/>
        </p:spPr>
        <p:txBody>
          <a:bodyPr wrap="square" lIns="0" rIns="0" tIns="0" bIns="0" anchor="t">
            <a:spAutoFit/>
          </a:bodyPr>
          <a:lstStyle/>
          <a:p>
            <a:pPr algn="r"/>
            <a:r>
              <a:rPr sz="950" b="1">
                <a:solidFill>
                  <a:srgbClr val="111111"/>
                </a:solidFill>
                <a:latin typeface="Calibri"/>
              </a:rPr>
              <a:t>73</a:t>
            </a:r>
          </a:p>
        </p:txBody>
      </p:sp>
      <p:sp>
        <p:nvSpPr>
          <p:cNvPr id="45" name="TextBox 44"/>
          <p:cNvSpPr txBox="1"/>
          <p:nvPr/>
        </p:nvSpPr>
        <p:spPr>
          <a:xfrm>
            <a:off x="6409944"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46" name="TextBox 45"/>
          <p:cNvSpPr txBox="1"/>
          <p:nvPr/>
        </p:nvSpPr>
        <p:spPr>
          <a:xfrm>
            <a:off x="7872984" y="2811780"/>
            <a:ext cx="786384" cy="201168"/>
          </a:xfrm>
          <a:prstGeom prst="rect">
            <a:avLst/>
          </a:prstGeom>
          <a:noFill/>
        </p:spPr>
        <p:txBody>
          <a:bodyPr wrap="square" lIns="0" rIns="0" tIns="0" bIns="0" anchor="t">
            <a:spAutoFit/>
          </a:bodyPr>
          <a:lstStyle/>
          <a:p>
            <a:pPr algn="r"/>
            <a:r>
              <a:rPr sz="950" b="1">
                <a:solidFill>
                  <a:srgbClr val="C62828"/>
                </a:solidFill>
                <a:latin typeface="Calibri"/>
              </a:rPr>
              <a:t>585</a:t>
            </a:r>
          </a:p>
        </p:txBody>
      </p:sp>
      <p:sp>
        <p:nvSpPr>
          <p:cNvPr id="47" name="TextBox 46"/>
          <p:cNvSpPr txBox="1"/>
          <p:nvPr/>
        </p:nvSpPr>
        <p:spPr>
          <a:xfrm>
            <a:off x="6409944"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Exempt from KPI</a:t>
            </a:r>
          </a:p>
        </p:txBody>
      </p:sp>
      <p:sp>
        <p:nvSpPr>
          <p:cNvPr id="48" name="TextBox 47"/>
          <p:cNvSpPr txBox="1"/>
          <p:nvPr/>
        </p:nvSpPr>
        <p:spPr>
          <a:xfrm>
            <a:off x="7872984" y="2985516"/>
            <a:ext cx="786384" cy="201168"/>
          </a:xfrm>
          <a:prstGeom prst="rect">
            <a:avLst/>
          </a:prstGeom>
          <a:noFill/>
        </p:spPr>
        <p:txBody>
          <a:bodyPr wrap="square" lIns="0" rIns="0" tIns="0" bIns="0" anchor="t">
            <a:spAutoFit/>
          </a:bodyPr>
          <a:lstStyle/>
          <a:p>
            <a:pPr algn="r"/>
            <a:r>
              <a:rPr sz="950" b="1">
                <a:solidFill>
                  <a:srgbClr val="5A6478"/>
                </a:solidFill>
                <a:latin typeface="Calibri"/>
              </a:rPr>
              <a:t>1</a:t>
            </a:r>
          </a:p>
        </p:txBody>
      </p:sp>
      <p:sp>
        <p:nvSpPr>
          <p:cNvPr id="49" name="TextBox 48"/>
          <p:cNvSpPr txBox="1"/>
          <p:nvPr/>
        </p:nvSpPr>
        <p:spPr>
          <a:xfrm>
            <a:off x="6409944"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50" name="TextBox 49"/>
          <p:cNvSpPr txBox="1"/>
          <p:nvPr/>
        </p:nvSpPr>
        <p:spPr>
          <a:xfrm>
            <a:off x="7872984" y="3159252"/>
            <a:ext cx="786384" cy="201168"/>
          </a:xfrm>
          <a:prstGeom prst="rect">
            <a:avLst/>
          </a:prstGeom>
          <a:noFill/>
        </p:spPr>
        <p:txBody>
          <a:bodyPr wrap="square" lIns="0" rIns="0" tIns="0" bIns="0" anchor="t">
            <a:spAutoFit/>
          </a:bodyPr>
          <a:lstStyle/>
          <a:p>
            <a:pPr algn="r"/>
            <a:r>
              <a:rPr sz="950" b="1">
                <a:solidFill>
                  <a:srgbClr val="111111"/>
                </a:solidFill>
                <a:latin typeface="Calibri"/>
              </a:rPr>
              <a:t>39%</a:t>
            </a:r>
          </a:p>
        </p:txBody>
      </p:sp>
      <p:sp>
        <p:nvSpPr>
          <p:cNvPr id="51" name="Rectangle 50"/>
          <p:cNvSpPr/>
          <p:nvPr/>
        </p:nvSpPr>
        <p:spPr>
          <a:xfrm>
            <a:off x="6409944"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9944"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73 staff and 585 general workers. No general worker here has ever recorded attendance.</a:t>
            </a:r>
          </a:p>
        </p:txBody>
      </p:sp>
      <p:sp>
        <p:nvSpPr>
          <p:cNvPr id="53" name="Rectangle 52"/>
          <p:cNvSpPr/>
          <p:nvPr/>
        </p:nvSpPr>
        <p:spPr>
          <a:xfrm>
            <a:off x="9057132"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057132" y="1645920"/>
            <a:ext cx="2615184"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240012"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TP Group</a:t>
            </a:r>
          </a:p>
        </p:txBody>
      </p:sp>
      <p:sp>
        <p:nvSpPr>
          <p:cNvPr id="56" name="TextBox 55"/>
          <p:cNvSpPr txBox="1"/>
          <p:nvPr/>
        </p:nvSpPr>
        <p:spPr>
          <a:xfrm>
            <a:off x="9240012" y="2039112"/>
            <a:ext cx="1463040" cy="457200"/>
          </a:xfrm>
          <a:prstGeom prst="rect">
            <a:avLst/>
          </a:prstGeom>
          <a:noFill/>
        </p:spPr>
        <p:txBody>
          <a:bodyPr wrap="square" lIns="0" rIns="0" tIns="0" bIns="0" anchor="t">
            <a:spAutoFit/>
          </a:bodyPr>
          <a:lstStyle/>
          <a:p>
            <a:pPr algn="l"/>
            <a:r>
              <a:rPr sz="2400" b="1">
                <a:solidFill>
                  <a:srgbClr val="1E2761"/>
                </a:solidFill>
                <a:latin typeface="Cambria"/>
              </a:rPr>
              <a:t>65</a:t>
            </a:r>
          </a:p>
        </p:txBody>
      </p:sp>
      <p:sp>
        <p:nvSpPr>
          <p:cNvPr id="57" name="TextBox 56"/>
          <p:cNvSpPr txBox="1"/>
          <p:nvPr/>
        </p:nvSpPr>
        <p:spPr>
          <a:xfrm>
            <a:off x="9240012"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TOTAL STAFF</a:t>
            </a:r>
          </a:p>
        </p:txBody>
      </p:sp>
      <p:sp>
        <p:nvSpPr>
          <p:cNvPr id="58" name="TextBox 57"/>
          <p:cNvSpPr txBox="1"/>
          <p:nvPr/>
        </p:nvSpPr>
        <p:spPr>
          <a:xfrm>
            <a:off x="9240012"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Staff</a:t>
            </a:r>
          </a:p>
        </p:txBody>
      </p:sp>
      <p:sp>
        <p:nvSpPr>
          <p:cNvPr id="59" name="TextBox 58"/>
          <p:cNvSpPr txBox="1"/>
          <p:nvPr/>
        </p:nvSpPr>
        <p:spPr>
          <a:xfrm>
            <a:off x="10703052" y="2638044"/>
            <a:ext cx="786384" cy="201168"/>
          </a:xfrm>
          <a:prstGeom prst="rect">
            <a:avLst/>
          </a:prstGeom>
          <a:noFill/>
        </p:spPr>
        <p:txBody>
          <a:bodyPr wrap="square" lIns="0" rIns="0" tIns="0" bIns="0" anchor="t">
            <a:spAutoFit/>
          </a:bodyPr>
          <a:lstStyle/>
          <a:p>
            <a:pPr algn="r"/>
            <a:r>
              <a:rPr sz="950" b="1">
                <a:solidFill>
                  <a:srgbClr val="111111"/>
                </a:solidFill>
                <a:latin typeface="Calibri"/>
              </a:rPr>
              <a:t>65</a:t>
            </a:r>
          </a:p>
        </p:txBody>
      </p:sp>
      <p:sp>
        <p:nvSpPr>
          <p:cNvPr id="60" name="TextBox 59"/>
          <p:cNvSpPr txBox="1"/>
          <p:nvPr/>
        </p:nvSpPr>
        <p:spPr>
          <a:xfrm>
            <a:off x="9240012"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61" name="TextBox 60"/>
          <p:cNvSpPr txBox="1"/>
          <p:nvPr/>
        </p:nvSpPr>
        <p:spPr>
          <a:xfrm>
            <a:off x="10703052" y="2811780"/>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62" name="TextBox 61"/>
          <p:cNvSpPr txBox="1"/>
          <p:nvPr/>
        </p:nvSpPr>
        <p:spPr>
          <a:xfrm>
            <a:off x="9240012"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Exempt from KPI</a:t>
            </a:r>
          </a:p>
        </p:txBody>
      </p:sp>
      <p:sp>
        <p:nvSpPr>
          <p:cNvPr id="63" name="TextBox 62"/>
          <p:cNvSpPr txBox="1"/>
          <p:nvPr/>
        </p:nvSpPr>
        <p:spPr>
          <a:xfrm>
            <a:off x="10703052" y="2985516"/>
            <a:ext cx="786384" cy="201168"/>
          </a:xfrm>
          <a:prstGeom prst="rect">
            <a:avLst/>
          </a:prstGeom>
          <a:noFill/>
        </p:spPr>
        <p:txBody>
          <a:bodyPr wrap="square" lIns="0" rIns="0" tIns="0" bIns="0" anchor="t">
            <a:spAutoFit/>
          </a:bodyPr>
          <a:lstStyle/>
          <a:p>
            <a:pPr algn="r"/>
            <a:r>
              <a:rPr sz="950" b="1">
                <a:solidFill>
                  <a:srgbClr val="5A6478"/>
                </a:solidFill>
                <a:latin typeface="Calibri"/>
              </a:rPr>
              <a:t>2</a:t>
            </a:r>
          </a:p>
        </p:txBody>
      </p:sp>
      <p:sp>
        <p:nvSpPr>
          <p:cNvPr id="64" name="TextBox 63"/>
          <p:cNvSpPr txBox="1"/>
          <p:nvPr/>
        </p:nvSpPr>
        <p:spPr>
          <a:xfrm>
            <a:off x="9240012"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65" name="TextBox 64"/>
          <p:cNvSpPr txBox="1"/>
          <p:nvPr/>
        </p:nvSpPr>
        <p:spPr>
          <a:xfrm>
            <a:off x="10703052" y="3159252"/>
            <a:ext cx="786384" cy="201168"/>
          </a:xfrm>
          <a:prstGeom prst="rect">
            <a:avLst/>
          </a:prstGeom>
          <a:noFill/>
        </p:spPr>
        <p:txBody>
          <a:bodyPr wrap="square" lIns="0" rIns="0" tIns="0" bIns="0" anchor="t">
            <a:spAutoFit/>
          </a:bodyPr>
          <a:lstStyle/>
          <a:p>
            <a:pPr algn="r"/>
            <a:r>
              <a:rPr sz="950" b="1">
                <a:solidFill>
                  <a:srgbClr val="111111"/>
                </a:solidFill>
                <a:latin typeface="Calibri"/>
              </a:rPr>
              <a:t>4%</a:t>
            </a:r>
          </a:p>
        </p:txBody>
      </p:sp>
      <p:sp>
        <p:nvSpPr>
          <p:cNvPr id="66" name="Rectangle 65"/>
          <p:cNvSpPr/>
          <p:nvPr/>
        </p:nvSpPr>
        <p:spPr>
          <a:xfrm>
            <a:off x="9240012"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240012"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65 staff, no general workers.</a:t>
            </a:r>
          </a:p>
        </p:txBody>
      </p:sp>
      <p:sp>
        <p:nvSpPr>
          <p:cNvPr id="68" name="Rectangle 67"/>
          <p:cNvSpPr/>
          <p:nvPr/>
        </p:nvSpPr>
        <p:spPr>
          <a:xfrm>
            <a:off x="566928"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66928" y="4073652"/>
            <a:ext cx="2615184"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9808"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AMC</a:t>
            </a:r>
          </a:p>
        </p:txBody>
      </p:sp>
      <p:sp>
        <p:nvSpPr>
          <p:cNvPr id="71" name="TextBox 70"/>
          <p:cNvSpPr txBox="1"/>
          <p:nvPr/>
        </p:nvSpPr>
        <p:spPr>
          <a:xfrm>
            <a:off x="749808" y="4466844"/>
            <a:ext cx="1463040" cy="457200"/>
          </a:xfrm>
          <a:prstGeom prst="rect">
            <a:avLst/>
          </a:prstGeom>
          <a:noFill/>
        </p:spPr>
        <p:txBody>
          <a:bodyPr wrap="square" lIns="0" rIns="0" tIns="0" bIns="0" anchor="t">
            <a:spAutoFit/>
          </a:bodyPr>
          <a:lstStyle/>
          <a:p>
            <a:pPr algn="l"/>
            <a:r>
              <a:rPr sz="2400" b="1">
                <a:solidFill>
                  <a:srgbClr val="1E2761"/>
                </a:solidFill>
                <a:latin typeface="Cambria"/>
              </a:rPr>
              <a:t>61</a:t>
            </a:r>
          </a:p>
        </p:txBody>
      </p:sp>
      <p:sp>
        <p:nvSpPr>
          <p:cNvPr id="72" name="TextBox 71"/>
          <p:cNvSpPr txBox="1"/>
          <p:nvPr/>
        </p:nvSpPr>
        <p:spPr>
          <a:xfrm>
            <a:off x="749808"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TOTAL STAFF</a:t>
            </a:r>
          </a:p>
        </p:txBody>
      </p:sp>
      <p:sp>
        <p:nvSpPr>
          <p:cNvPr id="73" name="TextBox 72"/>
          <p:cNvSpPr txBox="1"/>
          <p:nvPr/>
        </p:nvSpPr>
        <p:spPr>
          <a:xfrm>
            <a:off x="749808"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Staff</a:t>
            </a:r>
          </a:p>
        </p:txBody>
      </p:sp>
      <p:sp>
        <p:nvSpPr>
          <p:cNvPr id="74" name="TextBox 73"/>
          <p:cNvSpPr txBox="1"/>
          <p:nvPr/>
        </p:nvSpPr>
        <p:spPr>
          <a:xfrm>
            <a:off x="2212848" y="5065776"/>
            <a:ext cx="786384" cy="201168"/>
          </a:xfrm>
          <a:prstGeom prst="rect">
            <a:avLst/>
          </a:prstGeom>
          <a:noFill/>
        </p:spPr>
        <p:txBody>
          <a:bodyPr wrap="square" lIns="0" rIns="0" tIns="0" bIns="0" anchor="t">
            <a:spAutoFit/>
          </a:bodyPr>
          <a:lstStyle/>
          <a:p>
            <a:pPr algn="r"/>
            <a:r>
              <a:rPr sz="950" b="1">
                <a:solidFill>
                  <a:srgbClr val="111111"/>
                </a:solidFill>
                <a:latin typeface="Calibri"/>
              </a:rPr>
              <a:t>61</a:t>
            </a:r>
          </a:p>
        </p:txBody>
      </p:sp>
      <p:sp>
        <p:nvSpPr>
          <p:cNvPr id="75" name="TextBox 74"/>
          <p:cNvSpPr txBox="1"/>
          <p:nvPr/>
        </p:nvSpPr>
        <p:spPr>
          <a:xfrm>
            <a:off x="749808"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76" name="TextBox 75"/>
          <p:cNvSpPr txBox="1"/>
          <p:nvPr/>
        </p:nvSpPr>
        <p:spPr>
          <a:xfrm>
            <a:off x="2212848" y="5239512"/>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77" name="TextBox 76"/>
          <p:cNvSpPr txBox="1"/>
          <p:nvPr/>
        </p:nvSpPr>
        <p:spPr>
          <a:xfrm>
            <a:off x="749808"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Exempt from KPI</a:t>
            </a:r>
          </a:p>
        </p:txBody>
      </p:sp>
      <p:sp>
        <p:nvSpPr>
          <p:cNvPr id="78" name="TextBox 77"/>
          <p:cNvSpPr txBox="1"/>
          <p:nvPr/>
        </p:nvSpPr>
        <p:spPr>
          <a:xfrm>
            <a:off x="2212848" y="5413248"/>
            <a:ext cx="786384" cy="201168"/>
          </a:xfrm>
          <a:prstGeom prst="rect">
            <a:avLst/>
          </a:prstGeom>
          <a:noFill/>
        </p:spPr>
        <p:txBody>
          <a:bodyPr wrap="square" lIns="0" rIns="0" tIns="0" bIns="0" anchor="t">
            <a:spAutoFit/>
          </a:bodyPr>
          <a:lstStyle/>
          <a:p>
            <a:pPr algn="r"/>
            <a:r>
              <a:rPr sz="950" b="1">
                <a:solidFill>
                  <a:srgbClr val="5A6478"/>
                </a:solidFill>
                <a:latin typeface="Calibri"/>
              </a:rPr>
              <a:t>1</a:t>
            </a:r>
          </a:p>
        </p:txBody>
      </p:sp>
      <p:sp>
        <p:nvSpPr>
          <p:cNvPr id="79" name="TextBox 78"/>
          <p:cNvSpPr txBox="1"/>
          <p:nvPr/>
        </p:nvSpPr>
        <p:spPr>
          <a:xfrm>
            <a:off x="749808"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80" name="TextBox 79"/>
          <p:cNvSpPr txBox="1"/>
          <p:nvPr/>
        </p:nvSpPr>
        <p:spPr>
          <a:xfrm>
            <a:off x="2212848" y="5586984"/>
            <a:ext cx="786384" cy="201168"/>
          </a:xfrm>
          <a:prstGeom prst="rect">
            <a:avLst/>
          </a:prstGeom>
          <a:noFill/>
        </p:spPr>
        <p:txBody>
          <a:bodyPr wrap="square" lIns="0" rIns="0" tIns="0" bIns="0" anchor="t">
            <a:spAutoFit/>
          </a:bodyPr>
          <a:lstStyle/>
          <a:p>
            <a:pPr algn="r"/>
            <a:r>
              <a:rPr sz="950" b="1">
                <a:solidFill>
                  <a:srgbClr val="111111"/>
                </a:solidFill>
                <a:latin typeface="Calibri"/>
              </a:rPr>
              <a:t>4%</a:t>
            </a:r>
          </a:p>
        </p:txBody>
      </p:sp>
      <p:sp>
        <p:nvSpPr>
          <p:cNvPr id="81" name="Rectangle 80"/>
          <p:cNvSpPr/>
          <p:nvPr/>
        </p:nvSpPr>
        <p:spPr>
          <a:xfrm>
            <a:off x="749808"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49808"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61 staff, no general workers.</a:t>
            </a:r>
          </a:p>
        </p:txBody>
      </p:sp>
      <p:sp>
        <p:nvSpPr>
          <p:cNvPr id="83" name="Rectangle 82"/>
          <p:cNvSpPr/>
          <p:nvPr/>
        </p:nvSpPr>
        <p:spPr>
          <a:xfrm>
            <a:off x="3396996"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396996" y="4073652"/>
            <a:ext cx="2615184"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579876"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Likas Square</a:t>
            </a:r>
          </a:p>
        </p:txBody>
      </p:sp>
      <p:sp>
        <p:nvSpPr>
          <p:cNvPr id="86" name="TextBox 85"/>
          <p:cNvSpPr txBox="1"/>
          <p:nvPr/>
        </p:nvSpPr>
        <p:spPr>
          <a:xfrm>
            <a:off x="3579876" y="4466844"/>
            <a:ext cx="1463040" cy="457200"/>
          </a:xfrm>
          <a:prstGeom prst="rect">
            <a:avLst/>
          </a:prstGeom>
          <a:noFill/>
        </p:spPr>
        <p:txBody>
          <a:bodyPr wrap="square" lIns="0" rIns="0" tIns="0" bIns="0" anchor="t">
            <a:spAutoFit/>
          </a:bodyPr>
          <a:lstStyle/>
          <a:p>
            <a:pPr algn="l"/>
            <a:r>
              <a:rPr sz="2400" b="1">
                <a:solidFill>
                  <a:srgbClr val="1E2761"/>
                </a:solidFill>
                <a:latin typeface="Cambria"/>
              </a:rPr>
              <a:t>51</a:t>
            </a:r>
          </a:p>
        </p:txBody>
      </p:sp>
      <p:sp>
        <p:nvSpPr>
          <p:cNvPr id="87" name="TextBox 86"/>
          <p:cNvSpPr txBox="1"/>
          <p:nvPr/>
        </p:nvSpPr>
        <p:spPr>
          <a:xfrm>
            <a:off x="3579876"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TOTAL STAFF</a:t>
            </a:r>
          </a:p>
        </p:txBody>
      </p:sp>
      <p:sp>
        <p:nvSpPr>
          <p:cNvPr id="88" name="TextBox 87"/>
          <p:cNvSpPr txBox="1"/>
          <p:nvPr/>
        </p:nvSpPr>
        <p:spPr>
          <a:xfrm>
            <a:off x="3579876"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Staff</a:t>
            </a:r>
          </a:p>
        </p:txBody>
      </p:sp>
      <p:sp>
        <p:nvSpPr>
          <p:cNvPr id="89" name="TextBox 88"/>
          <p:cNvSpPr txBox="1"/>
          <p:nvPr/>
        </p:nvSpPr>
        <p:spPr>
          <a:xfrm>
            <a:off x="5042916" y="5065776"/>
            <a:ext cx="786384" cy="201168"/>
          </a:xfrm>
          <a:prstGeom prst="rect">
            <a:avLst/>
          </a:prstGeom>
          <a:noFill/>
        </p:spPr>
        <p:txBody>
          <a:bodyPr wrap="square" lIns="0" rIns="0" tIns="0" bIns="0" anchor="t">
            <a:spAutoFit/>
          </a:bodyPr>
          <a:lstStyle/>
          <a:p>
            <a:pPr algn="r"/>
            <a:r>
              <a:rPr sz="950" b="1">
                <a:solidFill>
                  <a:srgbClr val="111111"/>
                </a:solidFill>
                <a:latin typeface="Calibri"/>
              </a:rPr>
              <a:t>51</a:t>
            </a:r>
          </a:p>
        </p:txBody>
      </p:sp>
      <p:sp>
        <p:nvSpPr>
          <p:cNvPr id="90" name="TextBox 89"/>
          <p:cNvSpPr txBox="1"/>
          <p:nvPr/>
        </p:nvSpPr>
        <p:spPr>
          <a:xfrm>
            <a:off x="3579876"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91" name="TextBox 90"/>
          <p:cNvSpPr txBox="1"/>
          <p:nvPr/>
        </p:nvSpPr>
        <p:spPr>
          <a:xfrm>
            <a:off x="5042916" y="5239512"/>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92" name="TextBox 91"/>
          <p:cNvSpPr txBox="1"/>
          <p:nvPr/>
        </p:nvSpPr>
        <p:spPr>
          <a:xfrm>
            <a:off x="3579876"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Exempt from KPI</a:t>
            </a:r>
          </a:p>
        </p:txBody>
      </p:sp>
      <p:sp>
        <p:nvSpPr>
          <p:cNvPr id="93" name="TextBox 92"/>
          <p:cNvSpPr txBox="1"/>
          <p:nvPr/>
        </p:nvSpPr>
        <p:spPr>
          <a:xfrm>
            <a:off x="5042916" y="5413248"/>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94" name="TextBox 93"/>
          <p:cNvSpPr txBox="1"/>
          <p:nvPr/>
        </p:nvSpPr>
        <p:spPr>
          <a:xfrm>
            <a:off x="3579876"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95" name="TextBox 94"/>
          <p:cNvSpPr txBox="1"/>
          <p:nvPr/>
        </p:nvSpPr>
        <p:spPr>
          <a:xfrm>
            <a:off x="5042916" y="5586984"/>
            <a:ext cx="786384" cy="201168"/>
          </a:xfrm>
          <a:prstGeom prst="rect">
            <a:avLst/>
          </a:prstGeom>
          <a:noFill/>
        </p:spPr>
        <p:txBody>
          <a:bodyPr wrap="square" lIns="0" rIns="0" tIns="0" bIns="0" anchor="t">
            <a:spAutoFit/>
          </a:bodyPr>
          <a:lstStyle/>
          <a:p>
            <a:pPr algn="r"/>
            <a:r>
              <a:rPr sz="950" b="1">
                <a:solidFill>
                  <a:srgbClr val="111111"/>
                </a:solidFill>
                <a:latin typeface="Calibri"/>
              </a:rPr>
              <a:t>3%</a:t>
            </a:r>
          </a:p>
        </p:txBody>
      </p:sp>
      <p:sp>
        <p:nvSpPr>
          <p:cNvPr id="96" name="Rectangle 95"/>
          <p:cNvSpPr/>
          <p:nvPr/>
        </p:nvSpPr>
        <p:spPr>
          <a:xfrm>
            <a:off x="3579876"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579876"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51 staff, no general workers.</a:t>
            </a:r>
          </a:p>
        </p:txBody>
      </p:sp>
      <p:sp>
        <p:nvSpPr>
          <p:cNvPr id="98" name="Rectangle 97"/>
          <p:cNvSpPr/>
          <p:nvPr/>
        </p:nvSpPr>
        <p:spPr>
          <a:xfrm>
            <a:off x="6227064"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227064" y="4073652"/>
            <a:ext cx="2615184"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409944"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Trillium</a:t>
            </a:r>
          </a:p>
        </p:txBody>
      </p:sp>
      <p:sp>
        <p:nvSpPr>
          <p:cNvPr id="101" name="TextBox 100"/>
          <p:cNvSpPr txBox="1"/>
          <p:nvPr/>
        </p:nvSpPr>
        <p:spPr>
          <a:xfrm>
            <a:off x="6409944" y="4466844"/>
            <a:ext cx="1463040" cy="457200"/>
          </a:xfrm>
          <a:prstGeom prst="rect">
            <a:avLst/>
          </a:prstGeom>
          <a:noFill/>
        </p:spPr>
        <p:txBody>
          <a:bodyPr wrap="square" lIns="0" rIns="0" tIns="0" bIns="0" anchor="t">
            <a:spAutoFit/>
          </a:bodyPr>
          <a:lstStyle/>
          <a:p>
            <a:pPr algn="l"/>
            <a:r>
              <a:rPr sz="2400" b="1">
                <a:solidFill>
                  <a:srgbClr val="1E2761"/>
                </a:solidFill>
                <a:latin typeface="Cambria"/>
              </a:rPr>
              <a:t>20</a:t>
            </a:r>
          </a:p>
        </p:txBody>
      </p:sp>
      <p:sp>
        <p:nvSpPr>
          <p:cNvPr id="102" name="TextBox 101"/>
          <p:cNvSpPr txBox="1"/>
          <p:nvPr/>
        </p:nvSpPr>
        <p:spPr>
          <a:xfrm>
            <a:off x="6409944"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TOTAL STAFF</a:t>
            </a:r>
          </a:p>
        </p:txBody>
      </p:sp>
      <p:sp>
        <p:nvSpPr>
          <p:cNvPr id="103" name="TextBox 102"/>
          <p:cNvSpPr txBox="1"/>
          <p:nvPr/>
        </p:nvSpPr>
        <p:spPr>
          <a:xfrm>
            <a:off x="6409944"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Staff</a:t>
            </a:r>
          </a:p>
        </p:txBody>
      </p:sp>
      <p:sp>
        <p:nvSpPr>
          <p:cNvPr id="104" name="TextBox 103"/>
          <p:cNvSpPr txBox="1"/>
          <p:nvPr/>
        </p:nvSpPr>
        <p:spPr>
          <a:xfrm>
            <a:off x="7872984" y="5065776"/>
            <a:ext cx="786384" cy="201168"/>
          </a:xfrm>
          <a:prstGeom prst="rect">
            <a:avLst/>
          </a:prstGeom>
          <a:noFill/>
        </p:spPr>
        <p:txBody>
          <a:bodyPr wrap="square" lIns="0" rIns="0" tIns="0" bIns="0" anchor="t">
            <a:spAutoFit/>
          </a:bodyPr>
          <a:lstStyle/>
          <a:p>
            <a:pPr algn="r"/>
            <a:r>
              <a:rPr sz="950" b="1">
                <a:solidFill>
                  <a:srgbClr val="111111"/>
                </a:solidFill>
                <a:latin typeface="Calibri"/>
              </a:rPr>
              <a:t>20</a:t>
            </a:r>
          </a:p>
        </p:txBody>
      </p:sp>
      <p:sp>
        <p:nvSpPr>
          <p:cNvPr id="105" name="TextBox 104"/>
          <p:cNvSpPr txBox="1"/>
          <p:nvPr/>
        </p:nvSpPr>
        <p:spPr>
          <a:xfrm>
            <a:off x="6409944"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106" name="TextBox 105"/>
          <p:cNvSpPr txBox="1"/>
          <p:nvPr/>
        </p:nvSpPr>
        <p:spPr>
          <a:xfrm>
            <a:off x="7872984" y="5239512"/>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107" name="TextBox 106"/>
          <p:cNvSpPr txBox="1"/>
          <p:nvPr/>
        </p:nvSpPr>
        <p:spPr>
          <a:xfrm>
            <a:off x="6409944"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Exempt from KPI</a:t>
            </a:r>
          </a:p>
        </p:txBody>
      </p:sp>
      <p:sp>
        <p:nvSpPr>
          <p:cNvPr id="108" name="TextBox 107"/>
          <p:cNvSpPr txBox="1"/>
          <p:nvPr/>
        </p:nvSpPr>
        <p:spPr>
          <a:xfrm>
            <a:off x="7872984" y="5413248"/>
            <a:ext cx="786384" cy="201168"/>
          </a:xfrm>
          <a:prstGeom prst="rect">
            <a:avLst/>
          </a:prstGeom>
          <a:noFill/>
        </p:spPr>
        <p:txBody>
          <a:bodyPr wrap="square" lIns="0" rIns="0" tIns="0" bIns="0" anchor="t">
            <a:spAutoFit/>
          </a:bodyPr>
          <a:lstStyle/>
          <a:p>
            <a:pPr algn="r"/>
            <a:r>
              <a:rPr sz="950" b="1">
                <a:solidFill>
                  <a:srgbClr val="5A6478"/>
                </a:solidFill>
                <a:latin typeface="Calibri"/>
              </a:rPr>
              <a:t>2</a:t>
            </a:r>
          </a:p>
        </p:txBody>
      </p:sp>
      <p:sp>
        <p:nvSpPr>
          <p:cNvPr id="109" name="TextBox 108"/>
          <p:cNvSpPr txBox="1"/>
          <p:nvPr/>
        </p:nvSpPr>
        <p:spPr>
          <a:xfrm>
            <a:off x="6409944"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110" name="TextBox 109"/>
          <p:cNvSpPr txBox="1"/>
          <p:nvPr/>
        </p:nvSpPr>
        <p:spPr>
          <a:xfrm>
            <a:off x="7872984" y="5586984"/>
            <a:ext cx="786384" cy="201168"/>
          </a:xfrm>
          <a:prstGeom prst="rect">
            <a:avLst/>
          </a:prstGeom>
          <a:noFill/>
        </p:spPr>
        <p:txBody>
          <a:bodyPr wrap="square" lIns="0" rIns="0" tIns="0" bIns="0" anchor="t">
            <a:spAutoFit/>
          </a:bodyPr>
          <a:lstStyle/>
          <a:p>
            <a:pPr algn="r"/>
            <a:r>
              <a:rPr sz="950" b="1">
                <a:solidFill>
                  <a:srgbClr val="111111"/>
                </a:solidFill>
                <a:latin typeface="Calibri"/>
              </a:rPr>
              <a:t>1%</a:t>
            </a:r>
          </a:p>
        </p:txBody>
      </p:sp>
      <p:sp>
        <p:nvSpPr>
          <p:cNvPr id="111" name="Rectangle 110"/>
          <p:cNvSpPr/>
          <p:nvPr/>
        </p:nvSpPr>
        <p:spPr>
          <a:xfrm>
            <a:off x="6409944"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409944"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20 staff, no general workers.</a:t>
            </a:r>
          </a:p>
        </p:txBody>
      </p:sp>
      <p:sp>
        <p:nvSpPr>
          <p:cNvPr id="113" name="TextBox 112"/>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Same staff pool basis as the group summary. Share of group is of the 1,670 people on the books. October attendance is check-ins recorded by the worker themselves.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THREE</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Job Specs</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How many people hold an approved job spec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3 · GROUP SUMMARY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Job Specs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81% of staff and 35% of general workers hold an approved job spec. Globinaco's worker queue cleared this week.</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81%</a:t>
            </a:r>
          </a:p>
        </p:txBody>
      </p:sp>
      <p:sp>
        <p:nvSpPr>
          <p:cNvPr id="11" name="TextBox 10"/>
          <p:cNvSpPr txBox="1"/>
          <p:nvPr/>
        </p:nvSpPr>
        <p:spPr>
          <a:xfrm>
            <a:off x="804672"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Of staff approved</a:t>
            </a:r>
          </a:p>
        </p:txBody>
      </p:sp>
      <p:sp>
        <p:nvSpPr>
          <p:cNvPr id="12" name="TextBox 11"/>
          <p:cNvSpPr txBox="1"/>
          <p:nvPr/>
        </p:nvSpPr>
        <p:spPr>
          <a:xfrm>
            <a:off x="804672"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598 of 739 staff hold an approved job spec.</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6996"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4740" y="1810512"/>
            <a:ext cx="2203704" cy="548640"/>
          </a:xfrm>
          <a:prstGeom prst="rect">
            <a:avLst/>
          </a:prstGeom>
          <a:noFill/>
        </p:spPr>
        <p:txBody>
          <a:bodyPr wrap="square" lIns="0" rIns="0" tIns="0" bIns="0" anchor="t">
            <a:spAutoFit/>
          </a:bodyPr>
          <a:lstStyle/>
          <a:p>
            <a:pPr algn="l"/>
            <a:r>
              <a:rPr sz="3400" b="1">
                <a:solidFill>
                  <a:srgbClr val="F9A825"/>
                </a:solidFill>
                <a:latin typeface="Cambria"/>
              </a:rPr>
              <a:t>35%</a:t>
            </a:r>
          </a:p>
        </p:txBody>
      </p:sp>
      <p:sp>
        <p:nvSpPr>
          <p:cNvPr id="16" name="TextBox 15"/>
          <p:cNvSpPr txBox="1"/>
          <p:nvPr/>
        </p:nvSpPr>
        <p:spPr>
          <a:xfrm>
            <a:off x="3634740"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Of general workers</a:t>
            </a:r>
          </a:p>
        </p:txBody>
      </p:sp>
      <p:sp>
        <p:nvSpPr>
          <p:cNvPr id="17" name="TextBox 16"/>
          <p:cNvSpPr txBox="1"/>
          <p:nvPr/>
        </p:nvSpPr>
        <p:spPr>
          <a:xfrm>
            <a:off x="3634740"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326 of 931 — every one of them at Globinaco.</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83</a:t>
            </a:r>
          </a:p>
        </p:txBody>
      </p:sp>
      <p:sp>
        <p:nvSpPr>
          <p:cNvPr id="21" name="TextBox 20"/>
          <p:cNvSpPr txBox="1"/>
          <p:nvPr/>
        </p:nvSpPr>
        <p:spPr>
          <a:xfrm>
            <a:off x="6464808"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Waiting for approval</a:t>
            </a:r>
          </a:p>
        </p:txBody>
      </p:sp>
      <p:sp>
        <p:nvSpPr>
          <p:cNvPr id="22" name="TextBox 21"/>
          <p:cNvSpPr txBox="1"/>
          <p:nvPr/>
        </p:nvSpPr>
        <p:spPr>
          <a:xfrm>
            <a:off x="6464808"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Down from 412 at the last count. 32 of them are at Likas Square.</a:t>
            </a:r>
          </a:p>
        </p:txBody>
      </p:sp>
      <p:sp>
        <p:nvSpPr>
          <p:cNvPr id="23" name="Rectangle 22"/>
          <p:cNvSpPr/>
          <p:nvPr/>
        </p:nvSpPr>
        <p:spPr>
          <a:xfrm>
            <a:off x="9057132"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7132" y="1627632"/>
            <a:ext cx="50292" cy="1783080"/>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4876" y="1810512"/>
            <a:ext cx="2203704" cy="548640"/>
          </a:xfrm>
          <a:prstGeom prst="rect">
            <a:avLst/>
          </a:prstGeom>
          <a:noFill/>
        </p:spPr>
        <p:txBody>
          <a:bodyPr wrap="square" lIns="0" rIns="0" tIns="0" bIns="0" anchor="t">
            <a:spAutoFit/>
          </a:bodyPr>
          <a:lstStyle/>
          <a:p>
            <a:pPr algn="l"/>
            <a:r>
              <a:rPr sz="3400" b="1">
                <a:solidFill>
                  <a:srgbClr val="5A6478"/>
                </a:solidFill>
                <a:latin typeface="Cambria"/>
              </a:rPr>
              <a:t>28</a:t>
            </a:r>
          </a:p>
        </p:txBody>
      </p:sp>
      <p:sp>
        <p:nvSpPr>
          <p:cNvPr id="26" name="TextBox 25"/>
          <p:cNvSpPr txBox="1"/>
          <p:nvPr/>
        </p:nvSpPr>
        <p:spPr>
          <a:xfrm>
            <a:off x="9294876"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Rejected, need reworking</a:t>
            </a:r>
          </a:p>
        </p:txBody>
      </p:sp>
      <p:sp>
        <p:nvSpPr>
          <p:cNvPr id="27" name="TextBox 26"/>
          <p:cNvSpPr txBox="1"/>
          <p:nvPr/>
        </p:nvSpPr>
        <p:spPr>
          <a:xfrm>
            <a:off x="9294876"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Sent back and not yet resubmitted.</a:t>
            </a:r>
          </a:p>
        </p:txBody>
      </p:sp>
      <p:sp>
        <p:nvSpPr>
          <p:cNvPr id="28" name="Rectangle 27"/>
          <p:cNvSpPr/>
          <p:nvPr/>
        </p:nvSpPr>
        <p:spPr>
          <a:xfrm>
            <a:off x="566928" y="3639312"/>
            <a:ext cx="690372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712464"/>
            <a:ext cx="1483535" cy="329184"/>
          </a:xfrm>
          <a:prstGeom prst="rect">
            <a:avLst/>
          </a:prstGeom>
          <a:noFill/>
        </p:spPr>
        <p:txBody>
          <a:bodyPr wrap="square" lIns="0" rIns="0" tIns="0" bIns="0" anchor="t">
            <a:spAutoFit/>
          </a:bodyPr>
          <a:lstStyle/>
          <a:p>
            <a:pPr algn="l"/>
            <a:r>
              <a:rPr sz="950" b="1">
                <a:solidFill>
                  <a:srgbClr val="FFFFFF"/>
                </a:solidFill>
                <a:latin typeface="Calibri"/>
              </a:rPr>
              <a:t>Company</a:t>
            </a:r>
          </a:p>
        </p:txBody>
      </p:sp>
      <p:sp>
        <p:nvSpPr>
          <p:cNvPr id="30" name="TextBox 29"/>
          <p:cNvSpPr txBox="1"/>
          <p:nvPr/>
        </p:nvSpPr>
        <p:spPr>
          <a:xfrm>
            <a:off x="2333927" y="3712464"/>
            <a:ext cx="928063" cy="329184"/>
          </a:xfrm>
          <a:prstGeom prst="rect">
            <a:avLst/>
          </a:prstGeom>
          <a:noFill/>
        </p:spPr>
        <p:txBody>
          <a:bodyPr wrap="square" lIns="0" rIns="0" tIns="0" bIns="0" anchor="t">
            <a:spAutoFit/>
          </a:bodyPr>
          <a:lstStyle/>
          <a:p>
            <a:pPr algn="r"/>
            <a:r>
              <a:rPr sz="950" b="1">
                <a:solidFill>
                  <a:srgbClr val="FFFFFF"/>
                </a:solidFill>
                <a:latin typeface="Calibri"/>
              </a:rPr>
              <a:t>Total Staff</a:t>
            </a:r>
          </a:p>
        </p:txBody>
      </p:sp>
      <p:sp>
        <p:nvSpPr>
          <p:cNvPr id="31" name="TextBox 30"/>
          <p:cNvSpPr txBox="1"/>
          <p:nvPr/>
        </p:nvSpPr>
        <p:spPr>
          <a:xfrm>
            <a:off x="3444870" y="3712464"/>
            <a:ext cx="1007416" cy="329184"/>
          </a:xfrm>
          <a:prstGeom prst="rect">
            <a:avLst/>
          </a:prstGeom>
          <a:noFill/>
        </p:spPr>
        <p:txBody>
          <a:bodyPr wrap="square" lIns="0" rIns="0" tIns="0" bIns="0" anchor="t">
            <a:spAutoFit/>
          </a:bodyPr>
          <a:lstStyle/>
          <a:p>
            <a:pPr algn="r"/>
            <a:r>
              <a:rPr sz="950" b="1">
                <a:solidFill>
                  <a:srgbClr val="FFFFFF"/>
                </a:solidFill>
                <a:latin typeface="Calibri"/>
              </a:rPr>
              <a:t>Has a job spec</a:t>
            </a:r>
          </a:p>
        </p:txBody>
      </p:sp>
      <p:sp>
        <p:nvSpPr>
          <p:cNvPr id="32" name="TextBox 31"/>
          <p:cNvSpPr txBox="1"/>
          <p:nvPr/>
        </p:nvSpPr>
        <p:spPr>
          <a:xfrm>
            <a:off x="4635166" y="3712464"/>
            <a:ext cx="769357" cy="329184"/>
          </a:xfrm>
          <a:prstGeom prst="rect">
            <a:avLst/>
          </a:prstGeom>
          <a:noFill/>
        </p:spPr>
        <p:txBody>
          <a:bodyPr wrap="square" lIns="0" rIns="0" tIns="0" bIns="0" anchor="t">
            <a:spAutoFit/>
          </a:bodyPr>
          <a:lstStyle/>
          <a:p>
            <a:pPr algn="r"/>
            <a:r>
              <a:rPr sz="950" b="1">
                <a:solidFill>
                  <a:srgbClr val="FFFFFF"/>
                </a:solidFill>
                <a:latin typeface="Calibri"/>
              </a:rPr>
              <a:t>Approved</a:t>
            </a:r>
          </a:p>
        </p:txBody>
      </p:sp>
      <p:sp>
        <p:nvSpPr>
          <p:cNvPr id="33" name="TextBox 32"/>
          <p:cNvSpPr txBox="1"/>
          <p:nvPr/>
        </p:nvSpPr>
        <p:spPr>
          <a:xfrm>
            <a:off x="5587403" y="3712464"/>
            <a:ext cx="769357" cy="329184"/>
          </a:xfrm>
          <a:prstGeom prst="rect">
            <a:avLst/>
          </a:prstGeom>
          <a:noFill/>
        </p:spPr>
        <p:txBody>
          <a:bodyPr wrap="square" lIns="0" rIns="0" tIns="0" bIns="0" anchor="t">
            <a:spAutoFit/>
          </a:bodyPr>
          <a:lstStyle/>
          <a:p>
            <a:pPr algn="r"/>
            <a:r>
              <a:rPr sz="950" b="1">
                <a:solidFill>
                  <a:srgbClr val="FFFFFF"/>
                </a:solidFill>
                <a:latin typeface="Calibri"/>
              </a:rPr>
              <a:t>Pending</a:t>
            </a:r>
          </a:p>
        </p:txBody>
      </p:sp>
      <p:sp>
        <p:nvSpPr>
          <p:cNvPr id="34" name="TextBox 33"/>
          <p:cNvSpPr txBox="1"/>
          <p:nvPr/>
        </p:nvSpPr>
        <p:spPr>
          <a:xfrm>
            <a:off x="6539640" y="3712464"/>
            <a:ext cx="848710" cy="329184"/>
          </a:xfrm>
          <a:prstGeom prst="rect">
            <a:avLst/>
          </a:prstGeom>
          <a:noFill/>
        </p:spPr>
        <p:txBody>
          <a:bodyPr wrap="square" lIns="0" rIns="0" tIns="0" bIns="0" anchor="t">
            <a:spAutoFit/>
          </a:bodyPr>
          <a:lstStyle/>
          <a:p>
            <a:pPr algn="r"/>
            <a:r>
              <a:rPr sz="950" b="1">
                <a:solidFill>
                  <a:srgbClr val="FFFFFF"/>
                </a:solidFill>
                <a:latin typeface="Calibri"/>
              </a:rPr>
              <a:t>Approved %</a:t>
            </a:r>
          </a:p>
        </p:txBody>
      </p:sp>
      <p:sp>
        <p:nvSpPr>
          <p:cNvPr id="35" name="Rectangle 34"/>
          <p:cNvSpPr/>
          <p:nvPr/>
        </p:nvSpPr>
        <p:spPr>
          <a:xfrm>
            <a:off x="566928" y="3968496"/>
            <a:ext cx="6903720" cy="2743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24281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 y="4032504"/>
            <a:ext cx="1483535" cy="274320"/>
          </a:xfrm>
          <a:prstGeom prst="rect">
            <a:avLst/>
          </a:prstGeom>
          <a:noFill/>
        </p:spPr>
        <p:txBody>
          <a:bodyPr wrap="square" lIns="0" rIns="0" tIns="0" bIns="0" anchor="t">
            <a:spAutoFit/>
          </a:bodyPr>
          <a:lstStyle/>
          <a:p>
            <a:pPr algn="l"/>
            <a:r>
              <a:rPr sz="1000" b="1">
                <a:solidFill>
                  <a:srgbClr val="111111"/>
                </a:solidFill>
                <a:latin typeface="Calibri"/>
              </a:rPr>
              <a:t>Globinaco</a:t>
            </a:r>
          </a:p>
        </p:txBody>
      </p:sp>
      <p:sp>
        <p:nvSpPr>
          <p:cNvPr id="38" name="TextBox 37"/>
          <p:cNvSpPr txBox="1"/>
          <p:nvPr/>
        </p:nvSpPr>
        <p:spPr>
          <a:xfrm>
            <a:off x="2333927" y="4032504"/>
            <a:ext cx="928063" cy="274320"/>
          </a:xfrm>
          <a:prstGeom prst="rect">
            <a:avLst/>
          </a:prstGeom>
          <a:noFill/>
        </p:spPr>
        <p:txBody>
          <a:bodyPr wrap="square" lIns="0" rIns="0" tIns="0" bIns="0" anchor="t">
            <a:spAutoFit/>
          </a:bodyPr>
          <a:lstStyle/>
          <a:p>
            <a:pPr algn="r"/>
            <a:r>
              <a:rPr sz="1000" b="0">
                <a:solidFill>
                  <a:srgbClr val="111111"/>
                </a:solidFill>
                <a:latin typeface="Calibri"/>
              </a:rPr>
              <a:t>665</a:t>
            </a:r>
          </a:p>
        </p:txBody>
      </p:sp>
      <p:sp>
        <p:nvSpPr>
          <p:cNvPr id="39" name="TextBox 38"/>
          <p:cNvSpPr txBox="1"/>
          <p:nvPr/>
        </p:nvSpPr>
        <p:spPr>
          <a:xfrm>
            <a:off x="3444870" y="4032504"/>
            <a:ext cx="1007416" cy="274320"/>
          </a:xfrm>
          <a:prstGeom prst="rect">
            <a:avLst/>
          </a:prstGeom>
          <a:noFill/>
        </p:spPr>
        <p:txBody>
          <a:bodyPr wrap="square" lIns="0" rIns="0" tIns="0" bIns="0" anchor="t">
            <a:spAutoFit/>
          </a:bodyPr>
          <a:lstStyle/>
          <a:p>
            <a:pPr algn="r"/>
            <a:r>
              <a:rPr sz="1000" b="0">
                <a:solidFill>
                  <a:srgbClr val="111111"/>
                </a:solidFill>
                <a:latin typeface="Calibri"/>
              </a:rPr>
              <a:t>628</a:t>
            </a:r>
          </a:p>
        </p:txBody>
      </p:sp>
      <p:sp>
        <p:nvSpPr>
          <p:cNvPr id="40" name="TextBox 39"/>
          <p:cNvSpPr txBox="1"/>
          <p:nvPr/>
        </p:nvSpPr>
        <p:spPr>
          <a:xfrm>
            <a:off x="4635166" y="4032504"/>
            <a:ext cx="769357" cy="274320"/>
          </a:xfrm>
          <a:prstGeom prst="rect">
            <a:avLst/>
          </a:prstGeom>
          <a:noFill/>
        </p:spPr>
        <p:txBody>
          <a:bodyPr wrap="square" lIns="0" rIns="0" tIns="0" bIns="0" anchor="t">
            <a:spAutoFit/>
          </a:bodyPr>
          <a:lstStyle/>
          <a:p>
            <a:pPr algn="r"/>
            <a:r>
              <a:rPr sz="1000" b="0">
                <a:solidFill>
                  <a:srgbClr val="111111"/>
                </a:solidFill>
                <a:latin typeface="Calibri"/>
              </a:rPr>
              <a:t>608</a:t>
            </a:r>
          </a:p>
        </p:txBody>
      </p:sp>
      <p:sp>
        <p:nvSpPr>
          <p:cNvPr id="41" name="TextBox 40"/>
          <p:cNvSpPr txBox="1"/>
          <p:nvPr/>
        </p:nvSpPr>
        <p:spPr>
          <a:xfrm>
            <a:off x="5587403" y="4032504"/>
            <a:ext cx="769357" cy="274320"/>
          </a:xfrm>
          <a:prstGeom prst="rect">
            <a:avLst/>
          </a:prstGeom>
          <a:noFill/>
        </p:spPr>
        <p:txBody>
          <a:bodyPr wrap="square" lIns="0" rIns="0" tIns="0" bIns="0" anchor="t">
            <a:spAutoFit/>
          </a:bodyPr>
          <a:lstStyle/>
          <a:p>
            <a:pPr algn="r"/>
            <a:r>
              <a:rPr sz="1000" b="0">
                <a:solidFill>
                  <a:srgbClr val="111111"/>
                </a:solidFill>
                <a:latin typeface="Calibri"/>
              </a:rPr>
              <a:t>17</a:t>
            </a:r>
          </a:p>
        </p:txBody>
      </p:sp>
      <p:sp>
        <p:nvSpPr>
          <p:cNvPr id="42" name="TextBox 41"/>
          <p:cNvSpPr txBox="1"/>
          <p:nvPr/>
        </p:nvSpPr>
        <p:spPr>
          <a:xfrm>
            <a:off x="6539640" y="4032504"/>
            <a:ext cx="848710" cy="274320"/>
          </a:xfrm>
          <a:prstGeom prst="rect">
            <a:avLst/>
          </a:prstGeom>
          <a:noFill/>
        </p:spPr>
        <p:txBody>
          <a:bodyPr wrap="square" lIns="0" rIns="0" tIns="0" bIns="0" anchor="t">
            <a:spAutoFit/>
          </a:bodyPr>
          <a:lstStyle/>
          <a:p>
            <a:pPr algn="r"/>
            <a:r>
              <a:rPr sz="1000" b="0">
                <a:solidFill>
                  <a:srgbClr val="2E7D32"/>
                </a:solidFill>
                <a:latin typeface="Calibri"/>
              </a:rPr>
              <a:t>91%</a:t>
            </a:r>
          </a:p>
        </p:txBody>
      </p:sp>
      <p:sp>
        <p:nvSpPr>
          <p:cNvPr id="43" name="Rectangle 42"/>
          <p:cNvSpPr/>
          <p:nvPr/>
        </p:nvSpPr>
        <p:spPr>
          <a:xfrm>
            <a:off x="566928" y="4242816"/>
            <a:ext cx="690372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66928" y="451713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7512" y="4306824"/>
            <a:ext cx="1483535" cy="274320"/>
          </a:xfrm>
          <a:prstGeom prst="rect">
            <a:avLst/>
          </a:prstGeom>
          <a:noFill/>
        </p:spPr>
        <p:txBody>
          <a:bodyPr wrap="square" lIns="0" rIns="0" tIns="0" bIns="0" anchor="t">
            <a:spAutoFit/>
          </a:bodyPr>
          <a:lstStyle/>
          <a:p>
            <a:pPr algn="l"/>
            <a:r>
              <a:rPr sz="1000" b="1">
                <a:solidFill>
                  <a:srgbClr val="111111"/>
                </a:solidFill>
                <a:latin typeface="Calibri"/>
              </a:rPr>
              <a:t>Hotel Grandis</a:t>
            </a:r>
          </a:p>
        </p:txBody>
      </p:sp>
      <p:sp>
        <p:nvSpPr>
          <p:cNvPr id="46" name="TextBox 45"/>
          <p:cNvSpPr txBox="1"/>
          <p:nvPr/>
        </p:nvSpPr>
        <p:spPr>
          <a:xfrm>
            <a:off x="2333927" y="4306824"/>
            <a:ext cx="928063" cy="274320"/>
          </a:xfrm>
          <a:prstGeom prst="rect">
            <a:avLst/>
          </a:prstGeom>
          <a:noFill/>
        </p:spPr>
        <p:txBody>
          <a:bodyPr wrap="square" lIns="0" rIns="0" tIns="0" bIns="0" anchor="t">
            <a:spAutoFit/>
          </a:bodyPr>
          <a:lstStyle/>
          <a:p>
            <a:pPr algn="r"/>
            <a:r>
              <a:rPr sz="1000" b="0">
                <a:solidFill>
                  <a:srgbClr val="111111"/>
                </a:solidFill>
                <a:latin typeface="Calibri"/>
              </a:rPr>
              <a:t>150</a:t>
            </a:r>
          </a:p>
        </p:txBody>
      </p:sp>
      <p:sp>
        <p:nvSpPr>
          <p:cNvPr id="47" name="TextBox 46"/>
          <p:cNvSpPr txBox="1"/>
          <p:nvPr/>
        </p:nvSpPr>
        <p:spPr>
          <a:xfrm>
            <a:off x="3444870" y="4306824"/>
            <a:ext cx="1007416" cy="274320"/>
          </a:xfrm>
          <a:prstGeom prst="rect">
            <a:avLst/>
          </a:prstGeom>
          <a:noFill/>
        </p:spPr>
        <p:txBody>
          <a:bodyPr wrap="square" lIns="0" rIns="0" tIns="0" bIns="0" anchor="t">
            <a:spAutoFit/>
          </a:bodyPr>
          <a:lstStyle/>
          <a:p>
            <a:pPr algn="r"/>
            <a:r>
              <a:rPr sz="1000" b="0">
                <a:solidFill>
                  <a:srgbClr val="111111"/>
                </a:solidFill>
                <a:latin typeface="Calibri"/>
              </a:rPr>
              <a:t>142</a:t>
            </a:r>
          </a:p>
        </p:txBody>
      </p:sp>
      <p:sp>
        <p:nvSpPr>
          <p:cNvPr id="48" name="TextBox 47"/>
          <p:cNvSpPr txBox="1"/>
          <p:nvPr/>
        </p:nvSpPr>
        <p:spPr>
          <a:xfrm>
            <a:off x="4635166" y="4306824"/>
            <a:ext cx="769357" cy="274320"/>
          </a:xfrm>
          <a:prstGeom prst="rect">
            <a:avLst/>
          </a:prstGeom>
          <a:noFill/>
        </p:spPr>
        <p:txBody>
          <a:bodyPr wrap="square" lIns="0" rIns="0" tIns="0" bIns="0" anchor="t">
            <a:spAutoFit/>
          </a:bodyPr>
          <a:lstStyle/>
          <a:p>
            <a:pPr algn="r"/>
            <a:r>
              <a:rPr sz="1000" b="0">
                <a:solidFill>
                  <a:srgbClr val="111111"/>
                </a:solidFill>
                <a:latin typeface="Calibri"/>
              </a:rPr>
              <a:t>136</a:t>
            </a:r>
          </a:p>
        </p:txBody>
      </p:sp>
      <p:sp>
        <p:nvSpPr>
          <p:cNvPr id="49" name="TextBox 48"/>
          <p:cNvSpPr txBox="1"/>
          <p:nvPr/>
        </p:nvSpPr>
        <p:spPr>
          <a:xfrm>
            <a:off x="5587403" y="4306824"/>
            <a:ext cx="769357" cy="274320"/>
          </a:xfrm>
          <a:prstGeom prst="rect">
            <a:avLst/>
          </a:prstGeom>
          <a:noFill/>
        </p:spPr>
        <p:txBody>
          <a:bodyPr wrap="square" lIns="0" rIns="0" tIns="0" bIns="0" anchor="t">
            <a:spAutoFit/>
          </a:bodyPr>
          <a:lstStyle/>
          <a:p>
            <a:pPr algn="r"/>
            <a:r>
              <a:rPr sz="1000" b="0">
                <a:solidFill>
                  <a:srgbClr val="111111"/>
                </a:solidFill>
                <a:latin typeface="Calibri"/>
              </a:rPr>
              <a:t>6</a:t>
            </a:r>
          </a:p>
        </p:txBody>
      </p:sp>
      <p:sp>
        <p:nvSpPr>
          <p:cNvPr id="50" name="TextBox 49"/>
          <p:cNvSpPr txBox="1"/>
          <p:nvPr/>
        </p:nvSpPr>
        <p:spPr>
          <a:xfrm>
            <a:off x="6539640" y="4306824"/>
            <a:ext cx="848710" cy="274320"/>
          </a:xfrm>
          <a:prstGeom prst="rect">
            <a:avLst/>
          </a:prstGeom>
          <a:noFill/>
        </p:spPr>
        <p:txBody>
          <a:bodyPr wrap="square" lIns="0" rIns="0" tIns="0" bIns="0" anchor="t">
            <a:spAutoFit/>
          </a:bodyPr>
          <a:lstStyle/>
          <a:p>
            <a:pPr algn="r"/>
            <a:r>
              <a:rPr sz="1000" b="0">
                <a:solidFill>
                  <a:srgbClr val="2E7D32"/>
                </a:solidFill>
                <a:latin typeface="Calibri"/>
              </a:rPr>
              <a:t>91%</a:t>
            </a:r>
          </a:p>
        </p:txBody>
      </p:sp>
      <p:sp>
        <p:nvSpPr>
          <p:cNvPr id="51" name="Rectangle 50"/>
          <p:cNvSpPr/>
          <p:nvPr/>
        </p:nvSpPr>
        <p:spPr>
          <a:xfrm>
            <a:off x="566928" y="4517136"/>
            <a:ext cx="6903720" cy="2743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66928" y="479145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7512" y="4581144"/>
            <a:ext cx="1483535" cy="274320"/>
          </a:xfrm>
          <a:prstGeom prst="rect">
            <a:avLst/>
          </a:prstGeom>
          <a:noFill/>
        </p:spPr>
        <p:txBody>
          <a:bodyPr wrap="square" lIns="0" rIns="0" tIns="0" bIns="0" anchor="t">
            <a:spAutoFit/>
          </a:bodyPr>
          <a:lstStyle/>
          <a:p>
            <a:pPr algn="l"/>
            <a:r>
              <a:rPr sz="1000" b="1">
                <a:solidFill>
                  <a:srgbClr val="111111"/>
                </a:solidFill>
                <a:latin typeface="Calibri"/>
              </a:rPr>
              <a:t>Arus Sawit</a:t>
            </a:r>
          </a:p>
        </p:txBody>
      </p:sp>
      <p:sp>
        <p:nvSpPr>
          <p:cNvPr id="54" name="TextBox 53"/>
          <p:cNvSpPr txBox="1"/>
          <p:nvPr/>
        </p:nvSpPr>
        <p:spPr>
          <a:xfrm>
            <a:off x="2333927" y="4581144"/>
            <a:ext cx="928063" cy="274320"/>
          </a:xfrm>
          <a:prstGeom prst="rect">
            <a:avLst/>
          </a:prstGeom>
          <a:noFill/>
        </p:spPr>
        <p:txBody>
          <a:bodyPr wrap="square" lIns="0" rIns="0" tIns="0" bIns="0" anchor="t">
            <a:spAutoFit/>
          </a:bodyPr>
          <a:lstStyle/>
          <a:p>
            <a:pPr algn="r"/>
            <a:r>
              <a:rPr sz="1000" b="0">
                <a:solidFill>
                  <a:srgbClr val="111111"/>
                </a:solidFill>
                <a:latin typeface="Calibri"/>
              </a:rPr>
              <a:t>658</a:t>
            </a:r>
          </a:p>
        </p:txBody>
      </p:sp>
      <p:sp>
        <p:nvSpPr>
          <p:cNvPr id="55" name="TextBox 54"/>
          <p:cNvSpPr txBox="1"/>
          <p:nvPr/>
        </p:nvSpPr>
        <p:spPr>
          <a:xfrm>
            <a:off x="3444870" y="4581144"/>
            <a:ext cx="1007416" cy="274320"/>
          </a:xfrm>
          <a:prstGeom prst="rect">
            <a:avLst/>
          </a:prstGeom>
          <a:noFill/>
        </p:spPr>
        <p:txBody>
          <a:bodyPr wrap="square" lIns="0" rIns="0" tIns="0" bIns="0" anchor="t">
            <a:spAutoFit/>
          </a:bodyPr>
          <a:lstStyle/>
          <a:p>
            <a:pPr algn="r"/>
            <a:r>
              <a:rPr sz="1000" b="0">
                <a:solidFill>
                  <a:srgbClr val="111111"/>
                </a:solidFill>
                <a:latin typeface="Calibri"/>
              </a:rPr>
              <a:t>72</a:t>
            </a:r>
          </a:p>
        </p:txBody>
      </p:sp>
      <p:sp>
        <p:nvSpPr>
          <p:cNvPr id="56" name="TextBox 55"/>
          <p:cNvSpPr txBox="1"/>
          <p:nvPr/>
        </p:nvSpPr>
        <p:spPr>
          <a:xfrm>
            <a:off x="4635166" y="4581144"/>
            <a:ext cx="769357" cy="274320"/>
          </a:xfrm>
          <a:prstGeom prst="rect">
            <a:avLst/>
          </a:prstGeom>
          <a:noFill/>
        </p:spPr>
        <p:txBody>
          <a:bodyPr wrap="square" lIns="0" rIns="0" tIns="0" bIns="0" anchor="t">
            <a:spAutoFit/>
          </a:bodyPr>
          <a:lstStyle/>
          <a:p>
            <a:pPr algn="r"/>
            <a:r>
              <a:rPr sz="1000" b="0">
                <a:solidFill>
                  <a:srgbClr val="111111"/>
                </a:solidFill>
                <a:latin typeface="Calibri"/>
              </a:rPr>
              <a:t>58</a:t>
            </a:r>
          </a:p>
        </p:txBody>
      </p:sp>
      <p:sp>
        <p:nvSpPr>
          <p:cNvPr id="57" name="TextBox 56"/>
          <p:cNvSpPr txBox="1"/>
          <p:nvPr/>
        </p:nvSpPr>
        <p:spPr>
          <a:xfrm>
            <a:off x="5587403" y="4581144"/>
            <a:ext cx="769357" cy="274320"/>
          </a:xfrm>
          <a:prstGeom prst="rect">
            <a:avLst/>
          </a:prstGeom>
          <a:noFill/>
        </p:spPr>
        <p:txBody>
          <a:bodyPr wrap="square" lIns="0" rIns="0" tIns="0" bIns="0" anchor="t">
            <a:spAutoFit/>
          </a:bodyPr>
          <a:lstStyle/>
          <a:p>
            <a:pPr algn="r"/>
            <a:r>
              <a:rPr sz="1000" b="0">
                <a:solidFill>
                  <a:srgbClr val="111111"/>
                </a:solidFill>
                <a:latin typeface="Calibri"/>
              </a:rPr>
              <a:t>14</a:t>
            </a:r>
          </a:p>
        </p:txBody>
      </p:sp>
      <p:sp>
        <p:nvSpPr>
          <p:cNvPr id="58" name="TextBox 57"/>
          <p:cNvSpPr txBox="1"/>
          <p:nvPr/>
        </p:nvSpPr>
        <p:spPr>
          <a:xfrm>
            <a:off x="6539640" y="4581144"/>
            <a:ext cx="848710" cy="274320"/>
          </a:xfrm>
          <a:prstGeom prst="rect">
            <a:avLst/>
          </a:prstGeom>
          <a:noFill/>
        </p:spPr>
        <p:txBody>
          <a:bodyPr wrap="square" lIns="0" rIns="0" tIns="0" bIns="0" anchor="t">
            <a:spAutoFit/>
          </a:bodyPr>
          <a:lstStyle/>
          <a:p>
            <a:pPr algn="r"/>
            <a:r>
              <a:rPr sz="1000" b="0">
                <a:solidFill>
                  <a:srgbClr val="C62828"/>
                </a:solidFill>
                <a:latin typeface="Calibri"/>
              </a:rPr>
              <a:t>9%</a:t>
            </a:r>
          </a:p>
        </p:txBody>
      </p:sp>
      <p:sp>
        <p:nvSpPr>
          <p:cNvPr id="59" name="Rectangle 58"/>
          <p:cNvSpPr/>
          <p:nvPr/>
        </p:nvSpPr>
        <p:spPr>
          <a:xfrm>
            <a:off x="566928" y="4791456"/>
            <a:ext cx="690372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66928" y="506577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7512" y="4855464"/>
            <a:ext cx="1483535" cy="274320"/>
          </a:xfrm>
          <a:prstGeom prst="rect">
            <a:avLst/>
          </a:prstGeom>
          <a:noFill/>
        </p:spPr>
        <p:txBody>
          <a:bodyPr wrap="square" lIns="0" rIns="0" tIns="0" bIns="0" anchor="t">
            <a:spAutoFit/>
          </a:bodyPr>
          <a:lstStyle/>
          <a:p>
            <a:pPr algn="l"/>
            <a:r>
              <a:rPr sz="1000" b="1">
                <a:solidFill>
                  <a:srgbClr val="111111"/>
                </a:solidFill>
                <a:latin typeface="Calibri"/>
              </a:rPr>
              <a:t>TP Group</a:t>
            </a:r>
          </a:p>
        </p:txBody>
      </p:sp>
      <p:sp>
        <p:nvSpPr>
          <p:cNvPr id="62" name="TextBox 61"/>
          <p:cNvSpPr txBox="1"/>
          <p:nvPr/>
        </p:nvSpPr>
        <p:spPr>
          <a:xfrm>
            <a:off x="2333927" y="4855464"/>
            <a:ext cx="928063" cy="274320"/>
          </a:xfrm>
          <a:prstGeom prst="rect">
            <a:avLst/>
          </a:prstGeom>
          <a:noFill/>
        </p:spPr>
        <p:txBody>
          <a:bodyPr wrap="square" lIns="0" rIns="0" tIns="0" bIns="0" anchor="t">
            <a:spAutoFit/>
          </a:bodyPr>
          <a:lstStyle/>
          <a:p>
            <a:pPr algn="r"/>
            <a:r>
              <a:rPr sz="1000" b="0">
                <a:solidFill>
                  <a:srgbClr val="111111"/>
                </a:solidFill>
                <a:latin typeface="Calibri"/>
              </a:rPr>
              <a:t>65</a:t>
            </a:r>
          </a:p>
        </p:txBody>
      </p:sp>
      <p:sp>
        <p:nvSpPr>
          <p:cNvPr id="63" name="TextBox 62"/>
          <p:cNvSpPr txBox="1"/>
          <p:nvPr/>
        </p:nvSpPr>
        <p:spPr>
          <a:xfrm>
            <a:off x="3444870" y="4855464"/>
            <a:ext cx="1007416" cy="274320"/>
          </a:xfrm>
          <a:prstGeom prst="rect">
            <a:avLst/>
          </a:prstGeom>
          <a:noFill/>
        </p:spPr>
        <p:txBody>
          <a:bodyPr wrap="square" lIns="0" rIns="0" tIns="0" bIns="0" anchor="t">
            <a:spAutoFit/>
          </a:bodyPr>
          <a:lstStyle/>
          <a:p>
            <a:pPr algn="r"/>
            <a:r>
              <a:rPr sz="1000" b="0">
                <a:solidFill>
                  <a:srgbClr val="111111"/>
                </a:solidFill>
                <a:latin typeface="Calibri"/>
              </a:rPr>
              <a:t>62</a:t>
            </a:r>
          </a:p>
        </p:txBody>
      </p:sp>
      <p:sp>
        <p:nvSpPr>
          <p:cNvPr id="64" name="TextBox 63"/>
          <p:cNvSpPr txBox="1"/>
          <p:nvPr/>
        </p:nvSpPr>
        <p:spPr>
          <a:xfrm>
            <a:off x="4635166" y="4855464"/>
            <a:ext cx="769357" cy="274320"/>
          </a:xfrm>
          <a:prstGeom prst="rect">
            <a:avLst/>
          </a:prstGeom>
          <a:noFill/>
        </p:spPr>
        <p:txBody>
          <a:bodyPr wrap="square" lIns="0" rIns="0" tIns="0" bIns="0" anchor="t">
            <a:spAutoFit/>
          </a:bodyPr>
          <a:lstStyle/>
          <a:p>
            <a:pPr algn="r"/>
            <a:r>
              <a:rPr sz="1000" b="0">
                <a:solidFill>
                  <a:srgbClr val="111111"/>
                </a:solidFill>
                <a:latin typeface="Calibri"/>
              </a:rPr>
              <a:t>61</a:t>
            </a:r>
          </a:p>
        </p:txBody>
      </p:sp>
      <p:sp>
        <p:nvSpPr>
          <p:cNvPr id="65" name="TextBox 64"/>
          <p:cNvSpPr txBox="1"/>
          <p:nvPr/>
        </p:nvSpPr>
        <p:spPr>
          <a:xfrm>
            <a:off x="5587403" y="4855464"/>
            <a:ext cx="769357" cy="274320"/>
          </a:xfrm>
          <a:prstGeom prst="rect">
            <a:avLst/>
          </a:prstGeom>
          <a:noFill/>
        </p:spPr>
        <p:txBody>
          <a:bodyPr wrap="square" lIns="0" rIns="0" tIns="0" bIns="0" anchor="t">
            <a:spAutoFit/>
          </a:bodyPr>
          <a:lstStyle/>
          <a:p>
            <a:pPr algn="r"/>
            <a:r>
              <a:rPr sz="1000" b="0">
                <a:solidFill>
                  <a:srgbClr val="111111"/>
                </a:solidFill>
                <a:latin typeface="Calibri"/>
              </a:rPr>
              <a:t>1</a:t>
            </a:r>
          </a:p>
        </p:txBody>
      </p:sp>
      <p:sp>
        <p:nvSpPr>
          <p:cNvPr id="66" name="TextBox 65"/>
          <p:cNvSpPr txBox="1"/>
          <p:nvPr/>
        </p:nvSpPr>
        <p:spPr>
          <a:xfrm>
            <a:off x="6539640" y="4855464"/>
            <a:ext cx="848710" cy="274320"/>
          </a:xfrm>
          <a:prstGeom prst="rect">
            <a:avLst/>
          </a:prstGeom>
          <a:noFill/>
        </p:spPr>
        <p:txBody>
          <a:bodyPr wrap="square" lIns="0" rIns="0" tIns="0" bIns="0" anchor="t">
            <a:spAutoFit/>
          </a:bodyPr>
          <a:lstStyle/>
          <a:p>
            <a:pPr algn="r"/>
            <a:r>
              <a:rPr sz="1000" b="0">
                <a:solidFill>
                  <a:srgbClr val="2E7D32"/>
                </a:solidFill>
                <a:latin typeface="Calibri"/>
              </a:rPr>
              <a:t>94%</a:t>
            </a:r>
          </a:p>
        </p:txBody>
      </p:sp>
      <p:sp>
        <p:nvSpPr>
          <p:cNvPr id="67" name="Rectangle 66"/>
          <p:cNvSpPr/>
          <p:nvPr/>
        </p:nvSpPr>
        <p:spPr>
          <a:xfrm>
            <a:off x="566928" y="5065776"/>
            <a:ext cx="6903720" cy="2743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66928" y="534009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67512" y="5129784"/>
            <a:ext cx="1483535" cy="274320"/>
          </a:xfrm>
          <a:prstGeom prst="rect">
            <a:avLst/>
          </a:prstGeom>
          <a:noFill/>
        </p:spPr>
        <p:txBody>
          <a:bodyPr wrap="square" lIns="0" rIns="0" tIns="0" bIns="0" anchor="t">
            <a:spAutoFit/>
          </a:bodyPr>
          <a:lstStyle/>
          <a:p>
            <a:pPr algn="l"/>
            <a:r>
              <a:rPr sz="1000" b="1">
                <a:solidFill>
                  <a:srgbClr val="111111"/>
                </a:solidFill>
                <a:latin typeface="Calibri"/>
              </a:rPr>
              <a:t>AMC</a:t>
            </a:r>
          </a:p>
        </p:txBody>
      </p:sp>
      <p:sp>
        <p:nvSpPr>
          <p:cNvPr id="70" name="TextBox 69"/>
          <p:cNvSpPr txBox="1"/>
          <p:nvPr/>
        </p:nvSpPr>
        <p:spPr>
          <a:xfrm>
            <a:off x="2333927" y="5129784"/>
            <a:ext cx="928063" cy="274320"/>
          </a:xfrm>
          <a:prstGeom prst="rect">
            <a:avLst/>
          </a:prstGeom>
          <a:noFill/>
        </p:spPr>
        <p:txBody>
          <a:bodyPr wrap="square" lIns="0" rIns="0" tIns="0" bIns="0" anchor="t">
            <a:spAutoFit/>
          </a:bodyPr>
          <a:lstStyle/>
          <a:p>
            <a:pPr algn="r"/>
            <a:r>
              <a:rPr sz="1000" b="0">
                <a:solidFill>
                  <a:srgbClr val="111111"/>
                </a:solidFill>
                <a:latin typeface="Calibri"/>
              </a:rPr>
              <a:t>61</a:t>
            </a:r>
          </a:p>
        </p:txBody>
      </p:sp>
      <p:sp>
        <p:nvSpPr>
          <p:cNvPr id="71" name="TextBox 70"/>
          <p:cNvSpPr txBox="1"/>
          <p:nvPr/>
        </p:nvSpPr>
        <p:spPr>
          <a:xfrm>
            <a:off x="3444870" y="5129784"/>
            <a:ext cx="1007416" cy="274320"/>
          </a:xfrm>
          <a:prstGeom prst="rect">
            <a:avLst/>
          </a:prstGeom>
          <a:noFill/>
        </p:spPr>
        <p:txBody>
          <a:bodyPr wrap="square" lIns="0" rIns="0" tIns="0" bIns="0" anchor="t">
            <a:spAutoFit/>
          </a:bodyPr>
          <a:lstStyle/>
          <a:p>
            <a:pPr algn="r"/>
            <a:r>
              <a:rPr sz="1000" b="0">
                <a:solidFill>
                  <a:srgbClr val="111111"/>
                </a:solidFill>
                <a:latin typeface="Calibri"/>
              </a:rPr>
              <a:t>55</a:t>
            </a:r>
          </a:p>
        </p:txBody>
      </p:sp>
      <p:sp>
        <p:nvSpPr>
          <p:cNvPr id="72" name="TextBox 71"/>
          <p:cNvSpPr txBox="1"/>
          <p:nvPr/>
        </p:nvSpPr>
        <p:spPr>
          <a:xfrm>
            <a:off x="4635166" y="5129784"/>
            <a:ext cx="769357" cy="274320"/>
          </a:xfrm>
          <a:prstGeom prst="rect">
            <a:avLst/>
          </a:prstGeom>
          <a:noFill/>
        </p:spPr>
        <p:txBody>
          <a:bodyPr wrap="square" lIns="0" rIns="0" tIns="0" bIns="0" anchor="t">
            <a:spAutoFit/>
          </a:bodyPr>
          <a:lstStyle/>
          <a:p>
            <a:pPr algn="r"/>
            <a:r>
              <a:rPr sz="1000" b="0">
                <a:solidFill>
                  <a:srgbClr val="111111"/>
                </a:solidFill>
                <a:latin typeface="Calibri"/>
              </a:rPr>
              <a:t>42</a:t>
            </a:r>
          </a:p>
        </p:txBody>
      </p:sp>
      <p:sp>
        <p:nvSpPr>
          <p:cNvPr id="73" name="TextBox 72"/>
          <p:cNvSpPr txBox="1"/>
          <p:nvPr/>
        </p:nvSpPr>
        <p:spPr>
          <a:xfrm>
            <a:off x="5587403" y="5129784"/>
            <a:ext cx="769357" cy="274320"/>
          </a:xfrm>
          <a:prstGeom prst="rect">
            <a:avLst/>
          </a:prstGeom>
          <a:noFill/>
        </p:spPr>
        <p:txBody>
          <a:bodyPr wrap="square" lIns="0" rIns="0" tIns="0" bIns="0" anchor="t">
            <a:spAutoFit/>
          </a:bodyPr>
          <a:lstStyle/>
          <a:p>
            <a:pPr algn="r"/>
            <a:r>
              <a:rPr sz="1000" b="0">
                <a:solidFill>
                  <a:srgbClr val="111111"/>
                </a:solidFill>
                <a:latin typeface="Calibri"/>
              </a:rPr>
              <a:t>13</a:t>
            </a:r>
          </a:p>
        </p:txBody>
      </p:sp>
      <p:sp>
        <p:nvSpPr>
          <p:cNvPr id="74" name="TextBox 73"/>
          <p:cNvSpPr txBox="1"/>
          <p:nvPr/>
        </p:nvSpPr>
        <p:spPr>
          <a:xfrm>
            <a:off x="6539640" y="5129784"/>
            <a:ext cx="848710" cy="274320"/>
          </a:xfrm>
          <a:prstGeom prst="rect">
            <a:avLst/>
          </a:prstGeom>
          <a:noFill/>
        </p:spPr>
        <p:txBody>
          <a:bodyPr wrap="square" lIns="0" rIns="0" tIns="0" bIns="0" anchor="t">
            <a:spAutoFit/>
          </a:bodyPr>
          <a:lstStyle/>
          <a:p>
            <a:pPr algn="r"/>
            <a:r>
              <a:rPr sz="1000" b="0">
                <a:solidFill>
                  <a:srgbClr val="2E7D32"/>
                </a:solidFill>
                <a:latin typeface="Calibri"/>
              </a:rPr>
              <a:t>69%</a:t>
            </a:r>
          </a:p>
        </p:txBody>
      </p:sp>
      <p:sp>
        <p:nvSpPr>
          <p:cNvPr id="75" name="Rectangle 74"/>
          <p:cNvSpPr/>
          <p:nvPr/>
        </p:nvSpPr>
        <p:spPr>
          <a:xfrm>
            <a:off x="566928" y="5340096"/>
            <a:ext cx="690372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566928" y="561441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67512" y="5404104"/>
            <a:ext cx="1483535" cy="274320"/>
          </a:xfrm>
          <a:prstGeom prst="rect">
            <a:avLst/>
          </a:prstGeom>
          <a:noFill/>
        </p:spPr>
        <p:txBody>
          <a:bodyPr wrap="square" lIns="0" rIns="0" tIns="0" bIns="0" anchor="t">
            <a:spAutoFit/>
          </a:bodyPr>
          <a:lstStyle/>
          <a:p>
            <a:pPr algn="l"/>
            <a:r>
              <a:rPr sz="1000" b="1">
                <a:solidFill>
                  <a:srgbClr val="111111"/>
                </a:solidFill>
                <a:latin typeface="Calibri"/>
              </a:rPr>
              <a:t>Likas Square</a:t>
            </a:r>
          </a:p>
        </p:txBody>
      </p:sp>
      <p:sp>
        <p:nvSpPr>
          <p:cNvPr id="78" name="TextBox 77"/>
          <p:cNvSpPr txBox="1"/>
          <p:nvPr/>
        </p:nvSpPr>
        <p:spPr>
          <a:xfrm>
            <a:off x="2333927" y="5404104"/>
            <a:ext cx="928063" cy="274320"/>
          </a:xfrm>
          <a:prstGeom prst="rect">
            <a:avLst/>
          </a:prstGeom>
          <a:noFill/>
        </p:spPr>
        <p:txBody>
          <a:bodyPr wrap="square" lIns="0" rIns="0" tIns="0" bIns="0" anchor="t">
            <a:spAutoFit/>
          </a:bodyPr>
          <a:lstStyle/>
          <a:p>
            <a:pPr algn="r"/>
            <a:r>
              <a:rPr sz="1000" b="0">
                <a:solidFill>
                  <a:srgbClr val="111111"/>
                </a:solidFill>
                <a:latin typeface="Calibri"/>
              </a:rPr>
              <a:t>51</a:t>
            </a:r>
          </a:p>
        </p:txBody>
      </p:sp>
      <p:sp>
        <p:nvSpPr>
          <p:cNvPr id="79" name="TextBox 78"/>
          <p:cNvSpPr txBox="1"/>
          <p:nvPr/>
        </p:nvSpPr>
        <p:spPr>
          <a:xfrm>
            <a:off x="3444870" y="5404104"/>
            <a:ext cx="1007416" cy="274320"/>
          </a:xfrm>
          <a:prstGeom prst="rect">
            <a:avLst/>
          </a:prstGeom>
          <a:noFill/>
        </p:spPr>
        <p:txBody>
          <a:bodyPr wrap="square" lIns="0" rIns="0" tIns="0" bIns="0" anchor="t">
            <a:spAutoFit/>
          </a:bodyPr>
          <a:lstStyle/>
          <a:p>
            <a:pPr algn="r"/>
            <a:r>
              <a:rPr sz="1000" b="0">
                <a:solidFill>
                  <a:srgbClr val="111111"/>
                </a:solidFill>
                <a:latin typeface="Calibri"/>
              </a:rPr>
              <a:t>40</a:t>
            </a:r>
          </a:p>
        </p:txBody>
      </p:sp>
      <p:sp>
        <p:nvSpPr>
          <p:cNvPr id="80" name="TextBox 79"/>
          <p:cNvSpPr txBox="1"/>
          <p:nvPr/>
        </p:nvSpPr>
        <p:spPr>
          <a:xfrm>
            <a:off x="4635166" y="5404104"/>
            <a:ext cx="769357" cy="274320"/>
          </a:xfrm>
          <a:prstGeom prst="rect">
            <a:avLst/>
          </a:prstGeom>
          <a:noFill/>
        </p:spPr>
        <p:txBody>
          <a:bodyPr wrap="square" lIns="0" rIns="0" tIns="0" bIns="0" anchor="t">
            <a:spAutoFit/>
          </a:bodyPr>
          <a:lstStyle/>
          <a:p>
            <a:pPr algn="r"/>
            <a:r>
              <a:rPr sz="1000" b="0">
                <a:solidFill>
                  <a:srgbClr val="111111"/>
                </a:solidFill>
                <a:latin typeface="Calibri"/>
              </a:rPr>
              <a:t>5</a:t>
            </a:r>
          </a:p>
        </p:txBody>
      </p:sp>
      <p:sp>
        <p:nvSpPr>
          <p:cNvPr id="81" name="TextBox 80"/>
          <p:cNvSpPr txBox="1"/>
          <p:nvPr/>
        </p:nvSpPr>
        <p:spPr>
          <a:xfrm>
            <a:off x="5587403" y="5404104"/>
            <a:ext cx="769357" cy="274320"/>
          </a:xfrm>
          <a:prstGeom prst="rect">
            <a:avLst/>
          </a:prstGeom>
          <a:noFill/>
        </p:spPr>
        <p:txBody>
          <a:bodyPr wrap="square" lIns="0" rIns="0" tIns="0" bIns="0" anchor="t">
            <a:spAutoFit/>
          </a:bodyPr>
          <a:lstStyle/>
          <a:p>
            <a:pPr algn="r"/>
            <a:r>
              <a:rPr sz="1000" b="0">
                <a:solidFill>
                  <a:srgbClr val="111111"/>
                </a:solidFill>
                <a:latin typeface="Calibri"/>
              </a:rPr>
              <a:t>32</a:t>
            </a:r>
          </a:p>
        </p:txBody>
      </p:sp>
      <p:sp>
        <p:nvSpPr>
          <p:cNvPr id="82" name="TextBox 81"/>
          <p:cNvSpPr txBox="1"/>
          <p:nvPr/>
        </p:nvSpPr>
        <p:spPr>
          <a:xfrm>
            <a:off x="6539640" y="5404104"/>
            <a:ext cx="848710" cy="274320"/>
          </a:xfrm>
          <a:prstGeom prst="rect">
            <a:avLst/>
          </a:prstGeom>
          <a:noFill/>
        </p:spPr>
        <p:txBody>
          <a:bodyPr wrap="square" lIns="0" rIns="0" tIns="0" bIns="0" anchor="t">
            <a:spAutoFit/>
          </a:bodyPr>
          <a:lstStyle/>
          <a:p>
            <a:pPr algn="r"/>
            <a:r>
              <a:rPr sz="1000" b="0">
                <a:solidFill>
                  <a:srgbClr val="C62828"/>
                </a:solidFill>
                <a:latin typeface="Calibri"/>
              </a:rPr>
              <a:t>10%</a:t>
            </a:r>
          </a:p>
        </p:txBody>
      </p:sp>
      <p:sp>
        <p:nvSpPr>
          <p:cNvPr id="83" name="Rectangle 82"/>
          <p:cNvSpPr/>
          <p:nvPr/>
        </p:nvSpPr>
        <p:spPr>
          <a:xfrm>
            <a:off x="566928" y="5614416"/>
            <a:ext cx="6903720" cy="2743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66928" y="588873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67512" y="5678424"/>
            <a:ext cx="1483535" cy="274320"/>
          </a:xfrm>
          <a:prstGeom prst="rect">
            <a:avLst/>
          </a:prstGeom>
          <a:noFill/>
        </p:spPr>
        <p:txBody>
          <a:bodyPr wrap="square" lIns="0" rIns="0" tIns="0" bIns="0" anchor="t">
            <a:spAutoFit/>
          </a:bodyPr>
          <a:lstStyle/>
          <a:p>
            <a:pPr algn="l"/>
            <a:r>
              <a:rPr sz="1000" b="1">
                <a:solidFill>
                  <a:srgbClr val="111111"/>
                </a:solidFill>
                <a:latin typeface="Calibri"/>
              </a:rPr>
              <a:t>Trillium</a:t>
            </a:r>
          </a:p>
        </p:txBody>
      </p:sp>
      <p:sp>
        <p:nvSpPr>
          <p:cNvPr id="86" name="TextBox 85"/>
          <p:cNvSpPr txBox="1"/>
          <p:nvPr/>
        </p:nvSpPr>
        <p:spPr>
          <a:xfrm>
            <a:off x="2333927" y="5678424"/>
            <a:ext cx="928063" cy="274320"/>
          </a:xfrm>
          <a:prstGeom prst="rect">
            <a:avLst/>
          </a:prstGeom>
          <a:noFill/>
        </p:spPr>
        <p:txBody>
          <a:bodyPr wrap="square" lIns="0" rIns="0" tIns="0" bIns="0" anchor="t">
            <a:spAutoFit/>
          </a:bodyPr>
          <a:lstStyle/>
          <a:p>
            <a:pPr algn="r"/>
            <a:r>
              <a:rPr sz="1000" b="0">
                <a:solidFill>
                  <a:srgbClr val="111111"/>
                </a:solidFill>
                <a:latin typeface="Calibri"/>
              </a:rPr>
              <a:t>20</a:t>
            </a:r>
          </a:p>
        </p:txBody>
      </p:sp>
      <p:sp>
        <p:nvSpPr>
          <p:cNvPr id="87" name="TextBox 86"/>
          <p:cNvSpPr txBox="1"/>
          <p:nvPr/>
        </p:nvSpPr>
        <p:spPr>
          <a:xfrm>
            <a:off x="3444870" y="5678424"/>
            <a:ext cx="1007416" cy="274320"/>
          </a:xfrm>
          <a:prstGeom prst="rect">
            <a:avLst/>
          </a:prstGeom>
          <a:noFill/>
        </p:spPr>
        <p:txBody>
          <a:bodyPr wrap="square" lIns="0" rIns="0" tIns="0" bIns="0" anchor="t">
            <a:spAutoFit/>
          </a:bodyPr>
          <a:lstStyle/>
          <a:p>
            <a:pPr algn="r"/>
            <a:r>
              <a:rPr sz="1000" b="0">
                <a:solidFill>
                  <a:srgbClr val="111111"/>
                </a:solidFill>
                <a:latin typeface="Calibri"/>
              </a:rPr>
              <a:t>14</a:t>
            </a:r>
          </a:p>
        </p:txBody>
      </p:sp>
      <p:sp>
        <p:nvSpPr>
          <p:cNvPr id="88" name="TextBox 87"/>
          <p:cNvSpPr txBox="1"/>
          <p:nvPr/>
        </p:nvSpPr>
        <p:spPr>
          <a:xfrm>
            <a:off x="4635166" y="5678424"/>
            <a:ext cx="769357" cy="274320"/>
          </a:xfrm>
          <a:prstGeom prst="rect">
            <a:avLst/>
          </a:prstGeom>
          <a:noFill/>
        </p:spPr>
        <p:txBody>
          <a:bodyPr wrap="square" lIns="0" rIns="0" tIns="0" bIns="0" anchor="t">
            <a:spAutoFit/>
          </a:bodyPr>
          <a:lstStyle/>
          <a:p>
            <a:pPr algn="r"/>
            <a:r>
              <a:rPr sz="1000" b="0">
                <a:solidFill>
                  <a:srgbClr val="111111"/>
                </a:solidFill>
                <a:latin typeface="Calibri"/>
              </a:rPr>
              <a:t>14</a:t>
            </a:r>
          </a:p>
        </p:txBody>
      </p:sp>
      <p:sp>
        <p:nvSpPr>
          <p:cNvPr id="89" name="TextBox 88"/>
          <p:cNvSpPr txBox="1"/>
          <p:nvPr/>
        </p:nvSpPr>
        <p:spPr>
          <a:xfrm>
            <a:off x="5587403" y="5678424"/>
            <a:ext cx="769357" cy="274320"/>
          </a:xfrm>
          <a:prstGeom prst="rect">
            <a:avLst/>
          </a:prstGeom>
          <a:noFill/>
        </p:spPr>
        <p:txBody>
          <a:bodyPr wrap="square" lIns="0" rIns="0" tIns="0" bIns="0" anchor="t">
            <a:spAutoFit/>
          </a:bodyPr>
          <a:lstStyle/>
          <a:p>
            <a:pPr algn="r"/>
            <a:r>
              <a:rPr sz="1000" b="0">
                <a:solidFill>
                  <a:srgbClr val="111111"/>
                </a:solidFill>
                <a:latin typeface="Calibri"/>
              </a:rPr>
              <a:t>—</a:t>
            </a:r>
          </a:p>
        </p:txBody>
      </p:sp>
      <p:sp>
        <p:nvSpPr>
          <p:cNvPr id="90" name="TextBox 89"/>
          <p:cNvSpPr txBox="1"/>
          <p:nvPr/>
        </p:nvSpPr>
        <p:spPr>
          <a:xfrm>
            <a:off x="6539640" y="5678424"/>
            <a:ext cx="848710" cy="274320"/>
          </a:xfrm>
          <a:prstGeom prst="rect">
            <a:avLst/>
          </a:prstGeom>
          <a:noFill/>
        </p:spPr>
        <p:txBody>
          <a:bodyPr wrap="square" lIns="0" rIns="0" tIns="0" bIns="0" anchor="t">
            <a:spAutoFit/>
          </a:bodyPr>
          <a:lstStyle/>
          <a:p>
            <a:pPr algn="r"/>
            <a:r>
              <a:rPr sz="1000" b="0">
                <a:solidFill>
                  <a:srgbClr val="2E7D32"/>
                </a:solidFill>
                <a:latin typeface="Calibri"/>
              </a:rPr>
              <a:t>70%</a:t>
            </a:r>
          </a:p>
        </p:txBody>
      </p:sp>
      <p:sp>
        <p:nvSpPr>
          <p:cNvPr id="91" name="Rectangle 90"/>
          <p:cNvSpPr/>
          <p:nvPr/>
        </p:nvSpPr>
        <p:spPr>
          <a:xfrm>
            <a:off x="566928" y="5888736"/>
            <a:ext cx="6903720" cy="274320"/>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566928" y="616305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67512" y="5952744"/>
            <a:ext cx="1483535" cy="274320"/>
          </a:xfrm>
          <a:prstGeom prst="rect">
            <a:avLst/>
          </a:prstGeom>
          <a:noFill/>
        </p:spPr>
        <p:txBody>
          <a:bodyPr wrap="square" lIns="0" rIns="0" tIns="0" bIns="0" anchor="t">
            <a:spAutoFit/>
          </a:bodyPr>
          <a:lstStyle/>
          <a:p>
            <a:pPr algn="l"/>
            <a:r>
              <a:rPr sz="1000" b="1">
                <a:solidFill>
                  <a:srgbClr val="1E2761"/>
                </a:solidFill>
                <a:latin typeface="Calibri"/>
              </a:rPr>
              <a:t>Total</a:t>
            </a:r>
          </a:p>
        </p:txBody>
      </p:sp>
      <p:sp>
        <p:nvSpPr>
          <p:cNvPr id="94" name="TextBox 93"/>
          <p:cNvSpPr txBox="1"/>
          <p:nvPr/>
        </p:nvSpPr>
        <p:spPr>
          <a:xfrm>
            <a:off x="2333927" y="5952744"/>
            <a:ext cx="928063" cy="274320"/>
          </a:xfrm>
          <a:prstGeom prst="rect">
            <a:avLst/>
          </a:prstGeom>
          <a:noFill/>
        </p:spPr>
        <p:txBody>
          <a:bodyPr wrap="square" lIns="0" rIns="0" tIns="0" bIns="0" anchor="t">
            <a:spAutoFit/>
          </a:bodyPr>
          <a:lstStyle/>
          <a:p>
            <a:pPr algn="r"/>
            <a:r>
              <a:rPr sz="1000" b="1">
                <a:solidFill>
                  <a:srgbClr val="1E2761"/>
                </a:solidFill>
                <a:latin typeface="Calibri"/>
              </a:rPr>
              <a:t>1,670</a:t>
            </a:r>
          </a:p>
        </p:txBody>
      </p:sp>
      <p:sp>
        <p:nvSpPr>
          <p:cNvPr id="95" name="TextBox 94"/>
          <p:cNvSpPr txBox="1"/>
          <p:nvPr/>
        </p:nvSpPr>
        <p:spPr>
          <a:xfrm>
            <a:off x="3444870" y="5952744"/>
            <a:ext cx="1007416" cy="274320"/>
          </a:xfrm>
          <a:prstGeom prst="rect">
            <a:avLst/>
          </a:prstGeom>
          <a:noFill/>
        </p:spPr>
        <p:txBody>
          <a:bodyPr wrap="square" lIns="0" rIns="0" tIns="0" bIns="0" anchor="t">
            <a:spAutoFit/>
          </a:bodyPr>
          <a:lstStyle/>
          <a:p>
            <a:pPr algn="r"/>
            <a:r>
              <a:rPr sz="1000" b="1">
                <a:solidFill>
                  <a:srgbClr val="1E2761"/>
                </a:solidFill>
                <a:latin typeface="Calibri"/>
              </a:rPr>
              <a:t>1,013</a:t>
            </a:r>
          </a:p>
        </p:txBody>
      </p:sp>
      <p:sp>
        <p:nvSpPr>
          <p:cNvPr id="96" name="TextBox 95"/>
          <p:cNvSpPr txBox="1"/>
          <p:nvPr/>
        </p:nvSpPr>
        <p:spPr>
          <a:xfrm>
            <a:off x="4635166" y="5952744"/>
            <a:ext cx="769357" cy="274320"/>
          </a:xfrm>
          <a:prstGeom prst="rect">
            <a:avLst/>
          </a:prstGeom>
          <a:noFill/>
        </p:spPr>
        <p:txBody>
          <a:bodyPr wrap="square" lIns="0" rIns="0" tIns="0" bIns="0" anchor="t">
            <a:spAutoFit/>
          </a:bodyPr>
          <a:lstStyle/>
          <a:p>
            <a:pPr algn="r"/>
            <a:r>
              <a:rPr sz="1000" b="1">
                <a:solidFill>
                  <a:srgbClr val="1E2761"/>
                </a:solidFill>
                <a:latin typeface="Calibri"/>
              </a:rPr>
              <a:t>924</a:t>
            </a:r>
          </a:p>
        </p:txBody>
      </p:sp>
      <p:sp>
        <p:nvSpPr>
          <p:cNvPr id="97" name="TextBox 96"/>
          <p:cNvSpPr txBox="1"/>
          <p:nvPr/>
        </p:nvSpPr>
        <p:spPr>
          <a:xfrm>
            <a:off x="5587403" y="5952744"/>
            <a:ext cx="769357" cy="274320"/>
          </a:xfrm>
          <a:prstGeom prst="rect">
            <a:avLst/>
          </a:prstGeom>
          <a:noFill/>
        </p:spPr>
        <p:txBody>
          <a:bodyPr wrap="square" lIns="0" rIns="0" tIns="0" bIns="0" anchor="t">
            <a:spAutoFit/>
          </a:bodyPr>
          <a:lstStyle/>
          <a:p>
            <a:pPr algn="r"/>
            <a:r>
              <a:rPr sz="1000" b="1">
                <a:solidFill>
                  <a:srgbClr val="1E2761"/>
                </a:solidFill>
                <a:latin typeface="Calibri"/>
              </a:rPr>
              <a:t>83</a:t>
            </a:r>
          </a:p>
        </p:txBody>
      </p:sp>
      <p:sp>
        <p:nvSpPr>
          <p:cNvPr id="98" name="TextBox 97"/>
          <p:cNvSpPr txBox="1"/>
          <p:nvPr/>
        </p:nvSpPr>
        <p:spPr>
          <a:xfrm>
            <a:off x="6539640" y="5952744"/>
            <a:ext cx="848710" cy="274320"/>
          </a:xfrm>
          <a:prstGeom prst="rect">
            <a:avLst/>
          </a:prstGeom>
          <a:noFill/>
        </p:spPr>
        <p:txBody>
          <a:bodyPr wrap="square" lIns="0" rIns="0" tIns="0" bIns="0" anchor="t">
            <a:spAutoFit/>
          </a:bodyPr>
          <a:lstStyle/>
          <a:p>
            <a:pPr algn="r"/>
            <a:r>
              <a:rPr sz="1000" b="1">
                <a:solidFill>
                  <a:srgbClr val="1E2761"/>
                </a:solidFill>
                <a:latin typeface="Calibri"/>
              </a:rPr>
              <a:t>55%</a:t>
            </a:r>
          </a:p>
        </p:txBody>
      </p:sp>
      <p:sp>
        <p:nvSpPr>
          <p:cNvPr id="99" name="Rectangle 98"/>
          <p:cNvSpPr/>
          <p:nvPr/>
        </p:nvSpPr>
        <p:spPr>
          <a:xfrm>
            <a:off x="7790688" y="3639312"/>
            <a:ext cx="3840480" cy="120700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790688" y="3639312"/>
            <a:ext cx="50292" cy="1207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010144" y="3776472"/>
            <a:ext cx="3429000" cy="274320"/>
          </a:xfrm>
          <a:prstGeom prst="rect">
            <a:avLst/>
          </a:prstGeom>
          <a:noFill/>
        </p:spPr>
        <p:txBody>
          <a:bodyPr wrap="square" lIns="0" rIns="0" tIns="0" bIns="0" anchor="t">
            <a:spAutoFit/>
          </a:bodyPr>
          <a:lstStyle/>
          <a:p>
            <a:pPr algn="l"/>
            <a:r>
              <a:rPr sz="1150" b="1">
                <a:solidFill>
                  <a:srgbClr val="2E7D32"/>
                </a:solidFill>
                <a:latin typeface="Calibri"/>
              </a:rPr>
              <a:t>The worker backlog is gone</a:t>
            </a:r>
          </a:p>
        </p:txBody>
      </p:sp>
      <p:sp>
        <p:nvSpPr>
          <p:cNvPr id="102" name="TextBox 101"/>
          <p:cNvSpPr txBox="1"/>
          <p:nvPr/>
        </p:nvSpPr>
        <p:spPr>
          <a:xfrm>
            <a:off x="8010144" y="4078224"/>
            <a:ext cx="3429000" cy="676656"/>
          </a:xfrm>
          <a:prstGeom prst="rect">
            <a:avLst/>
          </a:prstGeom>
          <a:noFill/>
        </p:spPr>
        <p:txBody>
          <a:bodyPr wrap="square" lIns="0" rIns="0" tIns="0" bIns="0" anchor="t">
            <a:spAutoFit/>
          </a:bodyPr>
          <a:lstStyle/>
          <a:p>
            <a:pPr algn="l">
              <a:lnSpc>
                <a:spcPct val="120000"/>
              </a:lnSpc>
            </a:pPr>
            <a:r>
              <a:rPr sz="1050" b="0">
                <a:solidFill>
                  <a:srgbClr val="333B52"/>
                </a:solidFill>
                <a:latin typeface="Calibri"/>
              </a:rPr>
              <a:t>All 326 of Globinaco's general worker specs are approved. They were the group's whole backlog at the last review.</a:t>
            </a:r>
          </a:p>
        </p:txBody>
      </p:sp>
      <p:sp>
        <p:nvSpPr>
          <p:cNvPr id="103" name="Rectangle 102"/>
          <p:cNvSpPr/>
          <p:nvPr/>
        </p:nvSpPr>
        <p:spPr>
          <a:xfrm>
            <a:off x="7790688" y="4992624"/>
            <a:ext cx="3840480" cy="120700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7790688" y="4992624"/>
            <a:ext cx="50292" cy="120700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010144" y="5129784"/>
            <a:ext cx="3429000" cy="274320"/>
          </a:xfrm>
          <a:prstGeom prst="rect">
            <a:avLst/>
          </a:prstGeom>
          <a:noFill/>
        </p:spPr>
        <p:txBody>
          <a:bodyPr wrap="square" lIns="0" rIns="0" tIns="0" bIns="0" anchor="t">
            <a:spAutoFit/>
          </a:bodyPr>
          <a:lstStyle/>
          <a:p>
            <a:pPr algn="l"/>
            <a:r>
              <a:rPr sz="1150" b="1">
                <a:solidFill>
                  <a:srgbClr val="C62828"/>
                </a:solidFill>
                <a:latin typeface="Calibri"/>
              </a:rPr>
              <a:t>Arus Sawit has not started</a:t>
            </a:r>
          </a:p>
        </p:txBody>
      </p:sp>
      <p:sp>
        <p:nvSpPr>
          <p:cNvPr id="106" name="TextBox 105"/>
          <p:cNvSpPr txBox="1"/>
          <p:nvPr/>
        </p:nvSpPr>
        <p:spPr>
          <a:xfrm>
            <a:off x="8010144" y="5431536"/>
            <a:ext cx="3429000" cy="676656"/>
          </a:xfrm>
          <a:prstGeom prst="rect">
            <a:avLst/>
          </a:prstGeom>
          <a:noFill/>
        </p:spPr>
        <p:txBody>
          <a:bodyPr wrap="square" lIns="0" rIns="0" tIns="0" bIns="0" anchor="t">
            <a:spAutoFit/>
          </a:bodyPr>
          <a:lstStyle/>
          <a:p>
            <a:pPr algn="l">
              <a:lnSpc>
                <a:spcPct val="120000"/>
              </a:lnSpc>
            </a:pPr>
            <a:r>
              <a:rPr sz="1050" b="0">
                <a:solidFill>
                  <a:srgbClr val="333B52"/>
                </a:solidFill>
                <a:latin typeface="Calibri"/>
              </a:rPr>
              <a:t>Its 585 general workers have no job spec on file at all, which is why it reads 9% against a staff rate of 79%.</a:t>
            </a:r>
          </a:p>
        </p:txBody>
      </p:sp>
      <p:sp>
        <p:nvSpPr>
          <p:cNvPr id="107" name="TextBox 106"/>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Job spec versions counted only for people in the staff pool, so these figures tally with the headcount slides. Approved % is of total staff, not of versions on file: a person with no job spec counts against their company.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3 · BY COMPANY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Job Specs — By Company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Approved job specs as a share of everyone on the books at that company.</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45920"/>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Globinaco</a:t>
            </a:r>
          </a:p>
        </p:txBody>
      </p:sp>
      <p:sp>
        <p:nvSpPr>
          <p:cNvPr id="11" name="TextBox 10"/>
          <p:cNvSpPr txBox="1"/>
          <p:nvPr/>
        </p:nvSpPr>
        <p:spPr>
          <a:xfrm>
            <a:off x="749808" y="2039112"/>
            <a:ext cx="1463040" cy="457200"/>
          </a:xfrm>
          <a:prstGeom prst="rect">
            <a:avLst/>
          </a:prstGeom>
          <a:noFill/>
        </p:spPr>
        <p:txBody>
          <a:bodyPr wrap="square" lIns="0" rIns="0" tIns="0" bIns="0" anchor="t">
            <a:spAutoFit/>
          </a:bodyPr>
          <a:lstStyle/>
          <a:p>
            <a:pPr algn="l"/>
            <a:r>
              <a:rPr sz="2400" b="1">
                <a:solidFill>
                  <a:srgbClr val="2E7D32"/>
                </a:solidFill>
                <a:latin typeface="Cambria"/>
              </a:rPr>
              <a:t>91%</a:t>
            </a:r>
          </a:p>
        </p:txBody>
      </p:sp>
      <p:sp>
        <p:nvSpPr>
          <p:cNvPr id="12" name="TextBox 11"/>
          <p:cNvSpPr txBox="1"/>
          <p:nvPr/>
        </p:nvSpPr>
        <p:spPr>
          <a:xfrm>
            <a:off x="749808"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OF STAFF APPROVED</a:t>
            </a:r>
          </a:p>
        </p:txBody>
      </p:sp>
      <p:sp>
        <p:nvSpPr>
          <p:cNvPr id="13" name="TextBox 12"/>
          <p:cNvSpPr txBox="1"/>
          <p:nvPr/>
        </p:nvSpPr>
        <p:spPr>
          <a:xfrm>
            <a:off x="749808"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Total staff</a:t>
            </a:r>
          </a:p>
        </p:txBody>
      </p:sp>
      <p:sp>
        <p:nvSpPr>
          <p:cNvPr id="14" name="TextBox 13"/>
          <p:cNvSpPr txBox="1"/>
          <p:nvPr/>
        </p:nvSpPr>
        <p:spPr>
          <a:xfrm>
            <a:off x="2212848" y="2638044"/>
            <a:ext cx="786384" cy="201168"/>
          </a:xfrm>
          <a:prstGeom prst="rect">
            <a:avLst/>
          </a:prstGeom>
          <a:noFill/>
        </p:spPr>
        <p:txBody>
          <a:bodyPr wrap="square" lIns="0" rIns="0" tIns="0" bIns="0" anchor="t">
            <a:spAutoFit/>
          </a:bodyPr>
          <a:lstStyle/>
          <a:p>
            <a:pPr algn="r"/>
            <a:r>
              <a:rPr sz="950" b="1">
                <a:solidFill>
                  <a:srgbClr val="111111"/>
                </a:solidFill>
                <a:latin typeface="Calibri"/>
              </a:rPr>
              <a:t>665</a:t>
            </a:r>
          </a:p>
        </p:txBody>
      </p:sp>
      <p:sp>
        <p:nvSpPr>
          <p:cNvPr id="15" name="TextBox 14"/>
          <p:cNvSpPr txBox="1"/>
          <p:nvPr/>
        </p:nvSpPr>
        <p:spPr>
          <a:xfrm>
            <a:off x="749808"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Has a job spec</a:t>
            </a:r>
          </a:p>
        </p:txBody>
      </p:sp>
      <p:sp>
        <p:nvSpPr>
          <p:cNvPr id="16" name="TextBox 15"/>
          <p:cNvSpPr txBox="1"/>
          <p:nvPr/>
        </p:nvSpPr>
        <p:spPr>
          <a:xfrm>
            <a:off x="2212848" y="2811780"/>
            <a:ext cx="786384" cy="201168"/>
          </a:xfrm>
          <a:prstGeom prst="rect">
            <a:avLst/>
          </a:prstGeom>
          <a:noFill/>
        </p:spPr>
        <p:txBody>
          <a:bodyPr wrap="square" lIns="0" rIns="0" tIns="0" bIns="0" anchor="t">
            <a:spAutoFit/>
          </a:bodyPr>
          <a:lstStyle/>
          <a:p>
            <a:pPr algn="r"/>
            <a:r>
              <a:rPr sz="950" b="1">
                <a:solidFill>
                  <a:srgbClr val="111111"/>
                </a:solidFill>
                <a:latin typeface="Calibri"/>
              </a:rPr>
              <a:t>628</a:t>
            </a:r>
          </a:p>
        </p:txBody>
      </p:sp>
      <p:sp>
        <p:nvSpPr>
          <p:cNvPr id="17" name="TextBox 16"/>
          <p:cNvSpPr txBox="1"/>
          <p:nvPr/>
        </p:nvSpPr>
        <p:spPr>
          <a:xfrm>
            <a:off x="749808"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18" name="TextBox 17"/>
          <p:cNvSpPr txBox="1"/>
          <p:nvPr/>
        </p:nvSpPr>
        <p:spPr>
          <a:xfrm>
            <a:off x="2212848" y="2985516"/>
            <a:ext cx="786384" cy="201168"/>
          </a:xfrm>
          <a:prstGeom prst="rect">
            <a:avLst/>
          </a:prstGeom>
          <a:noFill/>
        </p:spPr>
        <p:txBody>
          <a:bodyPr wrap="square" lIns="0" rIns="0" tIns="0" bIns="0" anchor="t">
            <a:spAutoFit/>
          </a:bodyPr>
          <a:lstStyle/>
          <a:p>
            <a:pPr algn="r"/>
            <a:r>
              <a:rPr sz="950" b="1">
                <a:solidFill>
                  <a:srgbClr val="2E7D32"/>
                </a:solidFill>
                <a:latin typeface="Calibri"/>
              </a:rPr>
              <a:t>608</a:t>
            </a:r>
          </a:p>
        </p:txBody>
      </p:sp>
      <p:sp>
        <p:nvSpPr>
          <p:cNvPr id="19" name="TextBox 18"/>
          <p:cNvSpPr txBox="1"/>
          <p:nvPr/>
        </p:nvSpPr>
        <p:spPr>
          <a:xfrm>
            <a:off x="749808"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20" name="TextBox 19"/>
          <p:cNvSpPr txBox="1"/>
          <p:nvPr/>
        </p:nvSpPr>
        <p:spPr>
          <a:xfrm>
            <a:off x="2212848" y="3159252"/>
            <a:ext cx="786384" cy="201168"/>
          </a:xfrm>
          <a:prstGeom prst="rect">
            <a:avLst/>
          </a:prstGeom>
          <a:noFill/>
        </p:spPr>
        <p:txBody>
          <a:bodyPr wrap="square" lIns="0" rIns="0" tIns="0" bIns="0" anchor="t">
            <a:spAutoFit/>
          </a:bodyPr>
          <a:lstStyle/>
          <a:p>
            <a:pPr algn="r"/>
            <a:r>
              <a:rPr sz="950" b="1">
                <a:solidFill>
                  <a:srgbClr val="F9A825"/>
                </a:solidFill>
                <a:latin typeface="Calibri"/>
              </a:rPr>
              <a:t>17</a:t>
            </a:r>
          </a:p>
        </p:txBody>
      </p:sp>
      <p:sp>
        <p:nvSpPr>
          <p:cNvPr id="21" name="Rectangle 20"/>
          <p:cNvSpPr/>
          <p:nvPr/>
        </p:nvSpPr>
        <p:spPr>
          <a:xfrm>
            <a:off x="749808"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Staff 88% approved, general workers 94%. The worker queue cleared this week.</a:t>
            </a:r>
          </a:p>
        </p:txBody>
      </p:sp>
      <p:sp>
        <p:nvSpPr>
          <p:cNvPr id="23" name="Rectangle 22"/>
          <p:cNvSpPr/>
          <p:nvPr/>
        </p:nvSpPr>
        <p:spPr>
          <a:xfrm>
            <a:off x="3396996"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96996" y="1645920"/>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79876"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Hotel Grandis</a:t>
            </a:r>
          </a:p>
        </p:txBody>
      </p:sp>
      <p:sp>
        <p:nvSpPr>
          <p:cNvPr id="26" name="TextBox 25"/>
          <p:cNvSpPr txBox="1"/>
          <p:nvPr/>
        </p:nvSpPr>
        <p:spPr>
          <a:xfrm>
            <a:off x="3579876" y="2039112"/>
            <a:ext cx="1463040" cy="457200"/>
          </a:xfrm>
          <a:prstGeom prst="rect">
            <a:avLst/>
          </a:prstGeom>
          <a:noFill/>
        </p:spPr>
        <p:txBody>
          <a:bodyPr wrap="square" lIns="0" rIns="0" tIns="0" bIns="0" anchor="t">
            <a:spAutoFit/>
          </a:bodyPr>
          <a:lstStyle/>
          <a:p>
            <a:pPr algn="l"/>
            <a:r>
              <a:rPr sz="2400" b="1">
                <a:solidFill>
                  <a:srgbClr val="2E7D32"/>
                </a:solidFill>
                <a:latin typeface="Cambria"/>
              </a:rPr>
              <a:t>91%</a:t>
            </a:r>
          </a:p>
        </p:txBody>
      </p:sp>
      <p:sp>
        <p:nvSpPr>
          <p:cNvPr id="27" name="TextBox 26"/>
          <p:cNvSpPr txBox="1"/>
          <p:nvPr/>
        </p:nvSpPr>
        <p:spPr>
          <a:xfrm>
            <a:off x="3579876"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OF STAFF APPROVED</a:t>
            </a:r>
          </a:p>
        </p:txBody>
      </p:sp>
      <p:sp>
        <p:nvSpPr>
          <p:cNvPr id="28" name="TextBox 27"/>
          <p:cNvSpPr txBox="1"/>
          <p:nvPr/>
        </p:nvSpPr>
        <p:spPr>
          <a:xfrm>
            <a:off x="3579876"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Total staff</a:t>
            </a:r>
          </a:p>
        </p:txBody>
      </p:sp>
      <p:sp>
        <p:nvSpPr>
          <p:cNvPr id="29" name="TextBox 28"/>
          <p:cNvSpPr txBox="1"/>
          <p:nvPr/>
        </p:nvSpPr>
        <p:spPr>
          <a:xfrm>
            <a:off x="5042916" y="2638044"/>
            <a:ext cx="786384" cy="201168"/>
          </a:xfrm>
          <a:prstGeom prst="rect">
            <a:avLst/>
          </a:prstGeom>
          <a:noFill/>
        </p:spPr>
        <p:txBody>
          <a:bodyPr wrap="square" lIns="0" rIns="0" tIns="0" bIns="0" anchor="t">
            <a:spAutoFit/>
          </a:bodyPr>
          <a:lstStyle/>
          <a:p>
            <a:pPr algn="r"/>
            <a:r>
              <a:rPr sz="950" b="1">
                <a:solidFill>
                  <a:srgbClr val="111111"/>
                </a:solidFill>
                <a:latin typeface="Calibri"/>
              </a:rPr>
              <a:t>150</a:t>
            </a:r>
          </a:p>
        </p:txBody>
      </p:sp>
      <p:sp>
        <p:nvSpPr>
          <p:cNvPr id="30" name="TextBox 29"/>
          <p:cNvSpPr txBox="1"/>
          <p:nvPr/>
        </p:nvSpPr>
        <p:spPr>
          <a:xfrm>
            <a:off x="3579876"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Has a job spec</a:t>
            </a:r>
          </a:p>
        </p:txBody>
      </p:sp>
      <p:sp>
        <p:nvSpPr>
          <p:cNvPr id="31" name="TextBox 30"/>
          <p:cNvSpPr txBox="1"/>
          <p:nvPr/>
        </p:nvSpPr>
        <p:spPr>
          <a:xfrm>
            <a:off x="5042916" y="2811780"/>
            <a:ext cx="786384" cy="201168"/>
          </a:xfrm>
          <a:prstGeom prst="rect">
            <a:avLst/>
          </a:prstGeom>
          <a:noFill/>
        </p:spPr>
        <p:txBody>
          <a:bodyPr wrap="square" lIns="0" rIns="0" tIns="0" bIns="0" anchor="t">
            <a:spAutoFit/>
          </a:bodyPr>
          <a:lstStyle/>
          <a:p>
            <a:pPr algn="r"/>
            <a:r>
              <a:rPr sz="950" b="1">
                <a:solidFill>
                  <a:srgbClr val="111111"/>
                </a:solidFill>
                <a:latin typeface="Calibri"/>
              </a:rPr>
              <a:t>142</a:t>
            </a:r>
          </a:p>
        </p:txBody>
      </p:sp>
      <p:sp>
        <p:nvSpPr>
          <p:cNvPr id="32" name="TextBox 31"/>
          <p:cNvSpPr txBox="1"/>
          <p:nvPr/>
        </p:nvSpPr>
        <p:spPr>
          <a:xfrm>
            <a:off x="3579876"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33" name="TextBox 32"/>
          <p:cNvSpPr txBox="1"/>
          <p:nvPr/>
        </p:nvSpPr>
        <p:spPr>
          <a:xfrm>
            <a:off x="5042916" y="2985516"/>
            <a:ext cx="786384" cy="201168"/>
          </a:xfrm>
          <a:prstGeom prst="rect">
            <a:avLst/>
          </a:prstGeom>
          <a:noFill/>
        </p:spPr>
        <p:txBody>
          <a:bodyPr wrap="square" lIns="0" rIns="0" tIns="0" bIns="0" anchor="t">
            <a:spAutoFit/>
          </a:bodyPr>
          <a:lstStyle/>
          <a:p>
            <a:pPr algn="r"/>
            <a:r>
              <a:rPr sz="950" b="1">
                <a:solidFill>
                  <a:srgbClr val="2E7D32"/>
                </a:solidFill>
                <a:latin typeface="Calibri"/>
              </a:rPr>
              <a:t>136</a:t>
            </a:r>
          </a:p>
        </p:txBody>
      </p:sp>
      <p:sp>
        <p:nvSpPr>
          <p:cNvPr id="34" name="TextBox 33"/>
          <p:cNvSpPr txBox="1"/>
          <p:nvPr/>
        </p:nvSpPr>
        <p:spPr>
          <a:xfrm>
            <a:off x="3579876"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35" name="TextBox 34"/>
          <p:cNvSpPr txBox="1"/>
          <p:nvPr/>
        </p:nvSpPr>
        <p:spPr>
          <a:xfrm>
            <a:off x="5042916" y="3159252"/>
            <a:ext cx="786384" cy="201168"/>
          </a:xfrm>
          <a:prstGeom prst="rect">
            <a:avLst/>
          </a:prstGeom>
          <a:noFill/>
        </p:spPr>
        <p:txBody>
          <a:bodyPr wrap="square" lIns="0" rIns="0" tIns="0" bIns="0" anchor="t">
            <a:spAutoFit/>
          </a:bodyPr>
          <a:lstStyle/>
          <a:p>
            <a:pPr algn="r"/>
            <a:r>
              <a:rPr sz="950" b="1">
                <a:solidFill>
                  <a:srgbClr val="F9A825"/>
                </a:solidFill>
                <a:latin typeface="Calibri"/>
              </a:rPr>
              <a:t>6</a:t>
            </a:r>
          </a:p>
        </p:txBody>
      </p:sp>
      <p:sp>
        <p:nvSpPr>
          <p:cNvPr id="36" name="Rectangle 35"/>
          <p:cNvSpPr/>
          <p:nvPr/>
        </p:nvSpPr>
        <p:spPr>
          <a:xfrm>
            <a:off x="3579876"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79876"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136 of 150 staff approved, 6 still waiting.</a:t>
            </a:r>
          </a:p>
        </p:txBody>
      </p:sp>
      <p:sp>
        <p:nvSpPr>
          <p:cNvPr id="38" name="Rectangle 37"/>
          <p:cNvSpPr/>
          <p:nvPr/>
        </p:nvSpPr>
        <p:spPr>
          <a:xfrm>
            <a:off x="6227064"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27064" y="1645920"/>
            <a:ext cx="2615184"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9944"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Arus Sawit</a:t>
            </a:r>
          </a:p>
        </p:txBody>
      </p:sp>
      <p:sp>
        <p:nvSpPr>
          <p:cNvPr id="41" name="TextBox 40"/>
          <p:cNvSpPr txBox="1"/>
          <p:nvPr/>
        </p:nvSpPr>
        <p:spPr>
          <a:xfrm>
            <a:off x="6409944" y="2039112"/>
            <a:ext cx="1463040" cy="457200"/>
          </a:xfrm>
          <a:prstGeom prst="rect">
            <a:avLst/>
          </a:prstGeom>
          <a:noFill/>
        </p:spPr>
        <p:txBody>
          <a:bodyPr wrap="square" lIns="0" rIns="0" tIns="0" bIns="0" anchor="t">
            <a:spAutoFit/>
          </a:bodyPr>
          <a:lstStyle/>
          <a:p>
            <a:pPr algn="l"/>
            <a:r>
              <a:rPr sz="2400" b="1">
                <a:solidFill>
                  <a:srgbClr val="C62828"/>
                </a:solidFill>
                <a:latin typeface="Cambria"/>
              </a:rPr>
              <a:t>9%</a:t>
            </a:r>
          </a:p>
        </p:txBody>
      </p:sp>
      <p:sp>
        <p:nvSpPr>
          <p:cNvPr id="42" name="TextBox 41"/>
          <p:cNvSpPr txBox="1"/>
          <p:nvPr/>
        </p:nvSpPr>
        <p:spPr>
          <a:xfrm>
            <a:off x="6409944"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OF STAFF APPROVED</a:t>
            </a:r>
          </a:p>
        </p:txBody>
      </p:sp>
      <p:sp>
        <p:nvSpPr>
          <p:cNvPr id="43" name="TextBox 42"/>
          <p:cNvSpPr txBox="1"/>
          <p:nvPr/>
        </p:nvSpPr>
        <p:spPr>
          <a:xfrm>
            <a:off x="6409944"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Total staff</a:t>
            </a:r>
          </a:p>
        </p:txBody>
      </p:sp>
      <p:sp>
        <p:nvSpPr>
          <p:cNvPr id="44" name="TextBox 43"/>
          <p:cNvSpPr txBox="1"/>
          <p:nvPr/>
        </p:nvSpPr>
        <p:spPr>
          <a:xfrm>
            <a:off x="7872984" y="2638044"/>
            <a:ext cx="786384" cy="201168"/>
          </a:xfrm>
          <a:prstGeom prst="rect">
            <a:avLst/>
          </a:prstGeom>
          <a:noFill/>
        </p:spPr>
        <p:txBody>
          <a:bodyPr wrap="square" lIns="0" rIns="0" tIns="0" bIns="0" anchor="t">
            <a:spAutoFit/>
          </a:bodyPr>
          <a:lstStyle/>
          <a:p>
            <a:pPr algn="r"/>
            <a:r>
              <a:rPr sz="950" b="1">
                <a:solidFill>
                  <a:srgbClr val="111111"/>
                </a:solidFill>
                <a:latin typeface="Calibri"/>
              </a:rPr>
              <a:t>658</a:t>
            </a:r>
          </a:p>
        </p:txBody>
      </p:sp>
      <p:sp>
        <p:nvSpPr>
          <p:cNvPr id="45" name="TextBox 44"/>
          <p:cNvSpPr txBox="1"/>
          <p:nvPr/>
        </p:nvSpPr>
        <p:spPr>
          <a:xfrm>
            <a:off x="6409944"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Has a job spec</a:t>
            </a:r>
          </a:p>
        </p:txBody>
      </p:sp>
      <p:sp>
        <p:nvSpPr>
          <p:cNvPr id="46" name="TextBox 45"/>
          <p:cNvSpPr txBox="1"/>
          <p:nvPr/>
        </p:nvSpPr>
        <p:spPr>
          <a:xfrm>
            <a:off x="7872984" y="2811780"/>
            <a:ext cx="786384" cy="201168"/>
          </a:xfrm>
          <a:prstGeom prst="rect">
            <a:avLst/>
          </a:prstGeom>
          <a:noFill/>
        </p:spPr>
        <p:txBody>
          <a:bodyPr wrap="square" lIns="0" rIns="0" tIns="0" bIns="0" anchor="t">
            <a:spAutoFit/>
          </a:bodyPr>
          <a:lstStyle/>
          <a:p>
            <a:pPr algn="r"/>
            <a:r>
              <a:rPr sz="950" b="1">
                <a:solidFill>
                  <a:srgbClr val="111111"/>
                </a:solidFill>
                <a:latin typeface="Calibri"/>
              </a:rPr>
              <a:t>72</a:t>
            </a:r>
          </a:p>
        </p:txBody>
      </p:sp>
      <p:sp>
        <p:nvSpPr>
          <p:cNvPr id="47" name="TextBox 46"/>
          <p:cNvSpPr txBox="1"/>
          <p:nvPr/>
        </p:nvSpPr>
        <p:spPr>
          <a:xfrm>
            <a:off x="6409944"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48" name="TextBox 47"/>
          <p:cNvSpPr txBox="1"/>
          <p:nvPr/>
        </p:nvSpPr>
        <p:spPr>
          <a:xfrm>
            <a:off x="7872984" y="2985516"/>
            <a:ext cx="786384" cy="201168"/>
          </a:xfrm>
          <a:prstGeom prst="rect">
            <a:avLst/>
          </a:prstGeom>
          <a:noFill/>
        </p:spPr>
        <p:txBody>
          <a:bodyPr wrap="square" lIns="0" rIns="0" tIns="0" bIns="0" anchor="t">
            <a:spAutoFit/>
          </a:bodyPr>
          <a:lstStyle/>
          <a:p>
            <a:pPr algn="r"/>
            <a:r>
              <a:rPr sz="950" b="1">
                <a:solidFill>
                  <a:srgbClr val="2E7D32"/>
                </a:solidFill>
                <a:latin typeface="Calibri"/>
              </a:rPr>
              <a:t>58</a:t>
            </a:r>
          </a:p>
        </p:txBody>
      </p:sp>
      <p:sp>
        <p:nvSpPr>
          <p:cNvPr id="49" name="TextBox 48"/>
          <p:cNvSpPr txBox="1"/>
          <p:nvPr/>
        </p:nvSpPr>
        <p:spPr>
          <a:xfrm>
            <a:off x="6409944"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50" name="TextBox 49"/>
          <p:cNvSpPr txBox="1"/>
          <p:nvPr/>
        </p:nvSpPr>
        <p:spPr>
          <a:xfrm>
            <a:off x="7872984" y="3159252"/>
            <a:ext cx="786384" cy="201168"/>
          </a:xfrm>
          <a:prstGeom prst="rect">
            <a:avLst/>
          </a:prstGeom>
          <a:noFill/>
        </p:spPr>
        <p:txBody>
          <a:bodyPr wrap="square" lIns="0" rIns="0" tIns="0" bIns="0" anchor="t">
            <a:spAutoFit/>
          </a:bodyPr>
          <a:lstStyle/>
          <a:p>
            <a:pPr algn="r"/>
            <a:r>
              <a:rPr sz="950" b="1">
                <a:solidFill>
                  <a:srgbClr val="F9A825"/>
                </a:solidFill>
                <a:latin typeface="Calibri"/>
              </a:rPr>
              <a:t>14</a:t>
            </a:r>
          </a:p>
        </p:txBody>
      </p:sp>
      <p:sp>
        <p:nvSpPr>
          <p:cNvPr id="51" name="Rectangle 50"/>
          <p:cNvSpPr/>
          <p:nvPr/>
        </p:nvSpPr>
        <p:spPr>
          <a:xfrm>
            <a:off x="6409944"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9944"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Staff 79% approved, general workers 0%. Nothing started for the workers.</a:t>
            </a:r>
          </a:p>
        </p:txBody>
      </p:sp>
      <p:sp>
        <p:nvSpPr>
          <p:cNvPr id="53" name="Rectangle 52"/>
          <p:cNvSpPr/>
          <p:nvPr/>
        </p:nvSpPr>
        <p:spPr>
          <a:xfrm>
            <a:off x="9057132"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057132" y="1645920"/>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240012"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TP Group</a:t>
            </a:r>
          </a:p>
        </p:txBody>
      </p:sp>
      <p:sp>
        <p:nvSpPr>
          <p:cNvPr id="56" name="TextBox 55"/>
          <p:cNvSpPr txBox="1"/>
          <p:nvPr/>
        </p:nvSpPr>
        <p:spPr>
          <a:xfrm>
            <a:off x="9240012" y="2039112"/>
            <a:ext cx="1463040" cy="457200"/>
          </a:xfrm>
          <a:prstGeom prst="rect">
            <a:avLst/>
          </a:prstGeom>
          <a:noFill/>
        </p:spPr>
        <p:txBody>
          <a:bodyPr wrap="square" lIns="0" rIns="0" tIns="0" bIns="0" anchor="t">
            <a:spAutoFit/>
          </a:bodyPr>
          <a:lstStyle/>
          <a:p>
            <a:pPr algn="l"/>
            <a:r>
              <a:rPr sz="2400" b="1">
                <a:solidFill>
                  <a:srgbClr val="2E7D32"/>
                </a:solidFill>
                <a:latin typeface="Cambria"/>
              </a:rPr>
              <a:t>94%</a:t>
            </a:r>
          </a:p>
        </p:txBody>
      </p:sp>
      <p:sp>
        <p:nvSpPr>
          <p:cNvPr id="57" name="TextBox 56"/>
          <p:cNvSpPr txBox="1"/>
          <p:nvPr/>
        </p:nvSpPr>
        <p:spPr>
          <a:xfrm>
            <a:off x="9240012"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OF STAFF APPROVED</a:t>
            </a:r>
          </a:p>
        </p:txBody>
      </p:sp>
      <p:sp>
        <p:nvSpPr>
          <p:cNvPr id="58" name="TextBox 57"/>
          <p:cNvSpPr txBox="1"/>
          <p:nvPr/>
        </p:nvSpPr>
        <p:spPr>
          <a:xfrm>
            <a:off x="9240012"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Total staff</a:t>
            </a:r>
          </a:p>
        </p:txBody>
      </p:sp>
      <p:sp>
        <p:nvSpPr>
          <p:cNvPr id="59" name="TextBox 58"/>
          <p:cNvSpPr txBox="1"/>
          <p:nvPr/>
        </p:nvSpPr>
        <p:spPr>
          <a:xfrm>
            <a:off x="10703052" y="2638044"/>
            <a:ext cx="786384" cy="201168"/>
          </a:xfrm>
          <a:prstGeom prst="rect">
            <a:avLst/>
          </a:prstGeom>
          <a:noFill/>
        </p:spPr>
        <p:txBody>
          <a:bodyPr wrap="square" lIns="0" rIns="0" tIns="0" bIns="0" anchor="t">
            <a:spAutoFit/>
          </a:bodyPr>
          <a:lstStyle/>
          <a:p>
            <a:pPr algn="r"/>
            <a:r>
              <a:rPr sz="950" b="1">
                <a:solidFill>
                  <a:srgbClr val="111111"/>
                </a:solidFill>
                <a:latin typeface="Calibri"/>
              </a:rPr>
              <a:t>65</a:t>
            </a:r>
          </a:p>
        </p:txBody>
      </p:sp>
      <p:sp>
        <p:nvSpPr>
          <p:cNvPr id="60" name="TextBox 59"/>
          <p:cNvSpPr txBox="1"/>
          <p:nvPr/>
        </p:nvSpPr>
        <p:spPr>
          <a:xfrm>
            <a:off x="9240012"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Has a job spec</a:t>
            </a:r>
          </a:p>
        </p:txBody>
      </p:sp>
      <p:sp>
        <p:nvSpPr>
          <p:cNvPr id="61" name="TextBox 60"/>
          <p:cNvSpPr txBox="1"/>
          <p:nvPr/>
        </p:nvSpPr>
        <p:spPr>
          <a:xfrm>
            <a:off x="10703052" y="2811780"/>
            <a:ext cx="786384" cy="201168"/>
          </a:xfrm>
          <a:prstGeom prst="rect">
            <a:avLst/>
          </a:prstGeom>
          <a:noFill/>
        </p:spPr>
        <p:txBody>
          <a:bodyPr wrap="square" lIns="0" rIns="0" tIns="0" bIns="0" anchor="t">
            <a:spAutoFit/>
          </a:bodyPr>
          <a:lstStyle/>
          <a:p>
            <a:pPr algn="r"/>
            <a:r>
              <a:rPr sz="950" b="1">
                <a:solidFill>
                  <a:srgbClr val="111111"/>
                </a:solidFill>
                <a:latin typeface="Calibri"/>
              </a:rPr>
              <a:t>62</a:t>
            </a:r>
          </a:p>
        </p:txBody>
      </p:sp>
      <p:sp>
        <p:nvSpPr>
          <p:cNvPr id="62" name="TextBox 61"/>
          <p:cNvSpPr txBox="1"/>
          <p:nvPr/>
        </p:nvSpPr>
        <p:spPr>
          <a:xfrm>
            <a:off x="9240012"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63" name="TextBox 62"/>
          <p:cNvSpPr txBox="1"/>
          <p:nvPr/>
        </p:nvSpPr>
        <p:spPr>
          <a:xfrm>
            <a:off x="10703052" y="2985516"/>
            <a:ext cx="786384" cy="201168"/>
          </a:xfrm>
          <a:prstGeom prst="rect">
            <a:avLst/>
          </a:prstGeom>
          <a:noFill/>
        </p:spPr>
        <p:txBody>
          <a:bodyPr wrap="square" lIns="0" rIns="0" tIns="0" bIns="0" anchor="t">
            <a:spAutoFit/>
          </a:bodyPr>
          <a:lstStyle/>
          <a:p>
            <a:pPr algn="r"/>
            <a:r>
              <a:rPr sz="950" b="1">
                <a:solidFill>
                  <a:srgbClr val="2E7D32"/>
                </a:solidFill>
                <a:latin typeface="Calibri"/>
              </a:rPr>
              <a:t>61</a:t>
            </a:r>
          </a:p>
        </p:txBody>
      </p:sp>
      <p:sp>
        <p:nvSpPr>
          <p:cNvPr id="64" name="TextBox 63"/>
          <p:cNvSpPr txBox="1"/>
          <p:nvPr/>
        </p:nvSpPr>
        <p:spPr>
          <a:xfrm>
            <a:off x="9240012"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65" name="TextBox 64"/>
          <p:cNvSpPr txBox="1"/>
          <p:nvPr/>
        </p:nvSpPr>
        <p:spPr>
          <a:xfrm>
            <a:off x="10703052" y="3159252"/>
            <a:ext cx="786384" cy="201168"/>
          </a:xfrm>
          <a:prstGeom prst="rect">
            <a:avLst/>
          </a:prstGeom>
          <a:noFill/>
        </p:spPr>
        <p:txBody>
          <a:bodyPr wrap="square" lIns="0" rIns="0" tIns="0" bIns="0" anchor="t">
            <a:spAutoFit/>
          </a:bodyPr>
          <a:lstStyle/>
          <a:p>
            <a:pPr algn="r"/>
            <a:r>
              <a:rPr sz="950" b="1">
                <a:solidFill>
                  <a:srgbClr val="F9A825"/>
                </a:solidFill>
                <a:latin typeface="Calibri"/>
              </a:rPr>
              <a:t>1</a:t>
            </a:r>
          </a:p>
        </p:txBody>
      </p:sp>
      <p:sp>
        <p:nvSpPr>
          <p:cNvPr id="66" name="Rectangle 65"/>
          <p:cNvSpPr/>
          <p:nvPr/>
        </p:nvSpPr>
        <p:spPr>
          <a:xfrm>
            <a:off x="9240012"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240012"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61 of 65 staff approved, 1 still waiting.</a:t>
            </a:r>
          </a:p>
        </p:txBody>
      </p:sp>
      <p:sp>
        <p:nvSpPr>
          <p:cNvPr id="68" name="Rectangle 67"/>
          <p:cNvSpPr/>
          <p:nvPr/>
        </p:nvSpPr>
        <p:spPr>
          <a:xfrm>
            <a:off x="566928"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66928" y="4073652"/>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9808"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AMC</a:t>
            </a:r>
          </a:p>
        </p:txBody>
      </p:sp>
      <p:sp>
        <p:nvSpPr>
          <p:cNvPr id="71" name="TextBox 70"/>
          <p:cNvSpPr txBox="1"/>
          <p:nvPr/>
        </p:nvSpPr>
        <p:spPr>
          <a:xfrm>
            <a:off x="749808" y="4466844"/>
            <a:ext cx="1463040" cy="457200"/>
          </a:xfrm>
          <a:prstGeom prst="rect">
            <a:avLst/>
          </a:prstGeom>
          <a:noFill/>
        </p:spPr>
        <p:txBody>
          <a:bodyPr wrap="square" lIns="0" rIns="0" tIns="0" bIns="0" anchor="t">
            <a:spAutoFit/>
          </a:bodyPr>
          <a:lstStyle/>
          <a:p>
            <a:pPr algn="l"/>
            <a:r>
              <a:rPr sz="2400" b="1">
                <a:solidFill>
                  <a:srgbClr val="2E7D32"/>
                </a:solidFill>
                <a:latin typeface="Cambria"/>
              </a:rPr>
              <a:t>69%</a:t>
            </a:r>
          </a:p>
        </p:txBody>
      </p:sp>
      <p:sp>
        <p:nvSpPr>
          <p:cNvPr id="72" name="TextBox 71"/>
          <p:cNvSpPr txBox="1"/>
          <p:nvPr/>
        </p:nvSpPr>
        <p:spPr>
          <a:xfrm>
            <a:off x="749808"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OF STAFF APPROVED</a:t>
            </a:r>
          </a:p>
        </p:txBody>
      </p:sp>
      <p:sp>
        <p:nvSpPr>
          <p:cNvPr id="73" name="TextBox 72"/>
          <p:cNvSpPr txBox="1"/>
          <p:nvPr/>
        </p:nvSpPr>
        <p:spPr>
          <a:xfrm>
            <a:off x="749808"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Total staff</a:t>
            </a:r>
          </a:p>
        </p:txBody>
      </p:sp>
      <p:sp>
        <p:nvSpPr>
          <p:cNvPr id="74" name="TextBox 73"/>
          <p:cNvSpPr txBox="1"/>
          <p:nvPr/>
        </p:nvSpPr>
        <p:spPr>
          <a:xfrm>
            <a:off x="2212848" y="5065776"/>
            <a:ext cx="786384" cy="201168"/>
          </a:xfrm>
          <a:prstGeom prst="rect">
            <a:avLst/>
          </a:prstGeom>
          <a:noFill/>
        </p:spPr>
        <p:txBody>
          <a:bodyPr wrap="square" lIns="0" rIns="0" tIns="0" bIns="0" anchor="t">
            <a:spAutoFit/>
          </a:bodyPr>
          <a:lstStyle/>
          <a:p>
            <a:pPr algn="r"/>
            <a:r>
              <a:rPr sz="950" b="1">
                <a:solidFill>
                  <a:srgbClr val="111111"/>
                </a:solidFill>
                <a:latin typeface="Calibri"/>
              </a:rPr>
              <a:t>61</a:t>
            </a:r>
          </a:p>
        </p:txBody>
      </p:sp>
      <p:sp>
        <p:nvSpPr>
          <p:cNvPr id="75" name="TextBox 74"/>
          <p:cNvSpPr txBox="1"/>
          <p:nvPr/>
        </p:nvSpPr>
        <p:spPr>
          <a:xfrm>
            <a:off x="749808"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Has a job spec</a:t>
            </a:r>
          </a:p>
        </p:txBody>
      </p:sp>
      <p:sp>
        <p:nvSpPr>
          <p:cNvPr id="76" name="TextBox 75"/>
          <p:cNvSpPr txBox="1"/>
          <p:nvPr/>
        </p:nvSpPr>
        <p:spPr>
          <a:xfrm>
            <a:off x="2212848" y="5239512"/>
            <a:ext cx="786384" cy="201168"/>
          </a:xfrm>
          <a:prstGeom prst="rect">
            <a:avLst/>
          </a:prstGeom>
          <a:noFill/>
        </p:spPr>
        <p:txBody>
          <a:bodyPr wrap="square" lIns="0" rIns="0" tIns="0" bIns="0" anchor="t">
            <a:spAutoFit/>
          </a:bodyPr>
          <a:lstStyle/>
          <a:p>
            <a:pPr algn="r"/>
            <a:r>
              <a:rPr sz="950" b="1">
                <a:solidFill>
                  <a:srgbClr val="111111"/>
                </a:solidFill>
                <a:latin typeface="Calibri"/>
              </a:rPr>
              <a:t>55</a:t>
            </a:r>
          </a:p>
        </p:txBody>
      </p:sp>
      <p:sp>
        <p:nvSpPr>
          <p:cNvPr id="77" name="TextBox 76"/>
          <p:cNvSpPr txBox="1"/>
          <p:nvPr/>
        </p:nvSpPr>
        <p:spPr>
          <a:xfrm>
            <a:off x="749808"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78" name="TextBox 77"/>
          <p:cNvSpPr txBox="1"/>
          <p:nvPr/>
        </p:nvSpPr>
        <p:spPr>
          <a:xfrm>
            <a:off x="2212848" y="5413248"/>
            <a:ext cx="786384" cy="201168"/>
          </a:xfrm>
          <a:prstGeom prst="rect">
            <a:avLst/>
          </a:prstGeom>
          <a:noFill/>
        </p:spPr>
        <p:txBody>
          <a:bodyPr wrap="square" lIns="0" rIns="0" tIns="0" bIns="0" anchor="t">
            <a:spAutoFit/>
          </a:bodyPr>
          <a:lstStyle/>
          <a:p>
            <a:pPr algn="r"/>
            <a:r>
              <a:rPr sz="950" b="1">
                <a:solidFill>
                  <a:srgbClr val="2E7D32"/>
                </a:solidFill>
                <a:latin typeface="Calibri"/>
              </a:rPr>
              <a:t>42</a:t>
            </a:r>
          </a:p>
        </p:txBody>
      </p:sp>
      <p:sp>
        <p:nvSpPr>
          <p:cNvPr id="79" name="TextBox 78"/>
          <p:cNvSpPr txBox="1"/>
          <p:nvPr/>
        </p:nvSpPr>
        <p:spPr>
          <a:xfrm>
            <a:off x="749808"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80" name="TextBox 79"/>
          <p:cNvSpPr txBox="1"/>
          <p:nvPr/>
        </p:nvSpPr>
        <p:spPr>
          <a:xfrm>
            <a:off x="2212848" y="5586984"/>
            <a:ext cx="786384" cy="201168"/>
          </a:xfrm>
          <a:prstGeom prst="rect">
            <a:avLst/>
          </a:prstGeom>
          <a:noFill/>
        </p:spPr>
        <p:txBody>
          <a:bodyPr wrap="square" lIns="0" rIns="0" tIns="0" bIns="0" anchor="t">
            <a:spAutoFit/>
          </a:bodyPr>
          <a:lstStyle/>
          <a:p>
            <a:pPr algn="r"/>
            <a:r>
              <a:rPr sz="950" b="1">
                <a:solidFill>
                  <a:srgbClr val="F9A825"/>
                </a:solidFill>
                <a:latin typeface="Calibri"/>
              </a:rPr>
              <a:t>13</a:t>
            </a:r>
          </a:p>
        </p:txBody>
      </p:sp>
      <p:sp>
        <p:nvSpPr>
          <p:cNvPr id="81" name="Rectangle 80"/>
          <p:cNvSpPr/>
          <p:nvPr/>
        </p:nvSpPr>
        <p:spPr>
          <a:xfrm>
            <a:off x="749808"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49808"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42 of 61 staff approved, 13 still waiting.</a:t>
            </a:r>
          </a:p>
        </p:txBody>
      </p:sp>
      <p:sp>
        <p:nvSpPr>
          <p:cNvPr id="83" name="Rectangle 82"/>
          <p:cNvSpPr/>
          <p:nvPr/>
        </p:nvSpPr>
        <p:spPr>
          <a:xfrm>
            <a:off x="3396996"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396996" y="4073652"/>
            <a:ext cx="2615184"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579876"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Likas Square</a:t>
            </a:r>
          </a:p>
        </p:txBody>
      </p:sp>
      <p:sp>
        <p:nvSpPr>
          <p:cNvPr id="86" name="TextBox 85"/>
          <p:cNvSpPr txBox="1"/>
          <p:nvPr/>
        </p:nvSpPr>
        <p:spPr>
          <a:xfrm>
            <a:off x="3579876" y="4466844"/>
            <a:ext cx="1463040" cy="457200"/>
          </a:xfrm>
          <a:prstGeom prst="rect">
            <a:avLst/>
          </a:prstGeom>
          <a:noFill/>
        </p:spPr>
        <p:txBody>
          <a:bodyPr wrap="square" lIns="0" rIns="0" tIns="0" bIns="0" anchor="t">
            <a:spAutoFit/>
          </a:bodyPr>
          <a:lstStyle/>
          <a:p>
            <a:pPr algn="l"/>
            <a:r>
              <a:rPr sz="2400" b="1">
                <a:solidFill>
                  <a:srgbClr val="C62828"/>
                </a:solidFill>
                <a:latin typeface="Cambria"/>
              </a:rPr>
              <a:t>10%</a:t>
            </a:r>
          </a:p>
        </p:txBody>
      </p:sp>
      <p:sp>
        <p:nvSpPr>
          <p:cNvPr id="87" name="TextBox 86"/>
          <p:cNvSpPr txBox="1"/>
          <p:nvPr/>
        </p:nvSpPr>
        <p:spPr>
          <a:xfrm>
            <a:off x="3579876"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OF STAFF APPROVED</a:t>
            </a:r>
          </a:p>
        </p:txBody>
      </p:sp>
      <p:sp>
        <p:nvSpPr>
          <p:cNvPr id="88" name="TextBox 87"/>
          <p:cNvSpPr txBox="1"/>
          <p:nvPr/>
        </p:nvSpPr>
        <p:spPr>
          <a:xfrm>
            <a:off x="3579876"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Total staff</a:t>
            </a:r>
          </a:p>
        </p:txBody>
      </p:sp>
      <p:sp>
        <p:nvSpPr>
          <p:cNvPr id="89" name="TextBox 88"/>
          <p:cNvSpPr txBox="1"/>
          <p:nvPr/>
        </p:nvSpPr>
        <p:spPr>
          <a:xfrm>
            <a:off x="5042916" y="5065776"/>
            <a:ext cx="786384" cy="201168"/>
          </a:xfrm>
          <a:prstGeom prst="rect">
            <a:avLst/>
          </a:prstGeom>
          <a:noFill/>
        </p:spPr>
        <p:txBody>
          <a:bodyPr wrap="square" lIns="0" rIns="0" tIns="0" bIns="0" anchor="t">
            <a:spAutoFit/>
          </a:bodyPr>
          <a:lstStyle/>
          <a:p>
            <a:pPr algn="r"/>
            <a:r>
              <a:rPr sz="950" b="1">
                <a:solidFill>
                  <a:srgbClr val="111111"/>
                </a:solidFill>
                <a:latin typeface="Calibri"/>
              </a:rPr>
              <a:t>51</a:t>
            </a:r>
          </a:p>
        </p:txBody>
      </p:sp>
      <p:sp>
        <p:nvSpPr>
          <p:cNvPr id="90" name="TextBox 89"/>
          <p:cNvSpPr txBox="1"/>
          <p:nvPr/>
        </p:nvSpPr>
        <p:spPr>
          <a:xfrm>
            <a:off x="3579876"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Has a job spec</a:t>
            </a:r>
          </a:p>
        </p:txBody>
      </p:sp>
      <p:sp>
        <p:nvSpPr>
          <p:cNvPr id="91" name="TextBox 90"/>
          <p:cNvSpPr txBox="1"/>
          <p:nvPr/>
        </p:nvSpPr>
        <p:spPr>
          <a:xfrm>
            <a:off x="5042916" y="5239512"/>
            <a:ext cx="786384" cy="201168"/>
          </a:xfrm>
          <a:prstGeom prst="rect">
            <a:avLst/>
          </a:prstGeom>
          <a:noFill/>
        </p:spPr>
        <p:txBody>
          <a:bodyPr wrap="square" lIns="0" rIns="0" tIns="0" bIns="0" anchor="t">
            <a:spAutoFit/>
          </a:bodyPr>
          <a:lstStyle/>
          <a:p>
            <a:pPr algn="r"/>
            <a:r>
              <a:rPr sz="950" b="1">
                <a:solidFill>
                  <a:srgbClr val="111111"/>
                </a:solidFill>
                <a:latin typeface="Calibri"/>
              </a:rPr>
              <a:t>40</a:t>
            </a:r>
          </a:p>
        </p:txBody>
      </p:sp>
      <p:sp>
        <p:nvSpPr>
          <p:cNvPr id="92" name="TextBox 91"/>
          <p:cNvSpPr txBox="1"/>
          <p:nvPr/>
        </p:nvSpPr>
        <p:spPr>
          <a:xfrm>
            <a:off x="3579876"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93" name="TextBox 92"/>
          <p:cNvSpPr txBox="1"/>
          <p:nvPr/>
        </p:nvSpPr>
        <p:spPr>
          <a:xfrm>
            <a:off x="5042916" y="5413248"/>
            <a:ext cx="786384" cy="201168"/>
          </a:xfrm>
          <a:prstGeom prst="rect">
            <a:avLst/>
          </a:prstGeom>
          <a:noFill/>
        </p:spPr>
        <p:txBody>
          <a:bodyPr wrap="square" lIns="0" rIns="0" tIns="0" bIns="0" anchor="t">
            <a:spAutoFit/>
          </a:bodyPr>
          <a:lstStyle/>
          <a:p>
            <a:pPr algn="r"/>
            <a:r>
              <a:rPr sz="950" b="1">
                <a:solidFill>
                  <a:srgbClr val="2E7D32"/>
                </a:solidFill>
                <a:latin typeface="Calibri"/>
              </a:rPr>
              <a:t>5</a:t>
            </a:r>
          </a:p>
        </p:txBody>
      </p:sp>
      <p:sp>
        <p:nvSpPr>
          <p:cNvPr id="94" name="TextBox 93"/>
          <p:cNvSpPr txBox="1"/>
          <p:nvPr/>
        </p:nvSpPr>
        <p:spPr>
          <a:xfrm>
            <a:off x="3579876"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95" name="TextBox 94"/>
          <p:cNvSpPr txBox="1"/>
          <p:nvPr/>
        </p:nvSpPr>
        <p:spPr>
          <a:xfrm>
            <a:off x="5042916" y="5586984"/>
            <a:ext cx="786384" cy="201168"/>
          </a:xfrm>
          <a:prstGeom prst="rect">
            <a:avLst/>
          </a:prstGeom>
          <a:noFill/>
        </p:spPr>
        <p:txBody>
          <a:bodyPr wrap="square" lIns="0" rIns="0" tIns="0" bIns="0" anchor="t">
            <a:spAutoFit/>
          </a:bodyPr>
          <a:lstStyle/>
          <a:p>
            <a:pPr algn="r"/>
            <a:r>
              <a:rPr sz="950" b="1">
                <a:solidFill>
                  <a:srgbClr val="F9A825"/>
                </a:solidFill>
                <a:latin typeface="Calibri"/>
              </a:rPr>
              <a:t>32</a:t>
            </a:r>
          </a:p>
        </p:txBody>
      </p:sp>
      <p:sp>
        <p:nvSpPr>
          <p:cNvPr id="96" name="Rectangle 95"/>
          <p:cNvSpPr/>
          <p:nvPr/>
        </p:nvSpPr>
        <p:spPr>
          <a:xfrm>
            <a:off x="3579876"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579876"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5 of 51 staff approved, 32 still waiting.</a:t>
            </a:r>
          </a:p>
        </p:txBody>
      </p:sp>
      <p:sp>
        <p:nvSpPr>
          <p:cNvPr id="98" name="Rectangle 97"/>
          <p:cNvSpPr/>
          <p:nvPr/>
        </p:nvSpPr>
        <p:spPr>
          <a:xfrm>
            <a:off x="6227064"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227064" y="4073652"/>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409944"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Trillium</a:t>
            </a:r>
          </a:p>
        </p:txBody>
      </p:sp>
      <p:sp>
        <p:nvSpPr>
          <p:cNvPr id="101" name="TextBox 100"/>
          <p:cNvSpPr txBox="1"/>
          <p:nvPr/>
        </p:nvSpPr>
        <p:spPr>
          <a:xfrm>
            <a:off x="6409944" y="4466844"/>
            <a:ext cx="1463040" cy="457200"/>
          </a:xfrm>
          <a:prstGeom prst="rect">
            <a:avLst/>
          </a:prstGeom>
          <a:noFill/>
        </p:spPr>
        <p:txBody>
          <a:bodyPr wrap="square" lIns="0" rIns="0" tIns="0" bIns="0" anchor="t">
            <a:spAutoFit/>
          </a:bodyPr>
          <a:lstStyle/>
          <a:p>
            <a:pPr algn="l"/>
            <a:r>
              <a:rPr sz="2400" b="1">
                <a:solidFill>
                  <a:srgbClr val="2E7D32"/>
                </a:solidFill>
                <a:latin typeface="Cambria"/>
              </a:rPr>
              <a:t>70%</a:t>
            </a:r>
          </a:p>
        </p:txBody>
      </p:sp>
      <p:sp>
        <p:nvSpPr>
          <p:cNvPr id="102" name="TextBox 101"/>
          <p:cNvSpPr txBox="1"/>
          <p:nvPr/>
        </p:nvSpPr>
        <p:spPr>
          <a:xfrm>
            <a:off x="6409944"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OF STAFF APPROVED</a:t>
            </a:r>
          </a:p>
        </p:txBody>
      </p:sp>
      <p:sp>
        <p:nvSpPr>
          <p:cNvPr id="103" name="TextBox 102"/>
          <p:cNvSpPr txBox="1"/>
          <p:nvPr/>
        </p:nvSpPr>
        <p:spPr>
          <a:xfrm>
            <a:off x="6409944"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Total staff</a:t>
            </a:r>
          </a:p>
        </p:txBody>
      </p:sp>
      <p:sp>
        <p:nvSpPr>
          <p:cNvPr id="104" name="TextBox 103"/>
          <p:cNvSpPr txBox="1"/>
          <p:nvPr/>
        </p:nvSpPr>
        <p:spPr>
          <a:xfrm>
            <a:off x="7872984" y="5065776"/>
            <a:ext cx="786384" cy="201168"/>
          </a:xfrm>
          <a:prstGeom prst="rect">
            <a:avLst/>
          </a:prstGeom>
          <a:noFill/>
        </p:spPr>
        <p:txBody>
          <a:bodyPr wrap="square" lIns="0" rIns="0" tIns="0" bIns="0" anchor="t">
            <a:spAutoFit/>
          </a:bodyPr>
          <a:lstStyle/>
          <a:p>
            <a:pPr algn="r"/>
            <a:r>
              <a:rPr sz="950" b="1">
                <a:solidFill>
                  <a:srgbClr val="111111"/>
                </a:solidFill>
                <a:latin typeface="Calibri"/>
              </a:rPr>
              <a:t>20</a:t>
            </a:r>
          </a:p>
        </p:txBody>
      </p:sp>
      <p:sp>
        <p:nvSpPr>
          <p:cNvPr id="105" name="TextBox 104"/>
          <p:cNvSpPr txBox="1"/>
          <p:nvPr/>
        </p:nvSpPr>
        <p:spPr>
          <a:xfrm>
            <a:off x="6409944"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Has a job spec</a:t>
            </a:r>
          </a:p>
        </p:txBody>
      </p:sp>
      <p:sp>
        <p:nvSpPr>
          <p:cNvPr id="106" name="TextBox 105"/>
          <p:cNvSpPr txBox="1"/>
          <p:nvPr/>
        </p:nvSpPr>
        <p:spPr>
          <a:xfrm>
            <a:off x="7872984" y="5239512"/>
            <a:ext cx="786384" cy="201168"/>
          </a:xfrm>
          <a:prstGeom prst="rect">
            <a:avLst/>
          </a:prstGeom>
          <a:noFill/>
        </p:spPr>
        <p:txBody>
          <a:bodyPr wrap="square" lIns="0" rIns="0" tIns="0" bIns="0" anchor="t">
            <a:spAutoFit/>
          </a:bodyPr>
          <a:lstStyle/>
          <a:p>
            <a:pPr algn="r"/>
            <a:r>
              <a:rPr sz="950" b="1">
                <a:solidFill>
                  <a:srgbClr val="111111"/>
                </a:solidFill>
                <a:latin typeface="Calibri"/>
              </a:rPr>
              <a:t>14</a:t>
            </a:r>
          </a:p>
        </p:txBody>
      </p:sp>
      <p:sp>
        <p:nvSpPr>
          <p:cNvPr id="107" name="TextBox 106"/>
          <p:cNvSpPr txBox="1"/>
          <p:nvPr/>
        </p:nvSpPr>
        <p:spPr>
          <a:xfrm>
            <a:off x="6409944"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108" name="TextBox 107"/>
          <p:cNvSpPr txBox="1"/>
          <p:nvPr/>
        </p:nvSpPr>
        <p:spPr>
          <a:xfrm>
            <a:off x="7872984" y="5413248"/>
            <a:ext cx="786384" cy="201168"/>
          </a:xfrm>
          <a:prstGeom prst="rect">
            <a:avLst/>
          </a:prstGeom>
          <a:noFill/>
        </p:spPr>
        <p:txBody>
          <a:bodyPr wrap="square" lIns="0" rIns="0" tIns="0" bIns="0" anchor="t">
            <a:spAutoFit/>
          </a:bodyPr>
          <a:lstStyle/>
          <a:p>
            <a:pPr algn="r"/>
            <a:r>
              <a:rPr sz="950" b="1">
                <a:solidFill>
                  <a:srgbClr val="2E7D32"/>
                </a:solidFill>
                <a:latin typeface="Calibri"/>
              </a:rPr>
              <a:t>14</a:t>
            </a:r>
          </a:p>
        </p:txBody>
      </p:sp>
      <p:sp>
        <p:nvSpPr>
          <p:cNvPr id="109" name="TextBox 108"/>
          <p:cNvSpPr txBox="1"/>
          <p:nvPr/>
        </p:nvSpPr>
        <p:spPr>
          <a:xfrm>
            <a:off x="6409944"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110" name="TextBox 109"/>
          <p:cNvSpPr txBox="1"/>
          <p:nvPr/>
        </p:nvSpPr>
        <p:spPr>
          <a:xfrm>
            <a:off x="7872984" y="5586984"/>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111" name="Rectangle 110"/>
          <p:cNvSpPr/>
          <p:nvPr/>
        </p:nvSpPr>
        <p:spPr>
          <a:xfrm>
            <a:off x="6409944"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409944"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14 of 20 staff approved, nothing outstanding.</a:t>
            </a:r>
          </a:p>
        </p:txBody>
      </p:sp>
      <p:sp>
        <p:nvSpPr>
          <p:cNvPr id="113" name="TextBox 112"/>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Approved % is approved people over total staff on the staff pool basis — the same population as the headcount slides. A person with more than one version counts once.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FOUR</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Merit / Demerit</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Who is using the recognition tool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4 · GROUP SUMMARY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Merit / Demerit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1,253 records issued to date, and 2026 is already double any year before it.</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1,253</a:t>
            </a:r>
          </a:p>
        </p:txBody>
      </p:sp>
      <p:sp>
        <p:nvSpPr>
          <p:cNvPr id="11" name="TextBox 10"/>
          <p:cNvSpPr txBox="1"/>
          <p:nvPr/>
        </p:nvSpPr>
        <p:spPr>
          <a:xfrm>
            <a:off x="804672"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Records issued</a:t>
            </a:r>
          </a:p>
        </p:txBody>
      </p:sp>
      <p:sp>
        <p:nvSpPr>
          <p:cNvPr id="12" name="TextBox 11"/>
          <p:cNvSpPr txBox="1"/>
          <p:nvPr/>
        </p:nvSpPr>
        <p:spPr>
          <a:xfrm>
            <a:off x="804672"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2023 to date. Up 46 since the last review.</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6996"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4740"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59%</a:t>
            </a:r>
          </a:p>
        </p:txBody>
      </p:sp>
      <p:sp>
        <p:nvSpPr>
          <p:cNvPr id="16" name="TextBox 15"/>
          <p:cNvSpPr txBox="1"/>
          <p:nvPr/>
        </p:nvSpPr>
        <p:spPr>
          <a:xfrm>
            <a:off x="3634740"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Merit share</a:t>
            </a:r>
          </a:p>
        </p:txBody>
      </p:sp>
      <p:sp>
        <p:nvSpPr>
          <p:cNvPr id="17" name="TextBox 16"/>
          <p:cNvSpPr txBox="1"/>
          <p:nvPr/>
        </p:nvSpPr>
        <p:spPr>
          <a:xfrm>
            <a:off x="3634740"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741 merit against 510 demerit.</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736</a:t>
            </a:r>
          </a:p>
        </p:txBody>
      </p:sp>
      <p:sp>
        <p:nvSpPr>
          <p:cNvPr id="21" name="TextBox 20"/>
          <p:cNvSpPr txBox="1"/>
          <p:nvPr/>
        </p:nvSpPr>
        <p:spPr>
          <a:xfrm>
            <a:off x="6464808"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Issued in 2026</a:t>
            </a:r>
          </a:p>
        </p:txBody>
      </p:sp>
      <p:sp>
        <p:nvSpPr>
          <p:cNvPr id="22" name="TextBox 21"/>
          <p:cNvSpPr txBox="1"/>
          <p:nvPr/>
        </p:nvSpPr>
        <p:spPr>
          <a:xfrm>
            <a:off x="6464808"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Against 368 in the whole of 2025.</a:t>
            </a:r>
          </a:p>
        </p:txBody>
      </p:sp>
      <p:sp>
        <p:nvSpPr>
          <p:cNvPr id="23" name="Rectangle 22"/>
          <p:cNvSpPr/>
          <p:nvPr/>
        </p:nvSpPr>
        <p:spPr>
          <a:xfrm>
            <a:off x="9057132"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7132"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4876" y="1810512"/>
            <a:ext cx="2203704" cy="548640"/>
          </a:xfrm>
          <a:prstGeom prst="rect">
            <a:avLst/>
          </a:prstGeom>
          <a:noFill/>
        </p:spPr>
        <p:txBody>
          <a:bodyPr wrap="square" lIns="0" rIns="0" tIns="0" bIns="0" anchor="t">
            <a:spAutoFit/>
          </a:bodyPr>
          <a:lstStyle/>
          <a:p>
            <a:pPr algn="l"/>
            <a:r>
              <a:rPr sz="3400" b="1">
                <a:solidFill>
                  <a:srgbClr val="F9A825"/>
                </a:solidFill>
                <a:latin typeface="Cambria"/>
              </a:rPr>
              <a:t>76%</a:t>
            </a:r>
          </a:p>
        </p:txBody>
      </p:sp>
      <p:sp>
        <p:nvSpPr>
          <p:cNvPr id="26" name="TextBox 25"/>
          <p:cNvSpPr txBox="1"/>
          <p:nvPr/>
        </p:nvSpPr>
        <p:spPr>
          <a:xfrm>
            <a:off x="9294876"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From one company</a:t>
            </a:r>
          </a:p>
        </p:txBody>
      </p:sp>
      <p:sp>
        <p:nvSpPr>
          <p:cNvPr id="27" name="TextBox 26"/>
          <p:cNvSpPr txBox="1"/>
          <p:nvPr/>
        </p:nvSpPr>
        <p:spPr>
          <a:xfrm>
            <a:off x="9294876"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958 of 1,253 records are Hotel Grandis's.</a:t>
            </a:r>
          </a:p>
        </p:txBody>
      </p:sp>
      <p:sp>
        <p:nvSpPr>
          <p:cNvPr id="28" name="Rectangle 27"/>
          <p:cNvSpPr/>
          <p:nvPr/>
        </p:nvSpPr>
        <p:spPr>
          <a:xfrm>
            <a:off x="566928" y="3675887"/>
            <a:ext cx="51206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749039"/>
            <a:ext cx="1645919" cy="329184"/>
          </a:xfrm>
          <a:prstGeom prst="rect">
            <a:avLst/>
          </a:prstGeom>
          <a:noFill/>
        </p:spPr>
        <p:txBody>
          <a:bodyPr wrap="square" lIns="0" rIns="0" tIns="0" bIns="0" anchor="t">
            <a:spAutoFit/>
          </a:bodyPr>
          <a:lstStyle/>
          <a:p>
            <a:pPr algn="l"/>
            <a:r>
              <a:rPr sz="950" b="1">
                <a:solidFill>
                  <a:srgbClr val="FFFFFF"/>
                </a:solidFill>
                <a:latin typeface="Calibri"/>
              </a:rPr>
              <a:t>Year</a:t>
            </a:r>
          </a:p>
        </p:txBody>
      </p:sp>
      <p:sp>
        <p:nvSpPr>
          <p:cNvPr id="30" name="TextBox 29"/>
          <p:cNvSpPr txBox="1"/>
          <p:nvPr/>
        </p:nvSpPr>
        <p:spPr>
          <a:xfrm>
            <a:off x="2496311" y="3749039"/>
            <a:ext cx="914399" cy="329184"/>
          </a:xfrm>
          <a:prstGeom prst="rect">
            <a:avLst/>
          </a:prstGeom>
          <a:noFill/>
        </p:spPr>
        <p:txBody>
          <a:bodyPr wrap="square" lIns="0" rIns="0" tIns="0" bIns="0" anchor="t">
            <a:spAutoFit/>
          </a:bodyPr>
          <a:lstStyle/>
          <a:p>
            <a:pPr algn="r"/>
            <a:r>
              <a:rPr sz="950" b="1">
                <a:solidFill>
                  <a:srgbClr val="FFFFFF"/>
                </a:solidFill>
                <a:latin typeface="Calibri"/>
              </a:rPr>
              <a:t>Merit</a:t>
            </a:r>
          </a:p>
        </p:txBody>
      </p:sp>
      <p:sp>
        <p:nvSpPr>
          <p:cNvPr id="31" name="TextBox 30"/>
          <p:cNvSpPr txBox="1"/>
          <p:nvPr/>
        </p:nvSpPr>
        <p:spPr>
          <a:xfrm>
            <a:off x="3593590" y="3749039"/>
            <a:ext cx="914399" cy="329184"/>
          </a:xfrm>
          <a:prstGeom prst="rect">
            <a:avLst/>
          </a:prstGeom>
          <a:noFill/>
        </p:spPr>
        <p:txBody>
          <a:bodyPr wrap="square" lIns="0" rIns="0" tIns="0" bIns="0" anchor="t">
            <a:spAutoFit/>
          </a:bodyPr>
          <a:lstStyle/>
          <a:p>
            <a:pPr algn="r"/>
            <a:r>
              <a:rPr sz="950" b="1">
                <a:solidFill>
                  <a:srgbClr val="FFFFFF"/>
                </a:solidFill>
                <a:latin typeface="Calibri"/>
              </a:rPr>
              <a:t>Demerit</a:t>
            </a:r>
          </a:p>
        </p:txBody>
      </p:sp>
      <p:sp>
        <p:nvSpPr>
          <p:cNvPr id="32" name="TextBox 31"/>
          <p:cNvSpPr txBox="1"/>
          <p:nvPr/>
        </p:nvSpPr>
        <p:spPr>
          <a:xfrm>
            <a:off x="4690869" y="3749039"/>
            <a:ext cx="914399" cy="329184"/>
          </a:xfrm>
          <a:prstGeom prst="rect">
            <a:avLst/>
          </a:prstGeom>
          <a:noFill/>
        </p:spPr>
        <p:txBody>
          <a:bodyPr wrap="square" lIns="0" rIns="0" tIns="0" bIns="0" anchor="t">
            <a:spAutoFit/>
          </a:bodyPr>
          <a:lstStyle/>
          <a:p>
            <a:pPr algn="r"/>
            <a:r>
              <a:rPr sz="950" b="1">
                <a:solidFill>
                  <a:srgbClr val="FFFFFF"/>
                </a:solidFill>
                <a:latin typeface="Calibri"/>
              </a:rPr>
              <a:t>Total</a:t>
            </a:r>
          </a:p>
        </p:txBody>
      </p:sp>
      <p:sp>
        <p:nvSpPr>
          <p:cNvPr id="33" name="Rectangle 32"/>
          <p:cNvSpPr/>
          <p:nvPr/>
        </p:nvSpPr>
        <p:spPr>
          <a:xfrm>
            <a:off x="566928" y="4005071"/>
            <a:ext cx="51206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4311395"/>
            <a:ext cx="51206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 y="4069079"/>
            <a:ext cx="1645919" cy="306324"/>
          </a:xfrm>
          <a:prstGeom prst="rect">
            <a:avLst/>
          </a:prstGeom>
          <a:noFill/>
        </p:spPr>
        <p:txBody>
          <a:bodyPr wrap="square" lIns="0" rIns="0" tIns="0" bIns="0" anchor="t">
            <a:spAutoFit/>
          </a:bodyPr>
          <a:lstStyle/>
          <a:p>
            <a:pPr algn="l"/>
            <a:r>
              <a:rPr sz="1000" b="1">
                <a:solidFill>
                  <a:srgbClr val="111111"/>
                </a:solidFill>
                <a:latin typeface="Calibri"/>
              </a:rPr>
              <a:t>2023</a:t>
            </a:r>
          </a:p>
        </p:txBody>
      </p:sp>
      <p:sp>
        <p:nvSpPr>
          <p:cNvPr id="36" name="TextBox 35"/>
          <p:cNvSpPr txBox="1"/>
          <p:nvPr/>
        </p:nvSpPr>
        <p:spPr>
          <a:xfrm>
            <a:off x="2496311" y="4069079"/>
            <a:ext cx="914399" cy="306324"/>
          </a:xfrm>
          <a:prstGeom prst="rect">
            <a:avLst/>
          </a:prstGeom>
          <a:noFill/>
        </p:spPr>
        <p:txBody>
          <a:bodyPr wrap="square" lIns="0" rIns="0" tIns="0" bIns="0" anchor="t">
            <a:spAutoFit/>
          </a:bodyPr>
          <a:lstStyle/>
          <a:p>
            <a:pPr algn="r"/>
            <a:r>
              <a:rPr sz="1000" b="0">
                <a:solidFill>
                  <a:srgbClr val="111111"/>
                </a:solidFill>
                <a:latin typeface="Calibri"/>
              </a:rPr>
              <a:t>0</a:t>
            </a:r>
          </a:p>
        </p:txBody>
      </p:sp>
      <p:sp>
        <p:nvSpPr>
          <p:cNvPr id="37" name="TextBox 36"/>
          <p:cNvSpPr txBox="1"/>
          <p:nvPr/>
        </p:nvSpPr>
        <p:spPr>
          <a:xfrm>
            <a:off x="3593590" y="4069079"/>
            <a:ext cx="914399" cy="306324"/>
          </a:xfrm>
          <a:prstGeom prst="rect">
            <a:avLst/>
          </a:prstGeom>
          <a:noFill/>
        </p:spPr>
        <p:txBody>
          <a:bodyPr wrap="square" lIns="0" rIns="0" tIns="0" bIns="0" anchor="t">
            <a:spAutoFit/>
          </a:bodyPr>
          <a:lstStyle/>
          <a:p>
            <a:pPr algn="r"/>
            <a:r>
              <a:rPr sz="1000" b="0">
                <a:solidFill>
                  <a:srgbClr val="111111"/>
                </a:solidFill>
                <a:latin typeface="Calibri"/>
              </a:rPr>
              <a:t>1</a:t>
            </a:r>
          </a:p>
        </p:txBody>
      </p:sp>
      <p:sp>
        <p:nvSpPr>
          <p:cNvPr id="38" name="TextBox 37"/>
          <p:cNvSpPr txBox="1"/>
          <p:nvPr/>
        </p:nvSpPr>
        <p:spPr>
          <a:xfrm>
            <a:off x="4690869" y="4069079"/>
            <a:ext cx="914399" cy="306324"/>
          </a:xfrm>
          <a:prstGeom prst="rect">
            <a:avLst/>
          </a:prstGeom>
          <a:noFill/>
        </p:spPr>
        <p:txBody>
          <a:bodyPr wrap="square" lIns="0" rIns="0" tIns="0" bIns="0" anchor="t">
            <a:spAutoFit/>
          </a:bodyPr>
          <a:lstStyle/>
          <a:p>
            <a:pPr algn="r"/>
            <a:r>
              <a:rPr sz="1000" b="0">
                <a:solidFill>
                  <a:srgbClr val="111111"/>
                </a:solidFill>
                <a:latin typeface="Calibri"/>
              </a:rPr>
              <a:t>1</a:t>
            </a:r>
          </a:p>
        </p:txBody>
      </p:sp>
      <p:sp>
        <p:nvSpPr>
          <p:cNvPr id="39" name="Rectangle 38"/>
          <p:cNvSpPr/>
          <p:nvPr/>
        </p:nvSpPr>
        <p:spPr>
          <a:xfrm>
            <a:off x="566928" y="4311395"/>
            <a:ext cx="51206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4617719"/>
            <a:ext cx="51206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 y="4375403"/>
            <a:ext cx="1645919" cy="306324"/>
          </a:xfrm>
          <a:prstGeom prst="rect">
            <a:avLst/>
          </a:prstGeom>
          <a:noFill/>
        </p:spPr>
        <p:txBody>
          <a:bodyPr wrap="square" lIns="0" rIns="0" tIns="0" bIns="0" anchor="t">
            <a:spAutoFit/>
          </a:bodyPr>
          <a:lstStyle/>
          <a:p>
            <a:pPr algn="l"/>
            <a:r>
              <a:rPr sz="1000" b="1">
                <a:solidFill>
                  <a:srgbClr val="111111"/>
                </a:solidFill>
                <a:latin typeface="Calibri"/>
              </a:rPr>
              <a:t>2024</a:t>
            </a:r>
          </a:p>
        </p:txBody>
      </p:sp>
      <p:sp>
        <p:nvSpPr>
          <p:cNvPr id="42" name="TextBox 41"/>
          <p:cNvSpPr txBox="1"/>
          <p:nvPr/>
        </p:nvSpPr>
        <p:spPr>
          <a:xfrm>
            <a:off x="2496311" y="4375403"/>
            <a:ext cx="914399" cy="306324"/>
          </a:xfrm>
          <a:prstGeom prst="rect">
            <a:avLst/>
          </a:prstGeom>
          <a:noFill/>
        </p:spPr>
        <p:txBody>
          <a:bodyPr wrap="square" lIns="0" rIns="0" tIns="0" bIns="0" anchor="t">
            <a:spAutoFit/>
          </a:bodyPr>
          <a:lstStyle/>
          <a:p>
            <a:pPr algn="r"/>
            <a:r>
              <a:rPr sz="1000" b="0">
                <a:solidFill>
                  <a:srgbClr val="111111"/>
                </a:solidFill>
                <a:latin typeface="Calibri"/>
              </a:rPr>
              <a:t>1</a:t>
            </a:r>
          </a:p>
        </p:txBody>
      </p:sp>
      <p:sp>
        <p:nvSpPr>
          <p:cNvPr id="43" name="TextBox 42"/>
          <p:cNvSpPr txBox="1"/>
          <p:nvPr/>
        </p:nvSpPr>
        <p:spPr>
          <a:xfrm>
            <a:off x="3593590" y="4375403"/>
            <a:ext cx="914399" cy="306324"/>
          </a:xfrm>
          <a:prstGeom prst="rect">
            <a:avLst/>
          </a:prstGeom>
          <a:noFill/>
        </p:spPr>
        <p:txBody>
          <a:bodyPr wrap="square" lIns="0" rIns="0" tIns="0" bIns="0" anchor="t">
            <a:spAutoFit/>
          </a:bodyPr>
          <a:lstStyle/>
          <a:p>
            <a:pPr algn="r"/>
            <a:r>
              <a:rPr sz="1000" b="0">
                <a:solidFill>
                  <a:srgbClr val="111111"/>
                </a:solidFill>
                <a:latin typeface="Calibri"/>
              </a:rPr>
              <a:t>146</a:t>
            </a:r>
          </a:p>
        </p:txBody>
      </p:sp>
      <p:sp>
        <p:nvSpPr>
          <p:cNvPr id="44" name="TextBox 43"/>
          <p:cNvSpPr txBox="1"/>
          <p:nvPr/>
        </p:nvSpPr>
        <p:spPr>
          <a:xfrm>
            <a:off x="4690869" y="4375403"/>
            <a:ext cx="914399" cy="306324"/>
          </a:xfrm>
          <a:prstGeom prst="rect">
            <a:avLst/>
          </a:prstGeom>
          <a:noFill/>
        </p:spPr>
        <p:txBody>
          <a:bodyPr wrap="square" lIns="0" rIns="0" tIns="0" bIns="0" anchor="t">
            <a:spAutoFit/>
          </a:bodyPr>
          <a:lstStyle/>
          <a:p>
            <a:pPr algn="r"/>
            <a:r>
              <a:rPr sz="1000" b="0">
                <a:solidFill>
                  <a:srgbClr val="111111"/>
                </a:solidFill>
                <a:latin typeface="Calibri"/>
              </a:rPr>
              <a:t>148</a:t>
            </a:r>
          </a:p>
        </p:txBody>
      </p:sp>
      <p:sp>
        <p:nvSpPr>
          <p:cNvPr id="45" name="Rectangle 44"/>
          <p:cNvSpPr/>
          <p:nvPr/>
        </p:nvSpPr>
        <p:spPr>
          <a:xfrm>
            <a:off x="566928" y="4617719"/>
            <a:ext cx="51206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66928" y="4924043"/>
            <a:ext cx="51206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 y="4681727"/>
            <a:ext cx="1645919" cy="306324"/>
          </a:xfrm>
          <a:prstGeom prst="rect">
            <a:avLst/>
          </a:prstGeom>
          <a:noFill/>
        </p:spPr>
        <p:txBody>
          <a:bodyPr wrap="square" lIns="0" rIns="0" tIns="0" bIns="0" anchor="t">
            <a:spAutoFit/>
          </a:bodyPr>
          <a:lstStyle/>
          <a:p>
            <a:pPr algn="l"/>
            <a:r>
              <a:rPr sz="1000" b="1">
                <a:solidFill>
                  <a:srgbClr val="111111"/>
                </a:solidFill>
                <a:latin typeface="Calibri"/>
              </a:rPr>
              <a:t>2025</a:t>
            </a:r>
          </a:p>
        </p:txBody>
      </p:sp>
      <p:sp>
        <p:nvSpPr>
          <p:cNvPr id="48" name="TextBox 47"/>
          <p:cNvSpPr txBox="1"/>
          <p:nvPr/>
        </p:nvSpPr>
        <p:spPr>
          <a:xfrm>
            <a:off x="2496311" y="4681727"/>
            <a:ext cx="914399" cy="306324"/>
          </a:xfrm>
          <a:prstGeom prst="rect">
            <a:avLst/>
          </a:prstGeom>
          <a:noFill/>
        </p:spPr>
        <p:txBody>
          <a:bodyPr wrap="square" lIns="0" rIns="0" tIns="0" bIns="0" anchor="t">
            <a:spAutoFit/>
          </a:bodyPr>
          <a:lstStyle/>
          <a:p>
            <a:pPr algn="r"/>
            <a:r>
              <a:rPr sz="1000" b="0">
                <a:solidFill>
                  <a:srgbClr val="111111"/>
                </a:solidFill>
                <a:latin typeface="Calibri"/>
              </a:rPr>
              <a:t>260</a:t>
            </a:r>
          </a:p>
        </p:txBody>
      </p:sp>
      <p:sp>
        <p:nvSpPr>
          <p:cNvPr id="49" name="TextBox 48"/>
          <p:cNvSpPr txBox="1"/>
          <p:nvPr/>
        </p:nvSpPr>
        <p:spPr>
          <a:xfrm>
            <a:off x="3593590" y="4681727"/>
            <a:ext cx="914399" cy="306324"/>
          </a:xfrm>
          <a:prstGeom prst="rect">
            <a:avLst/>
          </a:prstGeom>
          <a:noFill/>
        </p:spPr>
        <p:txBody>
          <a:bodyPr wrap="square" lIns="0" rIns="0" tIns="0" bIns="0" anchor="t">
            <a:spAutoFit/>
          </a:bodyPr>
          <a:lstStyle/>
          <a:p>
            <a:pPr algn="r"/>
            <a:r>
              <a:rPr sz="1000" b="0">
                <a:solidFill>
                  <a:srgbClr val="111111"/>
                </a:solidFill>
                <a:latin typeface="Calibri"/>
              </a:rPr>
              <a:t>108</a:t>
            </a:r>
          </a:p>
        </p:txBody>
      </p:sp>
      <p:sp>
        <p:nvSpPr>
          <p:cNvPr id="50" name="TextBox 49"/>
          <p:cNvSpPr txBox="1"/>
          <p:nvPr/>
        </p:nvSpPr>
        <p:spPr>
          <a:xfrm>
            <a:off x="4690869" y="4681727"/>
            <a:ext cx="914399" cy="306324"/>
          </a:xfrm>
          <a:prstGeom prst="rect">
            <a:avLst/>
          </a:prstGeom>
          <a:noFill/>
        </p:spPr>
        <p:txBody>
          <a:bodyPr wrap="square" lIns="0" rIns="0" tIns="0" bIns="0" anchor="t">
            <a:spAutoFit/>
          </a:bodyPr>
          <a:lstStyle/>
          <a:p>
            <a:pPr algn="r"/>
            <a:r>
              <a:rPr sz="1000" b="0">
                <a:solidFill>
                  <a:srgbClr val="111111"/>
                </a:solidFill>
                <a:latin typeface="Calibri"/>
              </a:rPr>
              <a:t>368</a:t>
            </a:r>
          </a:p>
        </p:txBody>
      </p:sp>
      <p:sp>
        <p:nvSpPr>
          <p:cNvPr id="51" name="Rectangle 50"/>
          <p:cNvSpPr/>
          <p:nvPr/>
        </p:nvSpPr>
        <p:spPr>
          <a:xfrm>
            <a:off x="566928" y="4924043"/>
            <a:ext cx="51206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66928" y="5230367"/>
            <a:ext cx="51206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7512" y="4988051"/>
            <a:ext cx="1645919" cy="306324"/>
          </a:xfrm>
          <a:prstGeom prst="rect">
            <a:avLst/>
          </a:prstGeom>
          <a:noFill/>
        </p:spPr>
        <p:txBody>
          <a:bodyPr wrap="square" lIns="0" rIns="0" tIns="0" bIns="0" anchor="t">
            <a:spAutoFit/>
          </a:bodyPr>
          <a:lstStyle/>
          <a:p>
            <a:pPr algn="l"/>
            <a:r>
              <a:rPr sz="1000" b="1">
                <a:solidFill>
                  <a:srgbClr val="111111"/>
                </a:solidFill>
                <a:latin typeface="Calibri"/>
              </a:rPr>
              <a:t>2026 YTD</a:t>
            </a:r>
          </a:p>
        </p:txBody>
      </p:sp>
      <p:sp>
        <p:nvSpPr>
          <p:cNvPr id="54" name="TextBox 53"/>
          <p:cNvSpPr txBox="1"/>
          <p:nvPr/>
        </p:nvSpPr>
        <p:spPr>
          <a:xfrm>
            <a:off x="2496311" y="4988051"/>
            <a:ext cx="914399" cy="306324"/>
          </a:xfrm>
          <a:prstGeom prst="rect">
            <a:avLst/>
          </a:prstGeom>
          <a:noFill/>
        </p:spPr>
        <p:txBody>
          <a:bodyPr wrap="square" lIns="0" rIns="0" tIns="0" bIns="0" anchor="t">
            <a:spAutoFit/>
          </a:bodyPr>
          <a:lstStyle/>
          <a:p>
            <a:pPr algn="r"/>
            <a:r>
              <a:rPr sz="1000" b="0">
                <a:solidFill>
                  <a:srgbClr val="111111"/>
                </a:solidFill>
                <a:latin typeface="Calibri"/>
              </a:rPr>
              <a:t>480</a:t>
            </a:r>
          </a:p>
        </p:txBody>
      </p:sp>
      <p:sp>
        <p:nvSpPr>
          <p:cNvPr id="55" name="TextBox 54"/>
          <p:cNvSpPr txBox="1"/>
          <p:nvPr/>
        </p:nvSpPr>
        <p:spPr>
          <a:xfrm>
            <a:off x="3593590" y="4988051"/>
            <a:ext cx="914399" cy="306324"/>
          </a:xfrm>
          <a:prstGeom prst="rect">
            <a:avLst/>
          </a:prstGeom>
          <a:noFill/>
        </p:spPr>
        <p:txBody>
          <a:bodyPr wrap="square" lIns="0" rIns="0" tIns="0" bIns="0" anchor="t">
            <a:spAutoFit/>
          </a:bodyPr>
          <a:lstStyle/>
          <a:p>
            <a:pPr algn="r"/>
            <a:r>
              <a:rPr sz="1000" b="0">
                <a:solidFill>
                  <a:srgbClr val="111111"/>
                </a:solidFill>
                <a:latin typeface="Calibri"/>
              </a:rPr>
              <a:t>255</a:t>
            </a:r>
          </a:p>
        </p:txBody>
      </p:sp>
      <p:sp>
        <p:nvSpPr>
          <p:cNvPr id="56" name="TextBox 55"/>
          <p:cNvSpPr txBox="1"/>
          <p:nvPr/>
        </p:nvSpPr>
        <p:spPr>
          <a:xfrm>
            <a:off x="4690869" y="4988051"/>
            <a:ext cx="914399" cy="306324"/>
          </a:xfrm>
          <a:prstGeom prst="rect">
            <a:avLst/>
          </a:prstGeom>
          <a:noFill/>
        </p:spPr>
        <p:txBody>
          <a:bodyPr wrap="square" lIns="0" rIns="0" tIns="0" bIns="0" anchor="t">
            <a:spAutoFit/>
          </a:bodyPr>
          <a:lstStyle/>
          <a:p>
            <a:pPr algn="r"/>
            <a:r>
              <a:rPr sz="1000" b="0">
                <a:solidFill>
                  <a:srgbClr val="111111"/>
                </a:solidFill>
                <a:latin typeface="Calibri"/>
              </a:rPr>
              <a:t>736</a:t>
            </a:r>
          </a:p>
        </p:txBody>
      </p:sp>
      <p:sp>
        <p:nvSpPr>
          <p:cNvPr id="57" name="Rectangle 56"/>
          <p:cNvSpPr/>
          <p:nvPr/>
        </p:nvSpPr>
        <p:spPr>
          <a:xfrm>
            <a:off x="566928" y="5230367"/>
            <a:ext cx="51206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66928" y="5536691"/>
            <a:ext cx="51206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7512" y="5294375"/>
            <a:ext cx="1645919" cy="306324"/>
          </a:xfrm>
          <a:prstGeom prst="rect">
            <a:avLst/>
          </a:prstGeom>
          <a:noFill/>
        </p:spPr>
        <p:txBody>
          <a:bodyPr wrap="square" lIns="0" rIns="0" tIns="0" bIns="0" anchor="t">
            <a:spAutoFit/>
          </a:bodyPr>
          <a:lstStyle/>
          <a:p>
            <a:pPr algn="l"/>
            <a:r>
              <a:rPr sz="1000" b="1">
                <a:solidFill>
                  <a:srgbClr val="1E2761"/>
                </a:solidFill>
                <a:latin typeface="Calibri"/>
              </a:rPr>
              <a:t>Total</a:t>
            </a:r>
          </a:p>
        </p:txBody>
      </p:sp>
      <p:sp>
        <p:nvSpPr>
          <p:cNvPr id="60" name="TextBox 59"/>
          <p:cNvSpPr txBox="1"/>
          <p:nvPr/>
        </p:nvSpPr>
        <p:spPr>
          <a:xfrm>
            <a:off x="2496311" y="5294375"/>
            <a:ext cx="914399" cy="306324"/>
          </a:xfrm>
          <a:prstGeom prst="rect">
            <a:avLst/>
          </a:prstGeom>
          <a:noFill/>
        </p:spPr>
        <p:txBody>
          <a:bodyPr wrap="square" lIns="0" rIns="0" tIns="0" bIns="0" anchor="t">
            <a:spAutoFit/>
          </a:bodyPr>
          <a:lstStyle/>
          <a:p>
            <a:pPr algn="r"/>
            <a:r>
              <a:rPr sz="1000" b="1">
                <a:solidFill>
                  <a:srgbClr val="1E2761"/>
                </a:solidFill>
                <a:latin typeface="Calibri"/>
              </a:rPr>
              <a:t>741</a:t>
            </a:r>
          </a:p>
        </p:txBody>
      </p:sp>
      <p:sp>
        <p:nvSpPr>
          <p:cNvPr id="61" name="TextBox 60"/>
          <p:cNvSpPr txBox="1"/>
          <p:nvPr/>
        </p:nvSpPr>
        <p:spPr>
          <a:xfrm>
            <a:off x="3593590" y="5294375"/>
            <a:ext cx="914399" cy="306324"/>
          </a:xfrm>
          <a:prstGeom prst="rect">
            <a:avLst/>
          </a:prstGeom>
          <a:noFill/>
        </p:spPr>
        <p:txBody>
          <a:bodyPr wrap="square" lIns="0" rIns="0" tIns="0" bIns="0" anchor="t">
            <a:spAutoFit/>
          </a:bodyPr>
          <a:lstStyle/>
          <a:p>
            <a:pPr algn="r"/>
            <a:r>
              <a:rPr sz="1000" b="1">
                <a:solidFill>
                  <a:srgbClr val="1E2761"/>
                </a:solidFill>
                <a:latin typeface="Calibri"/>
              </a:rPr>
              <a:t>510</a:t>
            </a:r>
          </a:p>
        </p:txBody>
      </p:sp>
      <p:sp>
        <p:nvSpPr>
          <p:cNvPr id="62" name="TextBox 61"/>
          <p:cNvSpPr txBox="1"/>
          <p:nvPr/>
        </p:nvSpPr>
        <p:spPr>
          <a:xfrm>
            <a:off x="4690869" y="5294375"/>
            <a:ext cx="914399" cy="306324"/>
          </a:xfrm>
          <a:prstGeom prst="rect">
            <a:avLst/>
          </a:prstGeom>
          <a:noFill/>
        </p:spPr>
        <p:txBody>
          <a:bodyPr wrap="square" lIns="0" rIns="0" tIns="0" bIns="0" anchor="t">
            <a:spAutoFit/>
          </a:bodyPr>
          <a:lstStyle/>
          <a:p>
            <a:pPr algn="r"/>
            <a:r>
              <a:rPr sz="1000" b="1">
                <a:solidFill>
                  <a:srgbClr val="1E2761"/>
                </a:solidFill>
                <a:latin typeface="Calibri"/>
              </a:rPr>
              <a:t>1,253</a:t>
            </a:r>
          </a:p>
        </p:txBody>
      </p:sp>
      <p:sp>
        <p:nvSpPr>
          <p:cNvPr id="63" name="Rectangle 62"/>
          <p:cNvSpPr/>
          <p:nvPr/>
        </p:nvSpPr>
        <p:spPr>
          <a:xfrm>
            <a:off x="6035040" y="3675887"/>
            <a:ext cx="5596128" cy="118872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035040" y="3675887"/>
            <a:ext cx="50292"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54496" y="3813047"/>
            <a:ext cx="5184648" cy="274320"/>
          </a:xfrm>
          <a:prstGeom prst="rect">
            <a:avLst/>
          </a:prstGeom>
          <a:noFill/>
        </p:spPr>
        <p:txBody>
          <a:bodyPr wrap="square" lIns="0" rIns="0" tIns="0" bIns="0" anchor="t">
            <a:spAutoFit/>
          </a:bodyPr>
          <a:lstStyle/>
          <a:p>
            <a:pPr algn="l"/>
            <a:r>
              <a:rPr sz="1150" b="1">
                <a:solidFill>
                  <a:srgbClr val="C62828"/>
                </a:solidFill>
                <a:latin typeface="Calibri"/>
              </a:rPr>
              <a:t>Three companies have never issued one</a:t>
            </a:r>
          </a:p>
        </p:txBody>
      </p:sp>
      <p:sp>
        <p:nvSpPr>
          <p:cNvPr id="66" name="TextBox 65"/>
          <p:cNvSpPr txBox="1"/>
          <p:nvPr/>
        </p:nvSpPr>
        <p:spPr>
          <a:xfrm>
            <a:off x="6254496" y="4114799"/>
            <a:ext cx="5184648" cy="658368"/>
          </a:xfrm>
          <a:prstGeom prst="rect">
            <a:avLst/>
          </a:prstGeom>
          <a:noFill/>
        </p:spPr>
        <p:txBody>
          <a:bodyPr wrap="square" lIns="0" rIns="0" tIns="0" bIns="0" anchor="t">
            <a:spAutoFit/>
          </a:bodyPr>
          <a:lstStyle/>
          <a:p>
            <a:pPr algn="l">
              <a:lnSpc>
                <a:spcPct val="120000"/>
              </a:lnSpc>
            </a:pPr>
            <a:r>
              <a:rPr sz="1050" b="0">
                <a:solidFill>
                  <a:srgbClr val="333B52"/>
                </a:solidFill>
                <a:latin typeface="Calibri"/>
              </a:rPr>
              <a:t>AMC, TP Group and Trillium have no records at all. Between them that is 146 people whose recognition is not being recorded anywhere.</a:t>
            </a:r>
          </a:p>
        </p:txBody>
      </p:sp>
      <p:sp>
        <p:nvSpPr>
          <p:cNvPr id="67" name="Rectangle 66"/>
          <p:cNvSpPr/>
          <p:nvPr/>
        </p:nvSpPr>
        <p:spPr>
          <a:xfrm>
            <a:off x="6035040" y="5029200"/>
            <a:ext cx="5596128" cy="118872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035040" y="5029200"/>
            <a:ext cx="50292" cy="11887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54496" y="5166360"/>
            <a:ext cx="5184648" cy="274320"/>
          </a:xfrm>
          <a:prstGeom prst="rect">
            <a:avLst/>
          </a:prstGeom>
          <a:noFill/>
        </p:spPr>
        <p:txBody>
          <a:bodyPr wrap="square" lIns="0" rIns="0" tIns="0" bIns="0" anchor="t">
            <a:spAutoFit/>
          </a:bodyPr>
          <a:lstStyle/>
          <a:p>
            <a:pPr algn="l"/>
            <a:r>
              <a:rPr sz="1150" b="1">
                <a:solidFill>
                  <a:srgbClr val="F9A825"/>
                </a:solidFill>
                <a:latin typeface="Calibri"/>
              </a:rPr>
              <a:t>Two companies, two habits</a:t>
            </a:r>
          </a:p>
        </p:txBody>
      </p:sp>
      <p:sp>
        <p:nvSpPr>
          <p:cNvPr id="70" name="TextBox 69"/>
          <p:cNvSpPr txBox="1"/>
          <p:nvPr/>
        </p:nvSpPr>
        <p:spPr>
          <a:xfrm>
            <a:off x="6254496" y="5468112"/>
            <a:ext cx="5184648" cy="658368"/>
          </a:xfrm>
          <a:prstGeom prst="rect">
            <a:avLst/>
          </a:prstGeom>
          <a:noFill/>
        </p:spPr>
        <p:txBody>
          <a:bodyPr wrap="square" lIns="0" rIns="0" tIns="0" bIns="0" anchor="t">
            <a:spAutoFit/>
          </a:bodyPr>
          <a:lstStyle/>
          <a:p>
            <a:pPr algn="l">
              <a:lnSpc>
                <a:spcPct val="120000"/>
              </a:lnSpc>
            </a:pPr>
            <a:r>
              <a:rPr sz="1050" b="0">
                <a:solidFill>
                  <a:srgbClr val="333B52"/>
                </a:solidFill>
                <a:latin typeface="Calibri"/>
              </a:rPr>
              <a:t>Hotel Grandis is merit-led (74% merit). Globinaco is almost entirely demerit (6 merit out of 264). The same tool is being used for opposite purposes.</a:t>
            </a:r>
          </a:p>
        </p:txBody>
      </p:sp>
      <p:sp>
        <p:nvSpPr>
          <p:cNvPr id="71" name="TextBox 70"/>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All records on file, excluding deleted ones. Two records carry no merit/demerit type and are in the totals but neither column. A record is counted for the company of the person it was issued to.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4 · BY COMPANY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Merit / Demerit — By Company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Hotel Grandis carries three quarters of group volume; three companies have issued none.</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45920"/>
            <a:ext cx="2615184"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Globinaco</a:t>
            </a:r>
          </a:p>
        </p:txBody>
      </p:sp>
      <p:sp>
        <p:nvSpPr>
          <p:cNvPr id="11" name="TextBox 10"/>
          <p:cNvSpPr txBox="1"/>
          <p:nvPr/>
        </p:nvSpPr>
        <p:spPr>
          <a:xfrm>
            <a:off x="749808" y="2039112"/>
            <a:ext cx="1463040" cy="457200"/>
          </a:xfrm>
          <a:prstGeom prst="rect">
            <a:avLst/>
          </a:prstGeom>
          <a:noFill/>
        </p:spPr>
        <p:txBody>
          <a:bodyPr wrap="square" lIns="0" rIns="0" tIns="0" bIns="0" anchor="t">
            <a:spAutoFit/>
          </a:bodyPr>
          <a:lstStyle/>
          <a:p>
            <a:pPr algn="l"/>
            <a:r>
              <a:rPr sz="2400" b="1">
                <a:solidFill>
                  <a:srgbClr val="C62828"/>
                </a:solidFill>
                <a:latin typeface="Cambria"/>
              </a:rPr>
              <a:t>2%</a:t>
            </a:r>
          </a:p>
        </p:txBody>
      </p:sp>
      <p:sp>
        <p:nvSpPr>
          <p:cNvPr id="12" name="TextBox 11"/>
          <p:cNvSpPr txBox="1"/>
          <p:nvPr/>
        </p:nvSpPr>
        <p:spPr>
          <a:xfrm>
            <a:off x="749808"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MERIT SHARE</a:t>
            </a:r>
          </a:p>
        </p:txBody>
      </p:sp>
      <p:sp>
        <p:nvSpPr>
          <p:cNvPr id="13" name="TextBox 12"/>
          <p:cNvSpPr txBox="1"/>
          <p:nvPr/>
        </p:nvSpPr>
        <p:spPr>
          <a:xfrm>
            <a:off x="749808"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14" name="TextBox 13"/>
          <p:cNvSpPr txBox="1"/>
          <p:nvPr/>
        </p:nvSpPr>
        <p:spPr>
          <a:xfrm>
            <a:off x="2212848" y="2638044"/>
            <a:ext cx="786384" cy="201168"/>
          </a:xfrm>
          <a:prstGeom prst="rect">
            <a:avLst/>
          </a:prstGeom>
          <a:noFill/>
        </p:spPr>
        <p:txBody>
          <a:bodyPr wrap="square" lIns="0" rIns="0" tIns="0" bIns="0" anchor="t">
            <a:spAutoFit/>
          </a:bodyPr>
          <a:lstStyle/>
          <a:p>
            <a:pPr algn="r"/>
            <a:r>
              <a:rPr sz="950" b="1">
                <a:solidFill>
                  <a:srgbClr val="2E7D32"/>
                </a:solidFill>
                <a:latin typeface="Calibri"/>
              </a:rPr>
              <a:t>6</a:t>
            </a:r>
          </a:p>
        </p:txBody>
      </p:sp>
      <p:sp>
        <p:nvSpPr>
          <p:cNvPr id="15" name="TextBox 14"/>
          <p:cNvSpPr txBox="1"/>
          <p:nvPr/>
        </p:nvSpPr>
        <p:spPr>
          <a:xfrm>
            <a:off x="749808"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16" name="TextBox 15"/>
          <p:cNvSpPr txBox="1"/>
          <p:nvPr/>
        </p:nvSpPr>
        <p:spPr>
          <a:xfrm>
            <a:off x="2212848" y="2811780"/>
            <a:ext cx="786384" cy="201168"/>
          </a:xfrm>
          <a:prstGeom prst="rect">
            <a:avLst/>
          </a:prstGeom>
          <a:noFill/>
        </p:spPr>
        <p:txBody>
          <a:bodyPr wrap="square" lIns="0" rIns="0" tIns="0" bIns="0" anchor="t">
            <a:spAutoFit/>
          </a:bodyPr>
          <a:lstStyle/>
          <a:p>
            <a:pPr algn="r"/>
            <a:r>
              <a:rPr sz="950" b="1">
                <a:solidFill>
                  <a:srgbClr val="C62828"/>
                </a:solidFill>
                <a:latin typeface="Calibri"/>
              </a:rPr>
              <a:t>256</a:t>
            </a:r>
          </a:p>
        </p:txBody>
      </p:sp>
      <p:sp>
        <p:nvSpPr>
          <p:cNvPr id="17" name="TextBox 16"/>
          <p:cNvSpPr txBox="1"/>
          <p:nvPr/>
        </p:nvSpPr>
        <p:spPr>
          <a:xfrm>
            <a:off x="749808"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18" name="TextBox 17"/>
          <p:cNvSpPr txBox="1"/>
          <p:nvPr/>
        </p:nvSpPr>
        <p:spPr>
          <a:xfrm>
            <a:off x="2212848" y="2985516"/>
            <a:ext cx="786384" cy="201168"/>
          </a:xfrm>
          <a:prstGeom prst="rect">
            <a:avLst/>
          </a:prstGeom>
          <a:noFill/>
        </p:spPr>
        <p:txBody>
          <a:bodyPr wrap="square" lIns="0" rIns="0" tIns="0" bIns="0" anchor="t">
            <a:spAutoFit/>
          </a:bodyPr>
          <a:lstStyle/>
          <a:p>
            <a:pPr algn="r"/>
            <a:r>
              <a:rPr sz="950" b="1">
                <a:solidFill>
                  <a:srgbClr val="111111"/>
                </a:solidFill>
                <a:latin typeface="Calibri"/>
              </a:rPr>
              <a:t>264</a:t>
            </a:r>
          </a:p>
        </p:txBody>
      </p:sp>
      <p:sp>
        <p:nvSpPr>
          <p:cNvPr id="19" name="TextBox 18"/>
          <p:cNvSpPr txBox="1"/>
          <p:nvPr/>
        </p:nvSpPr>
        <p:spPr>
          <a:xfrm>
            <a:off x="749808"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Issued in 2026</a:t>
            </a:r>
          </a:p>
        </p:txBody>
      </p:sp>
      <p:sp>
        <p:nvSpPr>
          <p:cNvPr id="20" name="TextBox 19"/>
          <p:cNvSpPr txBox="1"/>
          <p:nvPr/>
        </p:nvSpPr>
        <p:spPr>
          <a:xfrm>
            <a:off x="2212848" y="3159252"/>
            <a:ext cx="786384" cy="201168"/>
          </a:xfrm>
          <a:prstGeom prst="rect">
            <a:avLst/>
          </a:prstGeom>
          <a:noFill/>
        </p:spPr>
        <p:txBody>
          <a:bodyPr wrap="square" lIns="0" rIns="0" tIns="0" bIns="0" anchor="t">
            <a:spAutoFit/>
          </a:bodyPr>
          <a:lstStyle/>
          <a:p>
            <a:pPr algn="r"/>
            <a:r>
              <a:rPr sz="950" b="1">
                <a:solidFill>
                  <a:srgbClr val="111111"/>
                </a:solidFill>
                <a:latin typeface="Calibri"/>
              </a:rPr>
              <a:t>107</a:t>
            </a:r>
          </a:p>
        </p:txBody>
      </p:sp>
      <p:sp>
        <p:nvSpPr>
          <p:cNvPr id="21" name="Rectangle 20"/>
          <p:cNvSpPr/>
          <p:nvPr/>
        </p:nvSpPr>
        <p:spPr>
          <a:xfrm>
            <a:off x="749808"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264 records, 107 of them in 2026. Almost entirely demerit.</a:t>
            </a:r>
          </a:p>
        </p:txBody>
      </p:sp>
      <p:sp>
        <p:nvSpPr>
          <p:cNvPr id="23" name="Rectangle 22"/>
          <p:cNvSpPr/>
          <p:nvPr/>
        </p:nvSpPr>
        <p:spPr>
          <a:xfrm>
            <a:off x="3396996"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96996" y="1645920"/>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79876"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Hotel Grandis</a:t>
            </a:r>
          </a:p>
        </p:txBody>
      </p:sp>
      <p:sp>
        <p:nvSpPr>
          <p:cNvPr id="26" name="TextBox 25"/>
          <p:cNvSpPr txBox="1"/>
          <p:nvPr/>
        </p:nvSpPr>
        <p:spPr>
          <a:xfrm>
            <a:off x="3579876" y="2039112"/>
            <a:ext cx="1463040" cy="457200"/>
          </a:xfrm>
          <a:prstGeom prst="rect">
            <a:avLst/>
          </a:prstGeom>
          <a:noFill/>
        </p:spPr>
        <p:txBody>
          <a:bodyPr wrap="square" lIns="0" rIns="0" tIns="0" bIns="0" anchor="t">
            <a:spAutoFit/>
          </a:bodyPr>
          <a:lstStyle/>
          <a:p>
            <a:pPr algn="l"/>
            <a:r>
              <a:rPr sz="2400" b="1">
                <a:solidFill>
                  <a:srgbClr val="2E7D32"/>
                </a:solidFill>
                <a:latin typeface="Cambria"/>
              </a:rPr>
              <a:t>74%</a:t>
            </a:r>
          </a:p>
        </p:txBody>
      </p:sp>
      <p:sp>
        <p:nvSpPr>
          <p:cNvPr id="27" name="TextBox 26"/>
          <p:cNvSpPr txBox="1"/>
          <p:nvPr/>
        </p:nvSpPr>
        <p:spPr>
          <a:xfrm>
            <a:off x="3579876"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MERIT SHARE</a:t>
            </a:r>
          </a:p>
        </p:txBody>
      </p:sp>
      <p:sp>
        <p:nvSpPr>
          <p:cNvPr id="28" name="TextBox 27"/>
          <p:cNvSpPr txBox="1"/>
          <p:nvPr/>
        </p:nvSpPr>
        <p:spPr>
          <a:xfrm>
            <a:off x="3579876"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29" name="TextBox 28"/>
          <p:cNvSpPr txBox="1"/>
          <p:nvPr/>
        </p:nvSpPr>
        <p:spPr>
          <a:xfrm>
            <a:off x="5042916" y="2638044"/>
            <a:ext cx="786384" cy="201168"/>
          </a:xfrm>
          <a:prstGeom prst="rect">
            <a:avLst/>
          </a:prstGeom>
          <a:noFill/>
        </p:spPr>
        <p:txBody>
          <a:bodyPr wrap="square" lIns="0" rIns="0" tIns="0" bIns="0" anchor="t">
            <a:spAutoFit/>
          </a:bodyPr>
          <a:lstStyle/>
          <a:p>
            <a:pPr algn="r"/>
            <a:r>
              <a:rPr sz="950" b="1">
                <a:solidFill>
                  <a:srgbClr val="2E7D32"/>
                </a:solidFill>
                <a:latin typeface="Calibri"/>
              </a:rPr>
              <a:t>712</a:t>
            </a:r>
          </a:p>
        </p:txBody>
      </p:sp>
      <p:sp>
        <p:nvSpPr>
          <p:cNvPr id="30" name="TextBox 29"/>
          <p:cNvSpPr txBox="1"/>
          <p:nvPr/>
        </p:nvSpPr>
        <p:spPr>
          <a:xfrm>
            <a:off x="3579876"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31" name="TextBox 30"/>
          <p:cNvSpPr txBox="1"/>
          <p:nvPr/>
        </p:nvSpPr>
        <p:spPr>
          <a:xfrm>
            <a:off x="5042916" y="2811780"/>
            <a:ext cx="786384" cy="201168"/>
          </a:xfrm>
          <a:prstGeom prst="rect">
            <a:avLst/>
          </a:prstGeom>
          <a:noFill/>
        </p:spPr>
        <p:txBody>
          <a:bodyPr wrap="square" lIns="0" rIns="0" tIns="0" bIns="0" anchor="t">
            <a:spAutoFit/>
          </a:bodyPr>
          <a:lstStyle/>
          <a:p>
            <a:pPr algn="r"/>
            <a:r>
              <a:rPr sz="950" b="1">
                <a:solidFill>
                  <a:srgbClr val="C62828"/>
                </a:solidFill>
                <a:latin typeface="Calibri"/>
              </a:rPr>
              <a:t>246</a:t>
            </a:r>
          </a:p>
        </p:txBody>
      </p:sp>
      <p:sp>
        <p:nvSpPr>
          <p:cNvPr id="32" name="TextBox 31"/>
          <p:cNvSpPr txBox="1"/>
          <p:nvPr/>
        </p:nvSpPr>
        <p:spPr>
          <a:xfrm>
            <a:off x="3579876"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33" name="TextBox 32"/>
          <p:cNvSpPr txBox="1"/>
          <p:nvPr/>
        </p:nvSpPr>
        <p:spPr>
          <a:xfrm>
            <a:off x="5042916" y="2985516"/>
            <a:ext cx="786384" cy="201168"/>
          </a:xfrm>
          <a:prstGeom prst="rect">
            <a:avLst/>
          </a:prstGeom>
          <a:noFill/>
        </p:spPr>
        <p:txBody>
          <a:bodyPr wrap="square" lIns="0" rIns="0" tIns="0" bIns="0" anchor="t">
            <a:spAutoFit/>
          </a:bodyPr>
          <a:lstStyle/>
          <a:p>
            <a:pPr algn="r"/>
            <a:r>
              <a:rPr sz="950" b="1">
                <a:solidFill>
                  <a:srgbClr val="111111"/>
                </a:solidFill>
                <a:latin typeface="Calibri"/>
              </a:rPr>
              <a:t>958</a:t>
            </a:r>
          </a:p>
        </p:txBody>
      </p:sp>
      <p:sp>
        <p:nvSpPr>
          <p:cNvPr id="34" name="TextBox 33"/>
          <p:cNvSpPr txBox="1"/>
          <p:nvPr/>
        </p:nvSpPr>
        <p:spPr>
          <a:xfrm>
            <a:off x="3579876"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Issued in 2026</a:t>
            </a:r>
          </a:p>
        </p:txBody>
      </p:sp>
      <p:sp>
        <p:nvSpPr>
          <p:cNvPr id="35" name="TextBox 34"/>
          <p:cNvSpPr txBox="1"/>
          <p:nvPr/>
        </p:nvSpPr>
        <p:spPr>
          <a:xfrm>
            <a:off x="5042916" y="3159252"/>
            <a:ext cx="786384" cy="201168"/>
          </a:xfrm>
          <a:prstGeom prst="rect">
            <a:avLst/>
          </a:prstGeom>
          <a:noFill/>
        </p:spPr>
        <p:txBody>
          <a:bodyPr wrap="square" lIns="0" rIns="0" tIns="0" bIns="0" anchor="t">
            <a:spAutoFit/>
          </a:bodyPr>
          <a:lstStyle/>
          <a:p>
            <a:pPr algn="r"/>
            <a:r>
              <a:rPr sz="950" b="1">
                <a:solidFill>
                  <a:srgbClr val="111111"/>
                </a:solidFill>
                <a:latin typeface="Calibri"/>
              </a:rPr>
              <a:t>601</a:t>
            </a:r>
          </a:p>
        </p:txBody>
      </p:sp>
      <p:sp>
        <p:nvSpPr>
          <p:cNvPr id="36" name="Rectangle 35"/>
          <p:cNvSpPr/>
          <p:nvPr/>
        </p:nvSpPr>
        <p:spPr>
          <a:xfrm>
            <a:off x="3579876"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79876"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958 records, 601 of them in 2026. Merit-led — the tool used as intended.</a:t>
            </a:r>
          </a:p>
        </p:txBody>
      </p:sp>
      <p:sp>
        <p:nvSpPr>
          <p:cNvPr id="38" name="Rectangle 37"/>
          <p:cNvSpPr/>
          <p:nvPr/>
        </p:nvSpPr>
        <p:spPr>
          <a:xfrm>
            <a:off x="6227064"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27064" y="1645920"/>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9944"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Arus Sawit</a:t>
            </a:r>
          </a:p>
        </p:txBody>
      </p:sp>
      <p:sp>
        <p:nvSpPr>
          <p:cNvPr id="41" name="TextBox 40"/>
          <p:cNvSpPr txBox="1"/>
          <p:nvPr/>
        </p:nvSpPr>
        <p:spPr>
          <a:xfrm>
            <a:off x="6409944" y="2039112"/>
            <a:ext cx="1463040" cy="457200"/>
          </a:xfrm>
          <a:prstGeom prst="rect">
            <a:avLst/>
          </a:prstGeom>
          <a:noFill/>
        </p:spPr>
        <p:txBody>
          <a:bodyPr wrap="square" lIns="0" rIns="0" tIns="0" bIns="0" anchor="t">
            <a:spAutoFit/>
          </a:bodyPr>
          <a:lstStyle/>
          <a:p>
            <a:pPr algn="l"/>
            <a:r>
              <a:rPr sz="2400" b="1">
                <a:solidFill>
                  <a:srgbClr val="2E7D32"/>
                </a:solidFill>
                <a:latin typeface="Cambria"/>
              </a:rPr>
              <a:t>76%</a:t>
            </a:r>
          </a:p>
        </p:txBody>
      </p:sp>
      <p:sp>
        <p:nvSpPr>
          <p:cNvPr id="42" name="TextBox 41"/>
          <p:cNvSpPr txBox="1"/>
          <p:nvPr/>
        </p:nvSpPr>
        <p:spPr>
          <a:xfrm>
            <a:off x="6409944"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MERIT SHARE</a:t>
            </a:r>
          </a:p>
        </p:txBody>
      </p:sp>
      <p:sp>
        <p:nvSpPr>
          <p:cNvPr id="43" name="TextBox 42"/>
          <p:cNvSpPr txBox="1"/>
          <p:nvPr/>
        </p:nvSpPr>
        <p:spPr>
          <a:xfrm>
            <a:off x="6409944"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44" name="TextBox 43"/>
          <p:cNvSpPr txBox="1"/>
          <p:nvPr/>
        </p:nvSpPr>
        <p:spPr>
          <a:xfrm>
            <a:off x="7872984" y="2638044"/>
            <a:ext cx="786384" cy="201168"/>
          </a:xfrm>
          <a:prstGeom prst="rect">
            <a:avLst/>
          </a:prstGeom>
          <a:noFill/>
        </p:spPr>
        <p:txBody>
          <a:bodyPr wrap="square" lIns="0" rIns="0" tIns="0" bIns="0" anchor="t">
            <a:spAutoFit/>
          </a:bodyPr>
          <a:lstStyle/>
          <a:p>
            <a:pPr algn="r"/>
            <a:r>
              <a:rPr sz="950" b="1">
                <a:solidFill>
                  <a:srgbClr val="2E7D32"/>
                </a:solidFill>
                <a:latin typeface="Calibri"/>
              </a:rPr>
              <a:t>19</a:t>
            </a:r>
          </a:p>
        </p:txBody>
      </p:sp>
      <p:sp>
        <p:nvSpPr>
          <p:cNvPr id="45" name="TextBox 44"/>
          <p:cNvSpPr txBox="1"/>
          <p:nvPr/>
        </p:nvSpPr>
        <p:spPr>
          <a:xfrm>
            <a:off x="6409944"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46" name="TextBox 45"/>
          <p:cNvSpPr txBox="1"/>
          <p:nvPr/>
        </p:nvSpPr>
        <p:spPr>
          <a:xfrm>
            <a:off x="7872984" y="2811780"/>
            <a:ext cx="786384" cy="201168"/>
          </a:xfrm>
          <a:prstGeom prst="rect">
            <a:avLst/>
          </a:prstGeom>
          <a:noFill/>
        </p:spPr>
        <p:txBody>
          <a:bodyPr wrap="square" lIns="0" rIns="0" tIns="0" bIns="0" anchor="t">
            <a:spAutoFit/>
          </a:bodyPr>
          <a:lstStyle/>
          <a:p>
            <a:pPr algn="r"/>
            <a:r>
              <a:rPr sz="950" b="1">
                <a:solidFill>
                  <a:srgbClr val="C62828"/>
                </a:solidFill>
                <a:latin typeface="Calibri"/>
              </a:rPr>
              <a:t>6</a:t>
            </a:r>
          </a:p>
        </p:txBody>
      </p:sp>
      <p:sp>
        <p:nvSpPr>
          <p:cNvPr id="47" name="TextBox 46"/>
          <p:cNvSpPr txBox="1"/>
          <p:nvPr/>
        </p:nvSpPr>
        <p:spPr>
          <a:xfrm>
            <a:off x="6409944"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48" name="TextBox 47"/>
          <p:cNvSpPr txBox="1"/>
          <p:nvPr/>
        </p:nvSpPr>
        <p:spPr>
          <a:xfrm>
            <a:off x="7872984" y="2985516"/>
            <a:ext cx="786384" cy="201168"/>
          </a:xfrm>
          <a:prstGeom prst="rect">
            <a:avLst/>
          </a:prstGeom>
          <a:noFill/>
        </p:spPr>
        <p:txBody>
          <a:bodyPr wrap="square" lIns="0" rIns="0" tIns="0" bIns="0" anchor="t">
            <a:spAutoFit/>
          </a:bodyPr>
          <a:lstStyle/>
          <a:p>
            <a:pPr algn="r"/>
            <a:r>
              <a:rPr sz="950" b="1">
                <a:solidFill>
                  <a:srgbClr val="111111"/>
                </a:solidFill>
                <a:latin typeface="Calibri"/>
              </a:rPr>
              <a:t>25</a:t>
            </a:r>
          </a:p>
        </p:txBody>
      </p:sp>
      <p:sp>
        <p:nvSpPr>
          <p:cNvPr id="49" name="TextBox 48"/>
          <p:cNvSpPr txBox="1"/>
          <p:nvPr/>
        </p:nvSpPr>
        <p:spPr>
          <a:xfrm>
            <a:off x="6409944"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Issued in 2026</a:t>
            </a:r>
          </a:p>
        </p:txBody>
      </p:sp>
      <p:sp>
        <p:nvSpPr>
          <p:cNvPr id="50" name="TextBox 49"/>
          <p:cNvSpPr txBox="1"/>
          <p:nvPr/>
        </p:nvSpPr>
        <p:spPr>
          <a:xfrm>
            <a:off x="7872984" y="3159252"/>
            <a:ext cx="786384" cy="201168"/>
          </a:xfrm>
          <a:prstGeom prst="rect">
            <a:avLst/>
          </a:prstGeom>
          <a:noFill/>
        </p:spPr>
        <p:txBody>
          <a:bodyPr wrap="square" lIns="0" rIns="0" tIns="0" bIns="0" anchor="t">
            <a:spAutoFit/>
          </a:bodyPr>
          <a:lstStyle/>
          <a:p>
            <a:pPr algn="r"/>
            <a:r>
              <a:rPr sz="950" b="1">
                <a:solidFill>
                  <a:srgbClr val="111111"/>
                </a:solidFill>
                <a:latin typeface="Calibri"/>
              </a:rPr>
              <a:t>23</a:t>
            </a:r>
          </a:p>
        </p:txBody>
      </p:sp>
      <p:sp>
        <p:nvSpPr>
          <p:cNvPr id="51" name="Rectangle 50"/>
          <p:cNvSpPr/>
          <p:nvPr/>
        </p:nvSpPr>
        <p:spPr>
          <a:xfrm>
            <a:off x="6409944"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9944"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25 records, 23 of them in 2026. Merit-led — the tool used as intended.</a:t>
            </a:r>
          </a:p>
        </p:txBody>
      </p:sp>
      <p:sp>
        <p:nvSpPr>
          <p:cNvPr id="53" name="Rectangle 52"/>
          <p:cNvSpPr/>
          <p:nvPr/>
        </p:nvSpPr>
        <p:spPr>
          <a:xfrm>
            <a:off x="9057132"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057132" y="1645920"/>
            <a:ext cx="2615184" cy="4114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240012"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TP Group</a:t>
            </a:r>
          </a:p>
        </p:txBody>
      </p:sp>
      <p:sp>
        <p:nvSpPr>
          <p:cNvPr id="56" name="TextBox 55"/>
          <p:cNvSpPr txBox="1"/>
          <p:nvPr/>
        </p:nvSpPr>
        <p:spPr>
          <a:xfrm>
            <a:off x="9240012" y="2039112"/>
            <a:ext cx="1463040" cy="457200"/>
          </a:xfrm>
          <a:prstGeom prst="rect">
            <a:avLst/>
          </a:prstGeom>
          <a:noFill/>
        </p:spPr>
        <p:txBody>
          <a:bodyPr wrap="square" lIns="0" rIns="0" tIns="0" bIns="0" anchor="t">
            <a:spAutoFit/>
          </a:bodyPr>
          <a:lstStyle/>
          <a:p>
            <a:pPr algn="l"/>
            <a:r>
              <a:rPr sz="2400" b="1">
                <a:solidFill>
                  <a:srgbClr val="5A6478"/>
                </a:solidFill>
                <a:latin typeface="Cambria"/>
              </a:rPr>
              <a:t>—</a:t>
            </a:r>
          </a:p>
        </p:txBody>
      </p:sp>
      <p:sp>
        <p:nvSpPr>
          <p:cNvPr id="57" name="TextBox 56"/>
          <p:cNvSpPr txBox="1"/>
          <p:nvPr/>
        </p:nvSpPr>
        <p:spPr>
          <a:xfrm>
            <a:off x="9240012"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MERIT SHARE</a:t>
            </a:r>
          </a:p>
        </p:txBody>
      </p:sp>
      <p:sp>
        <p:nvSpPr>
          <p:cNvPr id="58" name="TextBox 57"/>
          <p:cNvSpPr txBox="1"/>
          <p:nvPr/>
        </p:nvSpPr>
        <p:spPr>
          <a:xfrm>
            <a:off x="9240012"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59" name="TextBox 58"/>
          <p:cNvSpPr txBox="1"/>
          <p:nvPr/>
        </p:nvSpPr>
        <p:spPr>
          <a:xfrm>
            <a:off x="10703052" y="2638044"/>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60" name="TextBox 59"/>
          <p:cNvSpPr txBox="1"/>
          <p:nvPr/>
        </p:nvSpPr>
        <p:spPr>
          <a:xfrm>
            <a:off x="9240012"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61" name="TextBox 60"/>
          <p:cNvSpPr txBox="1"/>
          <p:nvPr/>
        </p:nvSpPr>
        <p:spPr>
          <a:xfrm>
            <a:off x="10703052" y="2811780"/>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62" name="TextBox 61"/>
          <p:cNvSpPr txBox="1"/>
          <p:nvPr/>
        </p:nvSpPr>
        <p:spPr>
          <a:xfrm>
            <a:off x="9240012"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63" name="TextBox 62"/>
          <p:cNvSpPr txBox="1"/>
          <p:nvPr/>
        </p:nvSpPr>
        <p:spPr>
          <a:xfrm>
            <a:off x="10703052" y="2985516"/>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64" name="TextBox 63"/>
          <p:cNvSpPr txBox="1"/>
          <p:nvPr/>
        </p:nvSpPr>
        <p:spPr>
          <a:xfrm>
            <a:off x="9240012"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Issued in 2026</a:t>
            </a:r>
          </a:p>
        </p:txBody>
      </p:sp>
      <p:sp>
        <p:nvSpPr>
          <p:cNvPr id="65" name="TextBox 64"/>
          <p:cNvSpPr txBox="1"/>
          <p:nvPr/>
        </p:nvSpPr>
        <p:spPr>
          <a:xfrm>
            <a:off x="10703052" y="3159252"/>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66" name="Rectangle 65"/>
          <p:cNvSpPr/>
          <p:nvPr/>
        </p:nvSpPr>
        <p:spPr>
          <a:xfrm>
            <a:off x="9240012"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240012"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No records at all. 65 people and nothing recognised or recorded.</a:t>
            </a:r>
          </a:p>
        </p:txBody>
      </p:sp>
      <p:sp>
        <p:nvSpPr>
          <p:cNvPr id="68" name="Rectangle 67"/>
          <p:cNvSpPr/>
          <p:nvPr/>
        </p:nvSpPr>
        <p:spPr>
          <a:xfrm>
            <a:off x="566928"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66928" y="4073652"/>
            <a:ext cx="2615184" cy="4114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9808"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AMC</a:t>
            </a:r>
          </a:p>
        </p:txBody>
      </p:sp>
      <p:sp>
        <p:nvSpPr>
          <p:cNvPr id="71" name="TextBox 70"/>
          <p:cNvSpPr txBox="1"/>
          <p:nvPr/>
        </p:nvSpPr>
        <p:spPr>
          <a:xfrm>
            <a:off x="749808" y="4466844"/>
            <a:ext cx="1463040" cy="457200"/>
          </a:xfrm>
          <a:prstGeom prst="rect">
            <a:avLst/>
          </a:prstGeom>
          <a:noFill/>
        </p:spPr>
        <p:txBody>
          <a:bodyPr wrap="square" lIns="0" rIns="0" tIns="0" bIns="0" anchor="t">
            <a:spAutoFit/>
          </a:bodyPr>
          <a:lstStyle/>
          <a:p>
            <a:pPr algn="l"/>
            <a:r>
              <a:rPr sz="2400" b="1">
                <a:solidFill>
                  <a:srgbClr val="5A6478"/>
                </a:solidFill>
                <a:latin typeface="Cambria"/>
              </a:rPr>
              <a:t>—</a:t>
            </a:r>
          </a:p>
        </p:txBody>
      </p:sp>
      <p:sp>
        <p:nvSpPr>
          <p:cNvPr id="72" name="TextBox 71"/>
          <p:cNvSpPr txBox="1"/>
          <p:nvPr/>
        </p:nvSpPr>
        <p:spPr>
          <a:xfrm>
            <a:off x="749808"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MERIT SHARE</a:t>
            </a:r>
          </a:p>
        </p:txBody>
      </p:sp>
      <p:sp>
        <p:nvSpPr>
          <p:cNvPr id="73" name="TextBox 72"/>
          <p:cNvSpPr txBox="1"/>
          <p:nvPr/>
        </p:nvSpPr>
        <p:spPr>
          <a:xfrm>
            <a:off x="749808"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74" name="TextBox 73"/>
          <p:cNvSpPr txBox="1"/>
          <p:nvPr/>
        </p:nvSpPr>
        <p:spPr>
          <a:xfrm>
            <a:off x="2212848" y="5065776"/>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75" name="TextBox 74"/>
          <p:cNvSpPr txBox="1"/>
          <p:nvPr/>
        </p:nvSpPr>
        <p:spPr>
          <a:xfrm>
            <a:off x="749808"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76" name="TextBox 75"/>
          <p:cNvSpPr txBox="1"/>
          <p:nvPr/>
        </p:nvSpPr>
        <p:spPr>
          <a:xfrm>
            <a:off x="2212848" y="5239512"/>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77" name="TextBox 76"/>
          <p:cNvSpPr txBox="1"/>
          <p:nvPr/>
        </p:nvSpPr>
        <p:spPr>
          <a:xfrm>
            <a:off x="749808"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78" name="TextBox 77"/>
          <p:cNvSpPr txBox="1"/>
          <p:nvPr/>
        </p:nvSpPr>
        <p:spPr>
          <a:xfrm>
            <a:off x="2212848" y="5413248"/>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79" name="TextBox 78"/>
          <p:cNvSpPr txBox="1"/>
          <p:nvPr/>
        </p:nvSpPr>
        <p:spPr>
          <a:xfrm>
            <a:off x="749808"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Issued in 2026</a:t>
            </a:r>
          </a:p>
        </p:txBody>
      </p:sp>
      <p:sp>
        <p:nvSpPr>
          <p:cNvPr id="80" name="TextBox 79"/>
          <p:cNvSpPr txBox="1"/>
          <p:nvPr/>
        </p:nvSpPr>
        <p:spPr>
          <a:xfrm>
            <a:off x="2212848" y="5586984"/>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81" name="Rectangle 80"/>
          <p:cNvSpPr/>
          <p:nvPr/>
        </p:nvSpPr>
        <p:spPr>
          <a:xfrm>
            <a:off x="749808"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49808"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No records at all. 61 people and nothing recognised or recorded.</a:t>
            </a:r>
          </a:p>
        </p:txBody>
      </p:sp>
      <p:sp>
        <p:nvSpPr>
          <p:cNvPr id="83" name="Rectangle 82"/>
          <p:cNvSpPr/>
          <p:nvPr/>
        </p:nvSpPr>
        <p:spPr>
          <a:xfrm>
            <a:off x="3396996"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396996" y="4073652"/>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579876"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Likas Square</a:t>
            </a:r>
          </a:p>
        </p:txBody>
      </p:sp>
      <p:sp>
        <p:nvSpPr>
          <p:cNvPr id="86" name="TextBox 85"/>
          <p:cNvSpPr txBox="1"/>
          <p:nvPr/>
        </p:nvSpPr>
        <p:spPr>
          <a:xfrm>
            <a:off x="3579876" y="4466844"/>
            <a:ext cx="1463040" cy="457200"/>
          </a:xfrm>
          <a:prstGeom prst="rect">
            <a:avLst/>
          </a:prstGeom>
          <a:noFill/>
        </p:spPr>
        <p:txBody>
          <a:bodyPr wrap="square" lIns="0" rIns="0" tIns="0" bIns="0" anchor="t">
            <a:spAutoFit/>
          </a:bodyPr>
          <a:lstStyle/>
          <a:p>
            <a:pPr algn="l"/>
            <a:r>
              <a:rPr sz="2400" b="1">
                <a:solidFill>
                  <a:srgbClr val="2E7D32"/>
                </a:solidFill>
                <a:latin typeface="Cambria"/>
              </a:rPr>
              <a:t>67%</a:t>
            </a:r>
          </a:p>
        </p:txBody>
      </p:sp>
      <p:sp>
        <p:nvSpPr>
          <p:cNvPr id="87" name="TextBox 86"/>
          <p:cNvSpPr txBox="1"/>
          <p:nvPr/>
        </p:nvSpPr>
        <p:spPr>
          <a:xfrm>
            <a:off x="3579876"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MERIT SHARE</a:t>
            </a:r>
          </a:p>
        </p:txBody>
      </p:sp>
      <p:sp>
        <p:nvSpPr>
          <p:cNvPr id="88" name="TextBox 87"/>
          <p:cNvSpPr txBox="1"/>
          <p:nvPr/>
        </p:nvSpPr>
        <p:spPr>
          <a:xfrm>
            <a:off x="3579876"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89" name="TextBox 88"/>
          <p:cNvSpPr txBox="1"/>
          <p:nvPr/>
        </p:nvSpPr>
        <p:spPr>
          <a:xfrm>
            <a:off x="5042916" y="5065776"/>
            <a:ext cx="786384" cy="201168"/>
          </a:xfrm>
          <a:prstGeom prst="rect">
            <a:avLst/>
          </a:prstGeom>
          <a:noFill/>
        </p:spPr>
        <p:txBody>
          <a:bodyPr wrap="square" lIns="0" rIns="0" tIns="0" bIns="0" anchor="t">
            <a:spAutoFit/>
          </a:bodyPr>
          <a:lstStyle/>
          <a:p>
            <a:pPr algn="r"/>
            <a:r>
              <a:rPr sz="950" b="1">
                <a:solidFill>
                  <a:srgbClr val="2E7D32"/>
                </a:solidFill>
                <a:latin typeface="Calibri"/>
              </a:rPr>
              <a:t>4</a:t>
            </a:r>
          </a:p>
        </p:txBody>
      </p:sp>
      <p:sp>
        <p:nvSpPr>
          <p:cNvPr id="90" name="TextBox 89"/>
          <p:cNvSpPr txBox="1"/>
          <p:nvPr/>
        </p:nvSpPr>
        <p:spPr>
          <a:xfrm>
            <a:off x="3579876"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91" name="TextBox 90"/>
          <p:cNvSpPr txBox="1"/>
          <p:nvPr/>
        </p:nvSpPr>
        <p:spPr>
          <a:xfrm>
            <a:off x="5042916" y="5239512"/>
            <a:ext cx="786384" cy="201168"/>
          </a:xfrm>
          <a:prstGeom prst="rect">
            <a:avLst/>
          </a:prstGeom>
          <a:noFill/>
        </p:spPr>
        <p:txBody>
          <a:bodyPr wrap="square" lIns="0" rIns="0" tIns="0" bIns="0" anchor="t">
            <a:spAutoFit/>
          </a:bodyPr>
          <a:lstStyle/>
          <a:p>
            <a:pPr algn="r"/>
            <a:r>
              <a:rPr sz="950" b="1">
                <a:solidFill>
                  <a:srgbClr val="C62828"/>
                </a:solidFill>
                <a:latin typeface="Calibri"/>
              </a:rPr>
              <a:t>2</a:t>
            </a:r>
          </a:p>
        </p:txBody>
      </p:sp>
      <p:sp>
        <p:nvSpPr>
          <p:cNvPr id="92" name="TextBox 91"/>
          <p:cNvSpPr txBox="1"/>
          <p:nvPr/>
        </p:nvSpPr>
        <p:spPr>
          <a:xfrm>
            <a:off x="3579876"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93" name="TextBox 92"/>
          <p:cNvSpPr txBox="1"/>
          <p:nvPr/>
        </p:nvSpPr>
        <p:spPr>
          <a:xfrm>
            <a:off x="5042916" y="5413248"/>
            <a:ext cx="786384" cy="201168"/>
          </a:xfrm>
          <a:prstGeom prst="rect">
            <a:avLst/>
          </a:prstGeom>
          <a:noFill/>
        </p:spPr>
        <p:txBody>
          <a:bodyPr wrap="square" lIns="0" rIns="0" tIns="0" bIns="0" anchor="t">
            <a:spAutoFit/>
          </a:bodyPr>
          <a:lstStyle/>
          <a:p>
            <a:pPr algn="r"/>
            <a:r>
              <a:rPr sz="950" b="1">
                <a:solidFill>
                  <a:srgbClr val="111111"/>
                </a:solidFill>
                <a:latin typeface="Calibri"/>
              </a:rPr>
              <a:t>6</a:t>
            </a:r>
          </a:p>
        </p:txBody>
      </p:sp>
      <p:sp>
        <p:nvSpPr>
          <p:cNvPr id="94" name="TextBox 93"/>
          <p:cNvSpPr txBox="1"/>
          <p:nvPr/>
        </p:nvSpPr>
        <p:spPr>
          <a:xfrm>
            <a:off x="3579876"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Issued in 2026</a:t>
            </a:r>
          </a:p>
        </p:txBody>
      </p:sp>
      <p:sp>
        <p:nvSpPr>
          <p:cNvPr id="95" name="TextBox 94"/>
          <p:cNvSpPr txBox="1"/>
          <p:nvPr/>
        </p:nvSpPr>
        <p:spPr>
          <a:xfrm>
            <a:off x="5042916" y="5586984"/>
            <a:ext cx="786384" cy="201168"/>
          </a:xfrm>
          <a:prstGeom prst="rect">
            <a:avLst/>
          </a:prstGeom>
          <a:noFill/>
        </p:spPr>
        <p:txBody>
          <a:bodyPr wrap="square" lIns="0" rIns="0" tIns="0" bIns="0" anchor="t">
            <a:spAutoFit/>
          </a:bodyPr>
          <a:lstStyle/>
          <a:p>
            <a:pPr algn="r"/>
            <a:r>
              <a:rPr sz="950" b="1">
                <a:solidFill>
                  <a:srgbClr val="111111"/>
                </a:solidFill>
                <a:latin typeface="Calibri"/>
              </a:rPr>
              <a:t>5</a:t>
            </a:r>
          </a:p>
        </p:txBody>
      </p:sp>
      <p:sp>
        <p:nvSpPr>
          <p:cNvPr id="96" name="Rectangle 95"/>
          <p:cNvSpPr/>
          <p:nvPr/>
        </p:nvSpPr>
        <p:spPr>
          <a:xfrm>
            <a:off x="3579876"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579876"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6 records, 5 of them in 2026. Merit-led — the tool used as intended.</a:t>
            </a:r>
          </a:p>
        </p:txBody>
      </p:sp>
      <p:sp>
        <p:nvSpPr>
          <p:cNvPr id="98" name="Rectangle 97"/>
          <p:cNvSpPr/>
          <p:nvPr/>
        </p:nvSpPr>
        <p:spPr>
          <a:xfrm>
            <a:off x="6227064"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227064" y="4073652"/>
            <a:ext cx="2615184" cy="4114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409944"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Trillium</a:t>
            </a:r>
          </a:p>
        </p:txBody>
      </p:sp>
      <p:sp>
        <p:nvSpPr>
          <p:cNvPr id="101" name="TextBox 100"/>
          <p:cNvSpPr txBox="1"/>
          <p:nvPr/>
        </p:nvSpPr>
        <p:spPr>
          <a:xfrm>
            <a:off x="6409944" y="4466844"/>
            <a:ext cx="1463040" cy="457200"/>
          </a:xfrm>
          <a:prstGeom prst="rect">
            <a:avLst/>
          </a:prstGeom>
          <a:noFill/>
        </p:spPr>
        <p:txBody>
          <a:bodyPr wrap="square" lIns="0" rIns="0" tIns="0" bIns="0" anchor="t">
            <a:spAutoFit/>
          </a:bodyPr>
          <a:lstStyle/>
          <a:p>
            <a:pPr algn="l"/>
            <a:r>
              <a:rPr sz="2400" b="1">
                <a:solidFill>
                  <a:srgbClr val="5A6478"/>
                </a:solidFill>
                <a:latin typeface="Cambria"/>
              </a:rPr>
              <a:t>—</a:t>
            </a:r>
          </a:p>
        </p:txBody>
      </p:sp>
      <p:sp>
        <p:nvSpPr>
          <p:cNvPr id="102" name="TextBox 101"/>
          <p:cNvSpPr txBox="1"/>
          <p:nvPr/>
        </p:nvSpPr>
        <p:spPr>
          <a:xfrm>
            <a:off x="6409944"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MERIT SHARE</a:t>
            </a:r>
          </a:p>
        </p:txBody>
      </p:sp>
      <p:sp>
        <p:nvSpPr>
          <p:cNvPr id="103" name="TextBox 102"/>
          <p:cNvSpPr txBox="1"/>
          <p:nvPr/>
        </p:nvSpPr>
        <p:spPr>
          <a:xfrm>
            <a:off x="6409944"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104" name="TextBox 103"/>
          <p:cNvSpPr txBox="1"/>
          <p:nvPr/>
        </p:nvSpPr>
        <p:spPr>
          <a:xfrm>
            <a:off x="7872984" y="5065776"/>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105" name="TextBox 104"/>
          <p:cNvSpPr txBox="1"/>
          <p:nvPr/>
        </p:nvSpPr>
        <p:spPr>
          <a:xfrm>
            <a:off x="6409944"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106" name="TextBox 105"/>
          <p:cNvSpPr txBox="1"/>
          <p:nvPr/>
        </p:nvSpPr>
        <p:spPr>
          <a:xfrm>
            <a:off x="7872984" y="5239512"/>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107" name="TextBox 106"/>
          <p:cNvSpPr txBox="1"/>
          <p:nvPr/>
        </p:nvSpPr>
        <p:spPr>
          <a:xfrm>
            <a:off x="6409944"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108" name="TextBox 107"/>
          <p:cNvSpPr txBox="1"/>
          <p:nvPr/>
        </p:nvSpPr>
        <p:spPr>
          <a:xfrm>
            <a:off x="7872984" y="5413248"/>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109" name="TextBox 108"/>
          <p:cNvSpPr txBox="1"/>
          <p:nvPr/>
        </p:nvSpPr>
        <p:spPr>
          <a:xfrm>
            <a:off x="6409944"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Issued in 2026</a:t>
            </a:r>
          </a:p>
        </p:txBody>
      </p:sp>
      <p:sp>
        <p:nvSpPr>
          <p:cNvPr id="110" name="TextBox 109"/>
          <p:cNvSpPr txBox="1"/>
          <p:nvPr/>
        </p:nvSpPr>
        <p:spPr>
          <a:xfrm>
            <a:off x="7872984" y="5586984"/>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111" name="Rectangle 110"/>
          <p:cNvSpPr/>
          <p:nvPr/>
        </p:nvSpPr>
        <p:spPr>
          <a:xfrm>
            <a:off x="6409944"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409944"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No records at all. 20 people and nothing recognised or recorded.</a:t>
            </a:r>
          </a:p>
        </p:txBody>
      </p:sp>
      <p:sp>
        <p:nvSpPr>
          <p:cNvPr id="113" name="TextBox 112"/>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Merit share is merit records over all records for that company. People counted on the staff pool basis; records are counted wherever the person sits today.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FIVE</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Memo Activity</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Which companies are broadcasting, and who sends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5 · GROUP SUMMARY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Memo Activity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19 memos so far in 2026 from 9 different people — the tool is no longer one person's.</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103</a:t>
            </a:r>
          </a:p>
        </p:txBody>
      </p:sp>
      <p:sp>
        <p:nvSpPr>
          <p:cNvPr id="11" name="TextBox 10"/>
          <p:cNvSpPr txBox="1"/>
          <p:nvPr/>
        </p:nvSpPr>
        <p:spPr>
          <a:xfrm>
            <a:off x="804672"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Memos on file</a:t>
            </a:r>
          </a:p>
        </p:txBody>
      </p:sp>
      <p:sp>
        <p:nvSpPr>
          <p:cNvPr id="12" name="TextBox 11"/>
          <p:cNvSpPr txBox="1"/>
          <p:nvPr/>
        </p:nvSpPr>
        <p:spPr>
          <a:xfrm>
            <a:off x="804672"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2022 to date, all companies.</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6996"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4740"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19</a:t>
            </a:r>
          </a:p>
        </p:txBody>
      </p:sp>
      <p:sp>
        <p:nvSpPr>
          <p:cNvPr id="16" name="TextBox 15"/>
          <p:cNvSpPr txBox="1"/>
          <p:nvPr/>
        </p:nvSpPr>
        <p:spPr>
          <a:xfrm>
            <a:off x="3634740"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Issued in 2026</a:t>
            </a:r>
          </a:p>
        </p:txBody>
      </p:sp>
      <p:sp>
        <p:nvSpPr>
          <p:cNvPr id="17" name="TextBox 16"/>
          <p:cNvSpPr txBox="1"/>
          <p:nvPr/>
        </p:nvSpPr>
        <p:spPr>
          <a:xfrm>
            <a:off x="3634740"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Against 5 in the whole of 2025, and 9 at the last review.</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9</a:t>
            </a:r>
          </a:p>
        </p:txBody>
      </p:sp>
      <p:sp>
        <p:nvSpPr>
          <p:cNvPr id="21" name="TextBox 20"/>
          <p:cNvSpPr txBox="1"/>
          <p:nvPr/>
        </p:nvSpPr>
        <p:spPr>
          <a:xfrm>
            <a:off x="6464808"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Senders this year</a:t>
            </a:r>
          </a:p>
        </p:txBody>
      </p:sp>
      <p:sp>
        <p:nvSpPr>
          <p:cNvPr id="22" name="TextBox 21"/>
          <p:cNvSpPr txBox="1"/>
          <p:nvPr/>
        </p:nvSpPr>
        <p:spPr>
          <a:xfrm>
            <a:off x="6464808"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Against 11 names in the entire history of the tool.</a:t>
            </a:r>
          </a:p>
        </p:txBody>
      </p:sp>
      <p:sp>
        <p:nvSpPr>
          <p:cNvPr id="23" name="Rectangle 22"/>
          <p:cNvSpPr/>
          <p:nvPr/>
        </p:nvSpPr>
        <p:spPr>
          <a:xfrm>
            <a:off x="9057132"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7132"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4876" y="1810512"/>
            <a:ext cx="2203704" cy="548640"/>
          </a:xfrm>
          <a:prstGeom prst="rect">
            <a:avLst/>
          </a:prstGeom>
          <a:noFill/>
        </p:spPr>
        <p:txBody>
          <a:bodyPr wrap="square" lIns="0" rIns="0" tIns="0" bIns="0" anchor="t">
            <a:spAutoFit/>
          </a:bodyPr>
          <a:lstStyle/>
          <a:p>
            <a:pPr algn="l"/>
            <a:r>
              <a:rPr sz="3400" b="1">
                <a:solidFill>
                  <a:srgbClr val="F9A825"/>
                </a:solidFill>
                <a:latin typeface="Cambria"/>
              </a:rPr>
              <a:t>74%</a:t>
            </a:r>
          </a:p>
        </p:txBody>
      </p:sp>
      <p:sp>
        <p:nvSpPr>
          <p:cNvPr id="26" name="TextBox 25"/>
          <p:cNvSpPr txBox="1"/>
          <p:nvPr/>
        </p:nvSpPr>
        <p:spPr>
          <a:xfrm>
            <a:off x="9294876"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Historic concentration</a:t>
            </a:r>
          </a:p>
        </p:txBody>
      </p:sp>
      <p:sp>
        <p:nvSpPr>
          <p:cNvPr id="27" name="TextBox 26"/>
          <p:cNvSpPr txBox="1"/>
          <p:nvPr/>
        </p:nvSpPr>
        <p:spPr>
          <a:xfrm>
            <a:off x="9294876"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76 of 103 memos came from the Chief Executive Officer — none of them this year.</a:t>
            </a:r>
          </a:p>
        </p:txBody>
      </p:sp>
      <p:sp>
        <p:nvSpPr>
          <p:cNvPr id="28" name="Rectangle 27"/>
          <p:cNvSpPr/>
          <p:nvPr/>
        </p:nvSpPr>
        <p:spPr>
          <a:xfrm>
            <a:off x="566928" y="3675887"/>
            <a:ext cx="32918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749039"/>
            <a:ext cx="1812174" cy="329184"/>
          </a:xfrm>
          <a:prstGeom prst="rect">
            <a:avLst/>
          </a:prstGeom>
          <a:noFill/>
        </p:spPr>
        <p:txBody>
          <a:bodyPr wrap="square" lIns="0" rIns="0" tIns="0" bIns="0" anchor="t">
            <a:spAutoFit/>
          </a:bodyPr>
          <a:lstStyle/>
          <a:p>
            <a:pPr algn="l"/>
            <a:r>
              <a:rPr sz="950" b="1">
                <a:solidFill>
                  <a:srgbClr val="FFFFFF"/>
                </a:solidFill>
                <a:latin typeface="Calibri"/>
              </a:rPr>
              <a:t>Year</a:t>
            </a:r>
          </a:p>
        </p:txBody>
      </p:sp>
      <p:sp>
        <p:nvSpPr>
          <p:cNvPr id="30" name="TextBox 29"/>
          <p:cNvSpPr txBox="1"/>
          <p:nvPr/>
        </p:nvSpPr>
        <p:spPr>
          <a:xfrm>
            <a:off x="2662566" y="3749039"/>
            <a:ext cx="1113905" cy="329184"/>
          </a:xfrm>
          <a:prstGeom prst="rect">
            <a:avLst/>
          </a:prstGeom>
          <a:noFill/>
        </p:spPr>
        <p:txBody>
          <a:bodyPr wrap="square" lIns="0" rIns="0" tIns="0" bIns="0" anchor="t">
            <a:spAutoFit/>
          </a:bodyPr>
          <a:lstStyle/>
          <a:p>
            <a:pPr algn="r"/>
            <a:r>
              <a:rPr sz="950" b="1">
                <a:solidFill>
                  <a:srgbClr val="FFFFFF"/>
                </a:solidFill>
                <a:latin typeface="Calibri"/>
              </a:rPr>
              <a:t>Memos</a:t>
            </a:r>
          </a:p>
        </p:txBody>
      </p:sp>
      <p:sp>
        <p:nvSpPr>
          <p:cNvPr id="31" name="Rectangle 30"/>
          <p:cNvSpPr/>
          <p:nvPr/>
        </p:nvSpPr>
        <p:spPr>
          <a:xfrm>
            <a:off x="566928" y="4005071"/>
            <a:ext cx="32918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4311395"/>
            <a:ext cx="32918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512" y="4069079"/>
            <a:ext cx="1812174" cy="306324"/>
          </a:xfrm>
          <a:prstGeom prst="rect">
            <a:avLst/>
          </a:prstGeom>
          <a:noFill/>
        </p:spPr>
        <p:txBody>
          <a:bodyPr wrap="square" lIns="0" rIns="0" tIns="0" bIns="0" anchor="t">
            <a:spAutoFit/>
          </a:bodyPr>
          <a:lstStyle/>
          <a:p>
            <a:pPr algn="l"/>
            <a:r>
              <a:rPr sz="1000" b="1">
                <a:solidFill>
                  <a:srgbClr val="111111"/>
                </a:solidFill>
                <a:latin typeface="Calibri"/>
              </a:rPr>
              <a:t>2022</a:t>
            </a:r>
          </a:p>
        </p:txBody>
      </p:sp>
      <p:sp>
        <p:nvSpPr>
          <p:cNvPr id="34" name="TextBox 33"/>
          <p:cNvSpPr txBox="1"/>
          <p:nvPr/>
        </p:nvSpPr>
        <p:spPr>
          <a:xfrm>
            <a:off x="2662566" y="4069079"/>
            <a:ext cx="1113905" cy="306324"/>
          </a:xfrm>
          <a:prstGeom prst="rect">
            <a:avLst/>
          </a:prstGeom>
          <a:noFill/>
        </p:spPr>
        <p:txBody>
          <a:bodyPr wrap="square" lIns="0" rIns="0" tIns="0" bIns="0" anchor="t">
            <a:spAutoFit/>
          </a:bodyPr>
          <a:lstStyle/>
          <a:p>
            <a:pPr algn="r"/>
            <a:r>
              <a:rPr sz="1000" b="0">
                <a:solidFill>
                  <a:srgbClr val="111111"/>
                </a:solidFill>
                <a:latin typeface="Calibri"/>
              </a:rPr>
              <a:t>31</a:t>
            </a:r>
          </a:p>
        </p:txBody>
      </p:sp>
      <p:sp>
        <p:nvSpPr>
          <p:cNvPr id="35" name="Rectangle 34"/>
          <p:cNvSpPr/>
          <p:nvPr/>
        </p:nvSpPr>
        <p:spPr>
          <a:xfrm>
            <a:off x="566928" y="4311395"/>
            <a:ext cx="32918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617719"/>
            <a:ext cx="32918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 y="4375403"/>
            <a:ext cx="1812174" cy="306324"/>
          </a:xfrm>
          <a:prstGeom prst="rect">
            <a:avLst/>
          </a:prstGeom>
          <a:noFill/>
        </p:spPr>
        <p:txBody>
          <a:bodyPr wrap="square" lIns="0" rIns="0" tIns="0" bIns="0" anchor="t">
            <a:spAutoFit/>
          </a:bodyPr>
          <a:lstStyle/>
          <a:p>
            <a:pPr algn="l"/>
            <a:r>
              <a:rPr sz="1000" b="1">
                <a:solidFill>
                  <a:srgbClr val="111111"/>
                </a:solidFill>
                <a:latin typeface="Calibri"/>
              </a:rPr>
              <a:t>2023</a:t>
            </a:r>
          </a:p>
        </p:txBody>
      </p:sp>
      <p:sp>
        <p:nvSpPr>
          <p:cNvPr id="38" name="TextBox 37"/>
          <p:cNvSpPr txBox="1"/>
          <p:nvPr/>
        </p:nvSpPr>
        <p:spPr>
          <a:xfrm>
            <a:off x="2662566" y="4375403"/>
            <a:ext cx="1113905" cy="306324"/>
          </a:xfrm>
          <a:prstGeom prst="rect">
            <a:avLst/>
          </a:prstGeom>
          <a:noFill/>
        </p:spPr>
        <p:txBody>
          <a:bodyPr wrap="square" lIns="0" rIns="0" tIns="0" bIns="0" anchor="t">
            <a:spAutoFit/>
          </a:bodyPr>
          <a:lstStyle/>
          <a:p>
            <a:pPr algn="r"/>
            <a:r>
              <a:rPr sz="1000" b="0">
                <a:solidFill>
                  <a:srgbClr val="111111"/>
                </a:solidFill>
                <a:latin typeface="Calibri"/>
              </a:rPr>
              <a:t>31</a:t>
            </a:r>
          </a:p>
        </p:txBody>
      </p:sp>
      <p:sp>
        <p:nvSpPr>
          <p:cNvPr id="39" name="Rectangle 38"/>
          <p:cNvSpPr/>
          <p:nvPr/>
        </p:nvSpPr>
        <p:spPr>
          <a:xfrm>
            <a:off x="566928" y="4617719"/>
            <a:ext cx="32918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4924043"/>
            <a:ext cx="32918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 y="4681727"/>
            <a:ext cx="1812174" cy="306324"/>
          </a:xfrm>
          <a:prstGeom prst="rect">
            <a:avLst/>
          </a:prstGeom>
          <a:noFill/>
        </p:spPr>
        <p:txBody>
          <a:bodyPr wrap="square" lIns="0" rIns="0" tIns="0" bIns="0" anchor="t">
            <a:spAutoFit/>
          </a:bodyPr>
          <a:lstStyle/>
          <a:p>
            <a:pPr algn="l"/>
            <a:r>
              <a:rPr sz="1000" b="1">
                <a:solidFill>
                  <a:srgbClr val="111111"/>
                </a:solidFill>
                <a:latin typeface="Calibri"/>
              </a:rPr>
              <a:t>2024</a:t>
            </a:r>
          </a:p>
        </p:txBody>
      </p:sp>
      <p:sp>
        <p:nvSpPr>
          <p:cNvPr id="42" name="TextBox 41"/>
          <p:cNvSpPr txBox="1"/>
          <p:nvPr/>
        </p:nvSpPr>
        <p:spPr>
          <a:xfrm>
            <a:off x="2662566" y="4681727"/>
            <a:ext cx="1113905" cy="306324"/>
          </a:xfrm>
          <a:prstGeom prst="rect">
            <a:avLst/>
          </a:prstGeom>
          <a:noFill/>
        </p:spPr>
        <p:txBody>
          <a:bodyPr wrap="square" lIns="0" rIns="0" tIns="0" bIns="0" anchor="t">
            <a:spAutoFit/>
          </a:bodyPr>
          <a:lstStyle/>
          <a:p>
            <a:pPr algn="r"/>
            <a:r>
              <a:rPr sz="1000" b="0">
                <a:solidFill>
                  <a:srgbClr val="111111"/>
                </a:solidFill>
                <a:latin typeface="Calibri"/>
              </a:rPr>
              <a:t>16</a:t>
            </a:r>
          </a:p>
        </p:txBody>
      </p:sp>
      <p:sp>
        <p:nvSpPr>
          <p:cNvPr id="43" name="Rectangle 42"/>
          <p:cNvSpPr/>
          <p:nvPr/>
        </p:nvSpPr>
        <p:spPr>
          <a:xfrm>
            <a:off x="566928" y="4924043"/>
            <a:ext cx="32918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66928" y="5230367"/>
            <a:ext cx="32918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7512" y="4988051"/>
            <a:ext cx="1812174" cy="306324"/>
          </a:xfrm>
          <a:prstGeom prst="rect">
            <a:avLst/>
          </a:prstGeom>
          <a:noFill/>
        </p:spPr>
        <p:txBody>
          <a:bodyPr wrap="square" lIns="0" rIns="0" tIns="0" bIns="0" anchor="t">
            <a:spAutoFit/>
          </a:bodyPr>
          <a:lstStyle/>
          <a:p>
            <a:pPr algn="l"/>
            <a:r>
              <a:rPr sz="1000" b="1">
                <a:solidFill>
                  <a:srgbClr val="111111"/>
                </a:solidFill>
                <a:latin typeface="Calibri"/>
              </a:rPr>
              <a:t>2025</a:t>
            </a:r>
          </a:p>
        </p:txBody>
      </p:sp>
      <p:sp>
        <p:nvSpPr>
          <p:cNvPr id="46" name="TextBox 45"/>
          <p:cNvSpPr txBox="1"/>
          <p:nvPr/>
        </p:nvSpPr>
        <p:spPr>
          <a:xfrm>
            <a:off x="2662566" y="4988051"/>
            <a:ext cx="1113905" cy="306324"/>
          </a:xfrm>
          <a:prstGeom prst="rect">
            <a:avLst/>
          </a:prstGeom>
          <a:noFill/>
        </p:spPr>
        <p:txBody>
          <a:bodyPr wrap="square" lIns="0" rIns="0" tIns="0" bIns="0" anchor="t">
            <a:spAutoFit/>
          </a:bodyPr>
          <a:lstStyle/>
          <a:p>
            <a:pPr algn="r"/>
            <a:r>
              <a:rPr sz="1000" b="0">
                <a:solidFill>
                  <a:srgbClr val="111111"/>
                </a:solidFill>
                <a:latin typeface="Calibri"/>
              </a:rPr>
              <a:t>5</a:t>
            </a:r>
          </a:p>
        </p:txBody>
      </p:sp>
      <p:sp>
        <p:nvSpPr>
          <p:cNvPr id="47" name="Rectangle 46"/>
          <p:cNvSpPr/>
          <p:nvPr/>
        </p:nvSpPr>
        <p:spPr>
          <a:xfrm>
            <a:off x="566928" y="5230367"/>
            <a:ext cx="32918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66928" y="5536691"/>
            <a:ext cx="32918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7512" y="5294375"/>
            <a:ext cx="1812174" cy="306324"/>
          </a:xfrm>
          <a:prstGeom prst="rect">
            <a:avLst/>
          </a:prstGeom>
          <a:noFill/>
        </p:spPr>
        <p:txBody>
          <a:bodyPr wrap="square" lIns="0" rIns="0" tIns="0" bIns="0" anchor="t">
            <a:spAutoFit/>
          </a:bodyPr>
          <a:lstStyle/>
          <a:p>
            <a:pPr algn="l"/>
            <a:r>
              <a:rPr sz="1000" b="1">
                <a:solidFill>
                  <a:srgbClr val="111111"/>
                </a:solidFill>
                <a:latin typeface="Calibri"/>
              </a:rPr>
              <a:t>2026 YTD</a:t>
            </a:r>
          </a:p>
        </p:txBody>
      </p:sp>
      <p:sp>
        <p:nvSpPr>
          <p:cNvPr id="50" name="TextBox 49"/>
          <p:cNvSpPr txBox="1"/>
          <p:nvPr/>
        </p:nvSpPr>
        <p:spPr>
          <a:xfrm>
            <a:off x="2662566" y="5294375"/>
            <a:ext cx="1113905" cy="306324"/>
          </a:xfrm>
          <a:prstGeom prst="rect">
            <a:avLst/>
          </a:prstGeom>
          <a:noFill/>
        </p:spPr>
        <p:txBody>
          <a:bodyPr wrap="square" lIns="0" rIns="0" tIns="0" bIns="0" anchor="t">
            <a:spAutoFit/>
          </a:bodyPr>
          <a:lstStyle/>
          <a:p>
            <a:pPr algn="r"/>
            <a:r>
              <a:rPr sz="1000" b="0">
                <a:solidFill>
                  <a:srgbClr val="111111"/>
                </a:solidFill>
                <a:latin typeface="Calibri"/>
              </a:rPr>
              <a:t>19</a:t>
            </a:r>
          </a:p>
        </p:txBody>
      </p:sp>
      <p:sp>
        <p:nvSpPr>
          <p:cNvPr id="51" name="Rectangle 50"/>
          <p:cNvSpPr/>
          <p:nvPr/>
        </p:nvSpPr>
        <p:spPr>
          <a:xfrm>
            <a:off x="566928" y="5536691"/>
            <a:ext cx="32918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66928" y="5843015"/>
            <a:ext cx="32918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7512" y="5600699"/>
            <a:ext cx="1812174" cy="306324"/>
          </a:xfrm>
          <a:prstGeom prst="rect">
            <a:avLst/>
          </a:prstGeom>
          <a:noFill/>
        </p:spPr>
        <p:txBody>
          <a:bodyPr wrap="square" lIns="0" rIns="0" tIns="0" bIns="0" anchor="t">
            <a:spAutoFit/>
          </a:bodyPr>
          <a:lstStyle/>
          <a:p>
            <a:pPr algn="l"/>
            <a:r>
              <a:rPr sz="1000" b="1">
                <a:solidFill>
                  <a:srgbClr val="111111"/>
                </a:solidFill>
                <a:latin typeface="Calibri"/>
              </a:rPr>
              <a:t>Undated</a:t>
            </a:r>
          </a:p>
        </p:txBody>
      </p:sp>
      <p:sp>
        <p:nvSpPr>
          <p:cNvPr id="54" name="TextBox 53"/>
          <p:cNvSpPr txBox="1"/>
          <p:nvPr/>
        </p:nvSpPr>
        <p:spPr>
          <a:xfrm>
            <a:off x="2662566" y="5600699"/>
            <a:ext cx="1113905" cy="306324"/>
          </a:xfrm>
          <a:prstGeom prst="rect">
            <a:avLst/>
          </a:prstGeom>
          <a:noFill/>
        </p:spPr>
        <p:txBody>
          <a:bodyPr wrap="square" lIns="0" rIns="0" tIns="0" bIns="0" anchor="t">
            <a:spAutoFit/>
          </a:bodyPr>
          <a:lstStyle/>
          <a:p>
            <a:pPr algn="r"/>
            <a:r>
              <a:rPr sz="1000" b="0">
                <a:solidFill>
                  <a:srgbClr val="111111"/>
                </a:solidFill>
                <a:latin typeface="Calibri"/>
              </a:rPr>
              <a:t>1</a:t>
            </a:r>
          </a:p>
        </p:txBody>
      </p:sp>
      <p:sp>
        <p:nvSpPr>
          <p:cNvPr id="55" name="Rectangle 54"/>
          <p:cNvSpPr/>
          <p:nvPr/>
        </p:nvSpPr>
        <p:spPr>
          <a:xfrm>
            <a:off x="566928" y="5843015"/>
            <a:ext cx="32918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66928" y="6149339"/>
            <a:ext cx="32918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7512" y="5907023"/>
            <a:ext cx="1812174" cy="306324"/>
          </a:xfrm>
          <a:prstGeom prst="rect">
            <a:avLst/>
          </a:prstGeom>
          <a:noFill/>
        </p:spPr>
        <p:txBody>
          <a:bodyPr wrap="square" lIns="0" rIns="0" tIns="0" bIns="0" anchor="t">
            <a:spAutoFit/>
          </a:bodyPr>
          <a:lstStyle/>
          <a:p>
            <a:pPr algn="l"/>
            <a:r>
              <a:rPr sz="1000" b="1">
                <a:solidFill>
                  <a:srgbClr val="1E2761"/>
                </a:solidFill>
                <a:latin typeface="Calibri"/>
              </a:rPr>
              <a:t>Total</a:t>
            </a:r>
          </a:p>
        </p:txBody>
      </p:sp>
      <p:sp>
        <p:nvSpPr>
          <p:cNvPr id="58" name="TextBox 57"/>
          <p:cNvSpPr txBox="1"/>
          <p:nvPr/>
        </p:nvSpPr>
        <p:spPr>
          <a:xfrm>
            <a:off x="2662566" y="5907023"/>
            <a:ext cx="1113905" cy="306324"/>
          </a:xfrm>
          <a:prstGeom prst="rect">
            <a:avLst/>
          </a:prstGeom>
          <a:noFill/>
        </p:spPr>
        <p:txBody>
          <a:bodyPr wrap="square" lIns="0" rIns="0" tIns="0" bIns="0" anchor="t">
            <a:spAutoFit/>
          </a:bodyPr>
          <a:lstStyle/>
          <a:p>
            <a:pPr algn="r"/>
            <a:r>
              <a:rPr sz="1000" b="1">
                <a:solidFill>
                  <a:srgbClr val="1E2761"/>
                </a:solidFill>
                <a:latin typeface="Calibri"/>
              </a:rPr>
              <a:t>103</a:t>
            </a:r>
          </a:p>
        </p:txBody>
      </p:sp>
      <p:sp>
        <p:nvSpPr>
          <p:cNvPr id="59" name="Rectangle 58"/>
          <p:cNvSpPr/>
          <p:nvPr/>
        </p:nvSpPr>
        <p:spPr>
          <a:xfrm>
            <a:off x="4206240" y="3675887"/>
            <a:ext cx="7424927" cy="118872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206240" y="3675887"/>
            <a:ext cx="50292" cy="1188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425696" y="3813047"/>
            <a:ext cx="7013447" cy="274320"/>
          </a:xfrm>
          <a:prstGeom prst="rect">
            <a:avLst/>
          </a:prstGeom>
          <a:noFill/>
        </p:spPr>
        <p:txBody>
          <a:bodyPr wrap="square" lIns="0" rIns="0" tIns="0" bIns="0" anchor="t">
            <a:spAutoFit/>
          </a:bodyPr>
          <a:lstStyle/>
          <a:p>
            <a:pPr algn="l"/>
            <a:r>
              <a:rPr sz="1150" b="1">
                <a:solidFill>
                  <a:srgbClr val="2E7D32"/>
                </a:solidFill>
                <a:latin typeface="Calibri"/>
              </a:rPr>
              <a:t>The habit has spread</a:t>
            </a:r>
          </a:p>
        </p:txBody>
      </p:sp>
      <p:sp>
        <p:nvSpPr>
          <p:cNvPr id="62" name="TextBox 61"/>
          <p:cNvSpPr txBox="1"/>
          <p:nvPr/>
        </p:nvSpPr>
        <p:spPr>
          <a:xfrm>
            <a:off x="4425696" y="4114799"/>
            <a:ext cx="7013447" cy="658368"/>
          </a:xfrm>
          <a:prstGeom prst="rect">
            <a:avLst/>
          </a:prstGeom>
          <a:noFill/>
        </p:spPr>
        <p:txBody>
          <a:bodyPr wrap="square" lIns="0" rIns="0" tIns="0" bIns="0" anchor="t">
            <a:spAutoFit/>
          </a:bodyPr>
          <a:lstStyle/>
          <a:p>
            <a:pPr algn="l">
              <a:lnSpc>
                <a:spcPct val="120000"/>
              </a:lnSpc>
            </a:pPr>
            <a:r>
              <a:rPr sz="1050" b="0">
                <a:solidFill>
                  <a:srgbClr val="333B52"/>
                </a:solidFill>
                <a:latin typeface="Calibri"/>
              </a:rPr>
              <a:t>Vincent Ng (4), Dr. Pan (3) and Dr. Brian Lim (3) lead 2026, with six more senders behind them. Every memo this year came from somebody other than the Chief Executive.</a:t>
            </a:r>
          </a:p>
        </p:txBody>
      </p:sp>
      <p:sp>
        <p:nvSpPr>
          <p:cNvPr id="63" name="Rectangle 62"/>
          <p:cNvSpPr/>
          <p:nvPr/>
        </p:nvSpPr>
        <p:spPr>
          <a:xfrm>
            <a:off x="4206240" y="5029200"/>
            <a:ext cx="7424927" cy="118872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206240" y="5029200"/>
            <a:ext cx="50292" cy="11887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425696" y="5166360"/>
            <a:ext cx="7013447" cy="274320"/>
          </a:xfrm>
          <a:prstGeom prst="rect">
            <a:avLst/>
          </a:prstGeom>
          <a:noFill/>
        </p:spPr>
        <p:txBody>
          <a:bodyPr wrap="square" lIns="0" rIns="0" tIns="0" bIns="0" anchor="t">
            <a:spAutoFit/>
          </a:bodyPr>
          <a:lstStyle/>
          <a:p>
            <a:pPr algn="l"/>
            <a:r>
              <a:rPr sz="1150" b="1">
                <a:solidFill>
                  <a:srgbClr val="F9A825"/>
                </a:solidFill>
                <a:latin typeface="Calibri"/>
              </a:rPr>
              <a:t>Sender is still free text</a:t>
            </a:r>
          </a:p>
        </p:txBody>
      </p:sp>
      <p:sp>
        <p:nvSpPr>
          <p:cNvPr id="66" name="TextBox 65"/>
          <p:cNvSpPr txBox="1"/>
          <p:nvPr/>
        </p:nvSpPr>
        <p:spPr>
          <a:xfrm>
            <a:off x="4425696" y="5468112"/>
            <a:ext cx="7013447" cy="658368"/>
          </a:xfrm>
          <a:prstGeom prst="rect">
            <a:avLst/>
          </a:prstGeom>
          <a:noFill/>
        </p:spPr>
        <p:txBody>
          <a:bodyPr wrap="square" lIns="0" rIns="0" tIns="0" bIns="0" anchor="t">
            <a:spAutoFit/>
          </a:bodyPr>
          <a:lstStyle/>
          <a:p>
            <a:pPr algn="l">
              <a:lnSpc>
                <a:spcPct val="120000"/>
              </a:lnSpc>
            </a:pPr>
            <a:r>
              <a:rPr sz="1050" b="0">
                <a:solidFill>
                  <a:srgbClr val="333B52"/>
                </a:solidFill>
                <a:latin typeface="Calibri"/>
              </a:rPr>
              <a:t>Names are typed, not picked, so one person appears under two spellings. Worth fixing before this becomes a measure anybody is held to.</a:t>
            </a:r>
          </a:p>
        </p:txBody>
      </p:sp>
      <p:sp>
        <p:nvSpPr>
          <p:cNvPr id="67" name="TextBox 66"/>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All memos on file, excluding deleted ones. Dates are stored as text in two different formats; one memo's date cannot be read and is shown as undated. Identities grouped by hand across spellings.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5 · BY COMPANY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Memo Activity — By Company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Four companies have sent a memo this year. Three have never sent one.</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45920"/>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Globinaco</a:t>
            </a:r>
          </a:p>
        </p:txBody>
      </p:sp>
      <p:sp>
        <p:nvSpPr>
          <p:cNvPr id="11" name="TextBox 10"/>
          <p:cNvSpPr txBox="1"/>
          <p:nvPr/>
        </p:nvSpPr>
        <p:spPr>
          <a:xfrm>
            <a:off x="749808" y="2039112"/>
            <a:ext cx="1463040" cy="457200"/>
          </a:xfrm>
          <a:prstGeom prst="rect">
            <a:avLst/>
          </a:prstGeom>
          <a:noFill/>
        </p:spPr>
        <p:txBody>
          <a:bodyPr wrap="square" lIns="0" rIns="0" tIns="0" bIns="0" anchor="t">
            <a:spAutoFit/>
          </a:bodyPr>
          <a:lstStyle/>
          <a:p>
            <a:pPr algn="l"/>
            <a:r>
              <a:rPr sz="2400" b="1">
                <a:solidFill>
                  <a:srgbClr val="2E7D32"/>
                </a:solidFill>
                <a:latin typeface="Cambria"/>
              </a:rPr>
              <a:t>9</a:t>
            </a:r>
          </a:p>
        </p:txBody>
      </p:sp>
      <p:sp>
        <p:nvSpPr>
          <p:cNvPr id="12" name="TextBox 11"/>
          <p:cNvSpPr txBox="1"/>
          <p:nvPr/>
        </p:nvSpPr>
        <p:spPr>
          <a:xfrm>
            <a:off x="749808"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SENT IN 2026</a:t>
            </a:r>
          </a:p>
        </p:txBody>
      </p:sp>
      <p:sp>
        <p:nvSpPr>
          <p:cNvPr id="13" name="TextBox 12"/>
          <p:cNvSpPr txBox="1"/>
          <p:nvPr/>
        </p:nvSpPr>
        <p:spPr>
          <a:xfrm>
            <a:off x="749808"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On file</a:t>
            </a:r>
          </a:p>
        </p:txBody>
      </p:sp>
      <p:sp>
        <p:nvSpPr>
          <p:cNvPr id="14" name="TextBox 13"/>
          <p:cNvSpPr txBox="1"/>
          <p:nvPr/>
        </p:nvSpPr>
        <p:spPr>
          <a:xfrm>
            <a:off x="2212848" y="2638044"/>
            <a:ext cx="786384" cy="201168"/>
          </a:xfrm>
          <a:prstGeom prst="rect">
            <a:avLst/>
          </a:prstGeom>
          <a:noFill/>
        </p:spPr>
        <p:txBody>
          <a:bodyPr wrap="square" lIns="0" rIns="0" tIns="0" bIns="0" anchor="t">
            <a:spAutoFit/>
          </a:bodyPr>
          <a:lstStyle/>
          <a:p>
            <a:pPr algn="r"/>
            <a:r>
              <a:rPr sz="950" b="1">
                <a:solidFill>
                  <a:srgbClr val="111111"/>
                </a:solidFill>
                <a:latin typeface="Calibri"/>
              </a:rPr>
              <a:t>9</a:t>
            </a:r>
          </a:p>
        </p:txBody>
      </p:sp>
      <p:sp>
        <p:nvSpPr>
          <p:cNvPr id="15" name="TextBox 14"/>
          <p:cNvSpPr txBox="1"/>
          <p:nvPr/>
        </p:nvSpPr>
        <p:spPr>
          <a:xfrm>
            <a:off x="749808"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Senders</a:t>
            </a:r>
          </a:p>
        </p:txBody>
      </p:sp>
      <p:sp>
        <p:nvSpPr>
          <p:cNvPr id="16" name="TextBox 15"/>
          <p:cNvSpPr txBox="1"/>
          <p:nvPr/>
        </p:nvSpPr>
        <p:spPr>
          <a:xfrm>
            <a:off x="2212848" y="2811780"/>
            <a:ext cx="786384" cy="201168"/>
          </a:xfrm>
          <a:prstGeom prst="rect">
            <a:avLst/>
          </a:prstGeom>
          <a:noFill/>
        </p:spPr>
        <p:txBody>
          <a:bodyPr wrap="square" lIns="0" rIns="0" tIns="0" bIns="0" anchor="t">
            <a:spAutoFit/>
          </a:bodyPr>
          <a:lstStyle/>
          <a:p>
            <a:pPr algn="r"/>
            <a:r>
              <a:rPr sz="950" b="1">
                <a:solidFill>
                  <a:srgbClr val="111111"/>
                </a:solidFill>
                <a:latin typeface="Calibri"/>
              </a:rPr>
              <a:t>4</a:t>
            </a:r>
          </a:p>
        </p:txBody>
      </p:sp>
      <p:sp>
        <p:nvSpPr>
          <p:cNvPr id="17" name="TextBox 16"/>
          <p:cNvSpPr txBox="1"/>
          <p:nvPr/>
        </p:nvSpPr>
        <p:spPr>
          <a:xfrm>
            <a:off x="749808"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Latest</a:t>
            </a:r>
          </a:p>
        </p:txBody>
      </p:sp>
      <p:sp>
        <p:nvSpPr>
          <p:cNvPr id="18" name="TextBox 17"/>
          <p:cNvSpPr txBox="1"/>
          <p:nvPr/>
        </p:nvSpPr>
        <p:spPr>
          <a:xfrm>
            <a:off x="2212848" y="2985516"/>
            <a:ext cx="786384" cy="201168"/>
          </a:xfrm>
          <a:prstGeom prst="rect">
            <a:avLst/>
          </a:prstGeom>
          <a:noFill/>
        </p:spPr>
        <p:txBody>
          <a:bodyPr wrap="square" lIns="0" rIns="0" tIns="0" bIns="0" anchor="t">
            <a:spAutoFit/>
          </a:bodyPr>
          <a:lstStyle/>
          <a:p>
            <a:pPr algn="r"/>
            <a:r>
              <a:rPr sz="950" b="1">
                <a:solidFill>
                  <a:srgbClr val="5A6478"/>
                </a:solidFill>
                <a:latin typeface="Calibri"/>
              </a:rPr>
              <a:t>21 Oct</a:t>
            </a:r>
          </a:p>
        </p:txBody>
      </p:sp>
      <p:sp>
        <p:nvSpPr>
          <p:cNvPr id="19" name="TextBox 18"/>
          <p:cNvSpPr txBox="1"/>
          <p:nvPr/>
        </p:nvSpPr>
        <p:spPr>
          <a:xfrm>
            <a:off x="749808"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People here</a:t>
            </a:r>
          </a:p>
        </p:txBody>
      </p:sp>
      <p:sp>
        <p:nvSpPr>
          <p:cNvPr id="20" name="TextBox 19"/>
          <p:cNvSpPr txBox="1"/>
          <p:nvPr/>
        </p:nvSpPr>
        <p:spPr>
          <a:xfrm>
            <a:off x="2212848" y="3159252"/>
            <a:ext cx="786384" cy="201168"/>
          </a:xfrm>
          <a:prstGeom prst="rect">
            <a:avLst/>
          </a:prstGeom>
          <a:noFill/>
        </p:spPr>
        <p:txBody>
          <a:bodyPr wrap="square" lIns="0" rIns="0" tIns="0" bIns="0" anchor="t">
            <a:spAutoFit/>
          </a:bodyPr>
          <a:lstStyle/>
          <a:p>
            <a:pPr algn="r"/>
            <a:r>
              <a:rPr sz="950" b="1">
                <a:solidFill>
                  <a:srgbClr val="111111"/>
                </a:solidFill>
                <a:latin typeface="Calibri"/>
              </a:rPr>
              <a:t>665</a:t>
            </a:r>
          </a:p>
        </p:txBody>
      </p:sp>
      <p:sp>
        <p:nvSpPr>
          <p:cNvPr id="21" name="Rectangle 20"/>
          <p:cNvSpPr/>
          <p:nvPr/>
        </p:nvSpPr>
        <p:spPr>
          <a:xfrm>
            <a:off x="749808"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Vincent Ng (4), Dr. Brian Lim (3), Jeffrey Soo, Soo Chee Kiong.</a:t>
            </a:r>
          </a:p>
        </p:txBody>
      </p:sp>
      <p:sp>
        <p:nvSpPr>
          <p:cNvPr id="23" name="Rectangle 22"/>
          <p:cNvSpPr/>
          <p:nvPr/>
        </p:nvSpPr>
        <p:spPr>
          <a:xfrm>
            <a:off x="3396996"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96996" y="1645920"/>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79876"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Hotel Grandis</a:t>
            </a:r>
          </a:p>
        </p:txBody>
      </p:sp>
      <p:sp>
        <p:nvSpPr>
          <p:cNvPr id="26" name="TextBox 25"/>
          <p:cNvSpPr txBox="1"/>
          <p:nvPr/>
        </p:nvSpPr>
        <p:spPr>
          <a:xfrm>
            <a:off x="3579876" y="2039112"/>
            <a:ext cx="1463040" cy="457200"/>
          </a:xfrm>
          <a:prstGeom prst="rect">
            <a:avLst/>
          </a:prstGeom>
          <a:noFill/>
        </p:spPr>
        <p:txBody>
          <a:bodyPr wrap="square" lIns="0" rIns="0" tIns="0" bIns="0" anchor="t">
            <a:spAutoFit/>
          </a:bodyPr>
          <a:lstStyle/>
          <a:p>
            <a:pPr algn="l"/>
            <a:r>
              <a:rPr sz="2400" b="1">
                <a:solidFill>
                  <a:srgbClr val="2E7D32"/>
                </a:solidFill>
                <a:latin typeface="Cambria"/>
              </a:rPr>
              <a:t>3</a:t>
            </a:r>
          </a:p>
        </p:txBody>
      </p:sp>
      <p:sp>
        <p:nvSpPr>
          <p:cNvPr id="27" name="TextBox 26"/>
          <p:cNvSpPr txBox="1"/>
          <p:nvPr/>
        </p:nvSpPr>
        <p:spPr>
          <a:xfrm>
            <a:off x="3579876"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SENT IN 2026</a:t>
            </a:r>
          </a:p>
        </p:txBody>
      </p:sp>
      <p:sp>
        <p:nvSpPr>
          <p:cNvPr id="28" name="TextBox 27"/>
          <p:cNvSpPr txBox="1"/>
          <p:nvPr/>
        </p:nvSpPr>
        <p:spPr>
          <a:xfrm>
            <a:off x="3579876"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On file</a:t>
            </a:r>
          </a:p>
        </p:txBody>
      </p:sp>
      <p:sp>
        <p:nvSpPr>
          <p:cNvPr id="29" name="TextBox 28"/>
          <p:cNvSpPr txBox="1"/>
          <p:nvPr/>
        </p:nvSpPr>
        <p:spPr>
          <a:xfrm>
            <a:off x="5042916" y="2638044"/>
            <a:ext cx="786384" cy="201168"/>
          </a:xfrm>
          <a:prstGeom prst="rect">
            <a:avLst/>
          </a:prstGeom>
          <a:noFill/>
        </p:spPr>
        <p:txBody>
          <a:bodyPr wrap="square" lIns="0" rIns="0" tIns="0" bIns="0" anchor="t">
            <a:spAutoFit/>
          </a:bodyPr>
          <a:lstStyle/>
          <a:p>
            <a:pPr algn="r"/>
            <a:r>
              <a:rPr sz="950" b="1">
                <a:solidFill>
                  <a:srgbClr val="111111"/>
                </a:solidFill>
                <a:latin typeface="Calibri"/>
              </a:rPr>
              <a:t>3</a:t>
            </a:r>
          </a:p>
        </p:txBody>
      </p:sp>
      <p:sp>
        <p:nvSpPr>
          <p:cNvPr id="30" name="TextBox 29"/>
          <p:cNvSpPr txBox="1"/>
          <p:nvPr/>
        </p:nvSpPr>
        <p:spPr>
          <a:xfrm>
            <a:off x="3579876"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Senders</a:t>
            </a:r>
          </a:p>
        </p:txBody>
      </p:sp>
      <p:sp>
        <p:nvSpPr>
          <p:cNvPr id="31" name="TextBox 30"/>
          <p:cNvSpPr txBox="1"/>
          <p:nvPr/>
        </p:nvSpPr>
        <p:spPr>
          <a:xfrm>
            <a:off x="5042916" y="2811780"/>
            <a:ext cx="786384" cy="201168"/>
          </a:xfrm>
          <a:prstGeom prst="rect">
            <a:avLst/>
          </a:prstGeom>
          <a:noFill/>
        </p:spPr>
        <p:txBody>
          <a:bodyPr wrap="square" lIns="0" rIns="0" tIns="0" bIns="0" anchor="t">
            <a:spAutoFit/>
          </a:bodyPr>
          <a:lstStyle/>
          <a:p>
            <a:pPr algn="r"/>
            <a:r>
              <a:rPr sz="950" b="1">
                <a:solidFill>
                  <a:srgbClr val="111111"/>
                </a:solidFill>
                <a:latin typeface="Calibri"/>
              </a:rPr>
              <a:t>2</a:t>
            </a:r>
          </a:p>
        </p:txBody>
      </p:sp>
      <p:sp>
        <p:nvSpPr>
          <p:cNvPr id="32" name="TextBox 31"/>
          <p:cNvSpPr txBox="1"/>
          <p:nvPr/>
        </p:nvSpPr>
        <p:spPr>
          <a:xfrm>
            <a:off x="3579876"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Latest</a:t>
            </a:r>
          </a:p>
        </p:txBody>
      </p:sp>
      <p:sp>
        <p:nvSpPr>
          <p:cNvPr id="33" name="TextBox 32"/>
          <p:cNvSpPr txBox="1"/>
          <p:nvPr/>
        </p:nvSpPr>
        <p:spPr>
          <a:xfrm>
            <a:off x="5042916" y="2985516"/>
            <a:ext cx="786384" cy="201168"/>
          </a:xfrm>
          <a:prstGeom prst="rect">
            <a:avLst/>
          </a:prstGeom>
          <a:noFill/>
        </p:spPr>
        <p:txBody>
          <a:bodyPr wrap="square" lIns="0" rIns="0" tIns="0" bIns="0" anchor="t">
            <a:spAutoFit/>
          </a:bodyPr>
          <a:lstStyle/>
          <a:p>
            <a:pPr algn="r"/>
            <a:r>
              <a:rPr sz="950" b="1">
                <a:solidFill>
                  <a:srgbClr val="5A6478"/>
                </a:solidFill>
                <a:latin typeface="Calibri"/>
              </a:rPr>
              <a:t>16 Oct</a:t>
            </a:r>
          </a:p>
        </p:txBody>
      </p:sp>
      <p:sp>
        <p:nvSpPr>
          <p:cNvPr id="34" name="TextBox 33"/>
          <p:cNvSpPr txBox="1"/>
          <p:nvPr/>
        </p:nvSpPr>
        <p:spPr>
          <a:xfrm>
            <a:off x="3579876"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People here</a:t>
            </a:r>
          </a:p>
        </p:txBody>
      </p:sp>
      <p:sp>
        <p:nvSpPr>
          <p:cNvPr id="35" name="TextBox 34"/>
          <p:cNvSpPr txBox="1"/>
          <p:nvPr/>
        </p:nvSpPr>
        <p:spPr>
          <a:xfrm>
            <a:off x="5042916" y="3159252"/>
            <a:ext cx="786384" cy="201168"/>
          </a:xfrm>
          <a:prstGeom prst="rect">
            <a:avLst/>
          </a:prstGeom>
          <a:noFill/>
        </p:spPr>
        <p:txBody>
          <a:bodyPr wrap="square" lIns="0" rIns="0" tIns="0" bIns="0" anchor="t">
            <a:spAutoFit/>
          </a:bodyPr>
          <a:lstStyle/>
          <a:p>
            <a:pPr algn="r"/>
            <a:r>
              <a:rPr sz="950" b="1">
                <a:solidFill>
                  <a:srgbClr val="111111"/>
                </a:solidFill>
                <a:latin typeface="Calibri"/>
              </a:rPr>
              <a:t>150</a:t>
            </a:r>
          </a:p>
        </p:txBody>
      </p:sp>
      <p:sp>
        <p:nvSpPr>
          <p:cNvPr id="36" name="Rectangle 35"/>
          <p:cNvSpPr/>
          <p:nvPr/>
        </p:nvSpPr>
        <p:spPr>
          <a:xfrm>
            <a:off x="3579876"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79876"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Natasha Beatta Gait (2) and Jet Mah Mun Keat.</a:t>
            </a:r>
          </a:p>
        </p:txBody>
      </p:sp>
      <p:sp>
        <p:nvSpPr>
          <p:cNvPr id="38" name="Rectangle 37"/>
          <p:cNvSpPr/>
          <p:nvPr/>
        </p:nvSpPr>
        <p:spPr>
          <a:xfrm>
            <a:off x="6227064"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27064" y="1645920"/>
            <a:ext cx="2615184" cy="4114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9944"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Arus Sawit</a:t>
            </a:r>
          </a:p>
        </p:txBody>
      </p:sp>
      <p:sp>
        <p:nvSpPr>
          <p:cNvPr id="41" name="TextBox 40"/>
          <p:cNvSpPr txBox="1"/>
          <p:nvPr/>
        </p:nvSpPr>
        <p:spPr>
          <a:xfrm>
            <a:off x="6409944" y="2039112"/>
            <a:ext cx="1463040" cy="457200"/>
          </a:xfrm>
          <a:prstGeom prst="rect">
            <a:avLst/>
          </a:prstGeom>
          <a:noFill/>
        </p:spPr>
        <p:txBody>
          <a:bodyPr wrap="square" lIns="0" rIns="0" tIns="0" bIns="0" anchor="t">
            <a:spAutoFit/>
          </a:bodyPr>
          <a:lstStyle/>
          <a:p>
            <a:pPr algn="l"/>
            <a:r>
              <a:rPr sz="2400" b="1">
                <a:solidFill>
                  <a:srgbClr val="F9A825"/>
                </a:solidFill>
                <a:latin typeface="Cambria"/>
              </a:rPr>
              <a:t>1</a:t>
            </a:r>
          </a:p>
        </p:txBody>
      </p:sp>
      <p:sp>
        <p:nvSpPr>
          <p:cNvPr id="42" name="TextBox 41"/>
          <p:cNvSpPr txBox="1"/>
          <p:nvPr/>
        </p:nvSpPr>
        <p:spPr>
          <a:xfrm>
            <a:off x="6409944"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SENT IN 2026</a:t>
            </a:r>
          </a:p>
        </p:txBody>
      </p:sp>
      <p:sp>
        <p:nvSpPr>
          <p:cNvPr id="43" name="TextBox 42"/>
          <p:cNvSpPr txBox="1"/>
          <p:nvPr/>
        </p:nvSpPr>
        <p:spPr>
          <a:xfrm>
            <a:off x="6409944"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On file</a:t>
            </a:r>
          </a:p>
        </p:txBody>
      </p:sp>
      <p:sp>
        <p:nvSpPr>
          <p:cNvPr id="44" name="TextBox 43"/>
          <p:cNvSpPr txBox="1"/>
          <p:nvPr/>
        </p:nvSpPr>
        <p:spPr>
          <a:xfrm>
            <a:off x="7872984" y="2638044"/>
            <a:ext cx="786384" cy="201168"/>
          </a:xfrm>
          <a:prstGeom prst="rect">
            <a:avLst/>
          </a:prstGeom>
          <a:noFill/>
        </p:spPr>
        <p:txBody>
          <a:bodyPr wrap="square" lIns="0" rIns="0" tIns="0" bIns="0" anchor="t">
            <a:spAutoFit/>
          </a:bodyPr>
          <a:lstStyle/>
          <a:p>
            <a:pPr algn="r"/>
            <a:r>
              <a:rPr sz="950" b="1">
                <a:solidFill>
                  <a:srgbClr val="111111"/>
                </a:solidFill>
                <a:latin typeface="Calibri"/>
              </a:rPr>
              <a:t>1</a:t>
            </a:r>
          </a:p>
        </p:txBody>
      </p:sp>
      <p:sp>
        <p:nvSpPr>
          <p:cNvPr id="45" name="TextBox 44"/>
          <p:cNvSpPr txBox="1"/>
          <p:nvPr/>
        </p:nvSpPr>
        <p:spPr>
          <a:xfrm>
            <a:off x="6409944"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Senders</a:t>
            </a:r>
          </a:p>
        </p:txBody>
      </p:sp>
      <p:sp>
        <p:nvSpPr>
          <p:cNvPr id="46" name="TextBox 45"/>
          <p:cNvSpPr txBox="1"/>
          <p:nvPr/>
        </p:nvSpPr>
        <p:spPr>
          <a:xfrm>
            <a:off x="7872984" y="2811780"/>
            <a:ext cx="786384" cy="201168"/>
          </a:xfrm>
          <a:prstGeom prst="rect">
            <a:avLst/>
          </a:prstGeom>
          <a:noFill/>
        </p:spPr>
        <p:txBody>
          <a:bodyPr wrap="square" lIns="0" rIns="0" tIns="0" bIns="0" anchor="t">
            <a:spAutoFit/>
          </a:bodyPr>
          <a:lstStyle/>
          <a:p>
            <a:pPr algn="r"/>
            <a:r>
              <a:rPr sz="950" b="1">
                <a:solidFill>
                  <a:srgbClr val="111111"/>
                </a:solidFill>
                <a:latin typeface="Calibri"/>
              </a:rPr>
              <a:t>1</a:t>
            </a:r>
          </a:p>
        </p:txBody>
      </p:sp>
      <p:sp>
        <p:nvSpPr>
          <p:cNvPr id="47" name="TextBox 46"/>
          <p:cNvSpPr txBox="1"/>
          <p:nvPr/>
        </p:nvSpPr>
        <p:spPr>
          <a:xfrm>
            <a:off x="6409944"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Latest</a:t>
            </a:r>
          </a:p>
        </p:txBody>
      </p:sp>
      <p:sp>
        <p:nvSpPr>
          <p:cNvPr id="48" name="TextBox 47"/>
          <p:cNvSpPr txBox="1"/>
          <p:nvPr/>
        </p:nvSpPr>
        <p:spPr>
          <a:xfrm>
            <a:off x="7872984" y="2985516"/>
            <a:ext cx="786384" cy="201168"/>
          </a:xfrm>
          <a:prstGeom prst="rect">
            <a:avLst/>
          </a:prstGeom>
          <a:noFill/>
        </p:spPr>
        <p:txBody>
          <a:bodyPr wrap="square" lIns="0" rIns="0" tIns="0" bIns="0" anchor="t">
            <a:spAutoFit/>
          </a:bodyPr>
          <a:lstStyle/>
          <a:p>
            <a:pPr algn="r"/>
            <a:r>
              <a:rPr sz="950" b="1">
                <a:solidFill>
                  <a:srgbClr val="5A6478"/>
                </a:solidFill>
                <a:latin typeface="Calibri"/>
              </a:rPr>
              <a:t>21 Oct</a:t>
            </a:r>
          </a:p>
        </p:txBody>
      </p:sp>
      <p:sp>
        <p:nvSpPr>
          <p:cNvPr id="49" name="TextBox 48"/>
          <p:cNvSpPr txBox="1"/>
          <p:nvPr/>
        </p:nvSpPr>
        <p:spPr>
          <a:xfrm>
            <a:off x="6409944"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People here</a:t>
            </a:r>
          </a:p>
        </p:txBody>
      </p:sp>
      <p:sp>
        <p:nvSpPr>
          <p:cNvPr id="50" name="TextBox 49"/>
          <p:cNvSpPr txBox="1"/>
          <p:nvPr/>
        </p:nvSpPr>
        <p:spPr>
          <a:xfrm>
            <a:off x="7872984" y="3159252"/>
            <a:ext cx="786384" cy="201168"/>
          </a:xfrm>
          <a:prstGeom prst="rect">
            <a:avLst/>
          </a:prstGeom>
          <a:noFill/>
        </p:spPr>
        <p:txBody>
          <a:bodyPr wrap="square" lIns="0" rIns="0" tIns="0" bIns="0" anchor="t">
            <a:spAutoFit/>
          </a:bodyPr>
          <a:lstStyle/>
          <a:p>
            <a:pPr algn="r"/>
            <a:r>
              <a:rPr sz="950" b="1">
                <a:solidFill>
                  <a:srgbClr val="111111"/>
                </a:solidFill>
                <a:latin typeface="Calibri"/>
              </a:rPr>
              <a:t>658</a:t>
            </a:r>
          </a:p>
        </p:txBody>
      </p:sp>
      <p:sp>
        <p:nvSpPr>
          <p:cNvPr id="51" name="Rectangle 50"/>
          <p:cNvSpPr/>
          <p:nvPr/>
        </p:nvSpPr>
        <p:spPr>
          <a:xfrm>
            <a:off x="6409944"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9944"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One, from Asyraf bin Yahya.</a:t>
            </a:r>
          </a:p>
        </p:txBody>
      </p:sp>
      <p:sp>
        <p:nvSpPr>
          <p:cNvPr id="53" name="Rectangle 52"/>
          <p:cNvSpPr/>
          <p:nvPr/>
        </p:nvSpPr>
        <p:spPr>
          <a:xfrm>
            <a:off x="9057132"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057132" y="1645920"/>
            <a:ext cx="2615184" cy="4114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240012"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TP Group</a:t>
            </a:r>
          </a:p>
        </p:txBody>
      </p:sp>
      <p:sp>
        <p:nvSpPr>
          <p:cNvPr id="56" name="TextBox 55"/>
          <p:cNvSpPr txBox="1"/>
          <p:nvPr/>
        </p:nvSpPr>
        <p:spPr>
          <a:xfrm>
            <a:off x="9240012" y="2039112"/>
            <a:ext cx="1463040" cy="457200"/>
          </a:xfrm>
          <a:prstGeom prst="rect">
            <a:avLst/>
          </a:prstGeom>
          <a:noFill/>
        </p:spPr>
        <p:txBody>
          <a:bodyPr wrap="square" lIns="0" rIns="0" tIns="0" bIns="0" anchor="t">
            <a:spAutoFit/>
          </a:bodyPr>
          <a:lstStyle/>
          <a:p>
            <a:pPr algn="l"/>
            <a:r>
              <a:rPr sz="2400" b="1">
                <a:solidFill>
                  <a:srgbClr val="5A6478"/>
                </a:solidFill>
                <a:latin typeface="Cambria"/>
              </a:rPr>
              <a:t>—</a:t>
            </a:r>
          </a:p>
        </p:txBody>
      </p:sp>
      <p:sp>
        <p:nvSpPr>
          <p:cNvPr id="57" name="TextBox 56"/>
          <p:cNvSpPr txBox="1"/>
          <p:nvPr/>
        </p:nvSpPr>
        <p:spPr>
          <a:xfrm>
            <a:off x="9240012"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SENT IN 2026</a:t>
            </a:r>
          </a:p>
        </p:txBody>
      </p:sp>
      <p:sp>
        <p:nvSpPr>
          <p:cNvPr id="58" name="TextBox 57"/>
          <p:cNvSpPr txBox="1"/>
          <p:nvPr/>
        </p:nvSpPr>
        <p:spPr>
          <a:xfrm>
            <a:off x="9240012"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On file</a:t>
            </a:r>
          </a:p>
        </p:txBody>
      </p:sp>
      <p:sp>
        <p:nvSpPr>
          <p:cNvPr id="59" name="TextBox 58"/>
          <p:cNvSpPr txBox="1"/>
          <p:nvPr/>
        </p:nvSpPr>
        <p:spPr>
          <a:xfrm>
            <a:off x="10703052" y="2638044"/>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60" name="TextBox 59"/>
          <p:cNvSpPr txBox="1"/>
          <p:nvPr/>
        </p:nvSpPr>
        <p:spPr>
          <a:xfrm>
            <a:off x="9240012"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Senders</a:t>
            </a:r>
          </a:p>
        </p:txBody>
      </p:sp>
      <p:sp>
        <p:nvSpPr>
          <p:cNvPr id="61" name="TextBox 60"/>
          <p:cNvSpPr txBox="1"/>
          <p:nvPr/>
        </p:nvSpPr>
        <p:spPr>
          <a:xfrm>
            <a:off x="10703052" y="2811780"/>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62" name="TextBox 61"/>
          <p:cNvSpPr txBox="1"/>
          <p:nvPr/>
        </p:nvSpPr>
        <p:spPr>
          <a:xfrm>
            <a:off x="9240012"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Latest</a:t>
            </a:r>
          </a:p>
        </p:txBody>
      </p:sp>
      <p:sp>
        <p:nvSpPr>
          <p:cNvPr id="63" name="TextBox 62"/>
          <p:cNvSpPr txBox="1"/>
          <p:nvPr/>
        </p:nvSpPr>
        <p:spPr>
          <a:xfrm>
            <a:off x="10703052" y="2985516"/>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64" name="TextBox 63"/>
          <p:cNvSpPr txBox="1"/>
          <p:nvPr/>
        </p:nvSpPr>
        <p:spPr>
          <a:xfrm>
            <a:off x="9240012"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People here</a:t>
            </a:r>
          </a:p>
        </p:txBody>
      </p:sp>
      <p:sp>
        <p:nvSpPr>
          <p:cNvPr id="65" name="TextBox 64"/>
          <p:cNvSpPr txBox="1"/>
          <p:nvPr/>
        </p:nvSpPr>
        <p:spPr>
          <a:xfrm>
            <a:off x="10703052" y="3159252"/>
            <a:ext cx="786384" cy="201168"/>
          </a:xfrm>
          <a:prstGeom prst="rect">
            <a:avLst/>
          </a:prstGeom>
          <a:noFill/>
        </p:spPr>
        <p:txBody>
          <a:bodyPr wrap="square" lIns="0" rIns="0" tIns="0" bIns="0" anchor="t">
            <a:spAutoFit/>
          </a:bodyPr>
          <a:lstStyle/>
          <a:p>
            <a:pPr algn="r"/>
            <a:r>
              <a:rPr sz="950" b="1">
                <a:solidFill>
                  <a:srgbClr val="111111"/>
                </a:solidFill>
                <a:latin typeface="Calibri"/>
              </a:rPr>
              <a:t>65</a:t>
            </a:r>
          </a:p>
        </p:txBody>
      </p:sp>
      <p:sp>
        <p:nvSpPr>
          <p:cNvPr id="66" name="Rectangle 65"/>
          <p:cNvSpPr/>
          <p:nvPr/>
        </p:nvSpPr>
        <p:spPr>
          <a:xfrm>
            <a:off x="9240012"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240012"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Nothing sent. 65 staff and no broadcast has ever gone out.</a:t>
            </a:r>
          </a:p>
        </p:txBody>
      </p:sp>
      <p:sp>
        <p:nvSpPr>
          <p:cNvPr id="68" name="Rectangle 67"/>
          <p:cNvSpPr/>
          <p:nvPr/>
        </p:nvSpPr>
        <p:spPr>
          <a:xfrm>
            <a:off x="566928"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66928" y="4073652"/>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9808"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AMC</a:t>
            </a:r>
          </a:p>
        </p:txBody>
      </p:sp>
      <p:sp>
        <p:nvSpPr>
          <p:cNvPr id="71" name="TextBox 70"/>
          <p:cNvSpPr txBox="1"/>
          <p:nvPr/>
        </p:nvSpPr>
        <p:spPr>
          <a:xfrm>
            <a:off x="749808" y="4466844"/>
            <a:ext cx="1463040" cy="457200"/>
          </a:xfrm>
          <a:prstGeom prst="rect">
            <a:avLst/>
          </a:prstGeom>
          <a:noFill/>
        </p:spPr>
        <p:txBody>
          <a:bodyPr wrap="square" lIns="0" rIns="0" tIns="0" bIns="0" anchor="t">
            <a:spAutoFit/>
          </a:bodyPr>
          <a:lstStyle/>
          <a:p>
            <a:pPr algn="l"/>
            <a:r>
              <a:rPr sz="2400" b="1">
                <a:solidFill>
                  <a:srgbClr val="2E7D32"/>
                </a:solidFill>
                <a:latin typeface="Cambria"/>
              </a:rPr>
              <a:t>4</a:t>
            </a:r>
          </a:p>
        </p:txBody>
      </p:sp>
      <p:sp>
        <p:nvSpPr>
          <p:cNvPr id="72" name="TextBox 71"/>
          <p:cNvSpPr txBox="1"/>
          <p:nvPr/>
        </p:nvSpPr>
        <p:spPr>
          <a:xfrm>
            <a:off x="749808"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SENT IN 2026</a:t>
            </a:r>
          </a:p>
        </p:txBody>
      </p:sp>
      <p:sp>
        <p:nvSpPr>
          <p:cNvPr id="73" name="TextBox 72"/>
          <p:cNvSpPr txBox="1"/>
          <p:nvPr/>
        </p:nvSpPr>
        <p:spPr>
          <a:xfrm>
            <a:off x="749808"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On file</a:t>
            </a:r>
          </a:p>
        </p:txBody>
      </p:sp>
      <p:sp>
        <p:nvSpPr>
          <p:cNvPr id="74" name="TextBox 73"/>
          <p:cNvSpPr txBox="1"/>
          <p:nvPr/>
        </p:nvSpPr>
        <p:spPr>
          <a:xfrm>
            <a:off x="2212848" y="5065776"/>
            <a:ext cx="786384" cy="201168"/>
          </a:xfrm>
          <a:prstGeom prst="rect">
            <a:avLst/>
          </a:prstGeom>
          <a:noFill/>
        </p:spPr>
        <p:txBody>
          <a:bodyPr wrap="square" lIns="0" rIns="0" tIns="0" bIns="0" anchor="t">
            <a:spAutoFit/>
          </a:bodyPr>
          <a:lstStyle/>
          <a:p>
            <a:pPr algn="r"/>
            <a:r>
              <a:rPr sz="950" b="1">
                <a:solidFill>
                  <a:srgbClr val="111111"/>
                </a:solidFill>
                <a:latin typeface="Calibri"/>
              </a:rPr>
              <a:t>6</a:t>
            </a:r>
          </a:p>
        </p:txBody>
      </p:sp>
      <p:sp>
        <p:nvSpPr>
          <p:cNvPr id="75" name="TextBox 74"/>
          <p:cNvSpPr txBox="1"/>
          <p:nvPr/>
        </p:nvSpPr>
        <p:spPr>
          <a:xfrm>
            <a:off x="749808"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Senders</a:t>
            </a:r>
          </a:p>
        </p:txBody>
      </p:sp>
      <p:sp>
        <p:nvSpPr>
          <p:cNvPr id="76" name="TextBox 75"/>
          <p:cNvSpPr txBox="1"/>
          <p:nvPr/>
        </p:nvSpPr>
        <p:spPr>
          <a:xfrm>
            <a:off x="2212848" y="5239512"/>
            <a:ext cx="786384" cy="201168"/>
          </a:xfrm>
          <a:prstGeom prst="rect">
            <a:avLst/>
          </a:prstGeom>
          <a:noFill/>
        </p:spPr>
        <p:txBody>
          <a:bodyPr wrap="square" lIns="0" rIns="0" tIns="0" bIns="0" anchor="t">
            <a:spAutoFit/>
          </a:bodyPr>
          <a:lstStyle/>
          <a:p>
            <a:pPr algn="r"/>
            <a:r>
              <a:rPr sz="950" b="1">
                <a:solidFill>
                  <a:srgbClr val="111111"/>
                </a:solidFill>
                <a:latin typeface="Calibri"/>
              </a:rPr>
              <a:t>2</a:t>
            </a:r>
          </a:p>
        </p:txBody>
      </p:sp>
      <p:sp>
        <p:nvSpPr>
          <p:cNvPr id="77" name="TextBox 76"/>
          <p:cNvSpPr txBox="1"/>
          <p:nvPr/>
        </p:nvSpPr>
        <p:spPr>
          <a:xfrm>
            <a:off x="749808"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Latest</a:t>
            </a:r>
          </a:p>
        </p:txBody>
      </p:sp>
      <p:sp>
        <p:nvSpPr>
          <p:cNvPr id="78" name="TextBox 77"/>
          <p:cNvSpPr txBox="1"/>
          <p:nvPr/>
        </p:nvSpPr>
        <p:spPr>
          <a:xfrm>
            <a:off x="2212848" y="5413248"/>
            <a:ext cx="786384" cy="201168"/>
          </a:xfrm>
          <a:prstGeom prst="rect">
            <a:avLst/>
          </a:prstGeom>
          <a:noFill/>
        </p:spPr>
        <p:txBody>
          <a:bodyPr wrap="square" lIns="0" rIns="0" tIns="0" bIns="0" anchor="t">
            <a:spAutoFit/>
          </a:bodyPr>
          <a:lstStyle/>
          <a:p>
            <a:pPr algn="r"/>
            <a:r>
              <a:rPr sz="950" b="1">
                <a:solidFill>
                  <a:srgbClr val="5A6478"/>
                </a:solidFill>
                <a:latin typeface="Calibri"/>
              </a:rPr>
              <a:t>22 Oct</a:t>
            </a:r>
          </a:p>
        </p:txBody>
      </p:sp>
      <p:sp>
        <p:nvSpPr>
          <p:cNvPr id="79" name="TextBox 78"/>
          <p:cNvSpPr txBox="1"/>
          <p:nvPr/>
        </p:nvSpPr>
        <p:spPr>
          <a:xfrm>
            <a:off x="749808"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People here</a:t>
            </a:r>
          </a:p>
        </p:txBody>
      </p:sp>
      <p:sp>
        <p:nvSpPr>
          <p:cNvPr id="80" name="TextBox 79"/>
          <p:cNvSpPr txBox="1"/>
          <p:nvPr/>
        </p:nvSpPr>
        <p:spPr>
          <a:xfrm>
            <a:off x="2212848" y="5586984"/>
            <a:ext cx="786384" cy="201168"/>
          </a:xfrm>
          <a:prstGeom prst="rect">
            <a:avLst/>
          </a:prstGeom>
          <a:noFill/>
        </p:spPr>
        <p:txBody>
          <a:bodyPr wrap="square" lIns="0" rIns="0" tIns="0" bIns="0" anchor="t">
            <a:spAutoFit/>
          </a:bodyPr>
          <a:lstStyle/>
          <a:p>
            <a:pPr algn="r"/>
            <a:r>
              <a:rPr sz="950" b="1">
                <a:solidFill>
                  <a:srgbClr val="111111"/>
                </a:solidFill>
                <a:latin typeface="Calibri"/>
              </a:rPr>
              <a:t>61</a:t>
            </a:r>
          </a:p>
        </p:txBody>
      </p:sp>
      <p:sp>
        <p:nvSpPr>
          <p:cNvPr id="81" name="Rectangle 80"/>
          <p:cNvSpPr/>
          <p:nvPr/>
        </p:nvSpPr>
        <p:spPr>
          <a:xfrm>
            <a:off x="749808"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49808"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Dr. Pan (3) and Aqilla Dalinte (3) — the most recent in the group.</a:t>
            </a:r>
          </a:p>
        </p:txBody>
      </p:sp>
      <p:sp>
        <p:nvSpPr>
          <p:cNvPr id="83" name="Rectangle 82"/>
          <p:cNvSpPr/>
          <p:nvPr/>
        </p:nvSpPr>
        <p:spPr>
          <a:xfrm>
            <a:off x="3396996"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396996" y="4073652"/>
            <a:ext cx="2615184" cy="4114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579876"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Likas Square</a:t>
            </a:r>
          </a:p>
        </p:txBody>
      </p:sp>
      <p:sp>
        <p:nvSpPr>
          <p:cNvPr id="86" name="TextBox 85"/>
          <p:cNvSpPr txBox="1"/>
          <p:nvPr/>
        </p:nvSpPr>
        <p:spPr>
          <a:xfrm>
            <a:off x="3579876" y="4466844"/>
            <a:ext cx="1463040" cy="457200"/>
          </a:xfrm>
          <a:prstGeom prst="rect">
            <a:avLst/>
          </a:prstGeom>
          <a:noFill/>
        </p:spPr>
        <p:txBody>
          <a:bodyPr wrap="square" lIns="0" rIns="0" tIns="0" bIns="0" anchor="t">
            <a:spAutoFit/>
          </a:bodyPr>
          <a:lstStyle/>
          <a:p>
            <a:pPr algn="l"/>
            <a:r>
              <a:rPr sz="2400" b="1">
                <a:solidFill>
                  <a:srgbClr val="5A6478"/>
                </a:solidFill>
                <a:latin typeface="Cambria"/>
              </a:rPr>
              <a:t>—</a:t>
            </a:r>
          </a:p>
        </p:txBody>
      </p:sp>
      <p:sp>
        <p:nvSpPr>
          <p:cNvPr id="87" name="TextBox 86"/>
          <p:cNvSpPr txBox="1"/>
          <p:nvPr/>
        </p:nvSpPr>
        <p:spPr>
          <a:xfrm>
            <a:off x="3579876"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SENT IN 2026</a:t>
            </a:r>
          </a:p>
        </p:txBody>
      </p:sp>
      <p:sp>
        <p:nvSpPr>
          <p:cNvPr id="88" name="TextBox 87"/>
          <p:cNvSpPr txBox="1"/>
          <p:nvPr/>
        </p:nvSpPr>
        <p:spPr>
          <a:xfrm>
            <a:off x="3579876"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On file</a:t>
            </a:r>
          </a:p>
        </p:txBody>
      </p:sp>
      <p:sp>
        <p:nvSpPr>
          <p:cNvPr id="89" name="TextBox 88"/>
          <p:cNvSpPr txBox="1"/>
          <p:nvPr/>
        </p:nvSpPr>
        <p:spPr>
          <a:xfrm>
            <a:off x="5042916" y="5065776"/>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90" name="TextBox 89"/>
          <p:cNvSpPr txBox="1"/>
          <p:nvPr/>
        </p:nvSpPr>
        <p:spPr>
          <a:xfrm>
            <a:off x="3579876"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Senders</a:t>
            </a:r>
          </a:p>
        </p:txBody>
      </p:sp>
      <p:sp>
        <p:nvSpPr>
          <p:cNvPr id="91" name="TextBox 90"/>
          <p:cNvSpPr txBox="1"/>
          <p:nvPr/>
        </p:nvSpPr>
        <p:spPr>
          <a:xfrm>
            <a:off x="5042916" y="5239512"/>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92" name="TextBox 91"/>
          <p:cNvSpPr txBox="1"/>
          <p:nvPr/>
        </p:nvSpPr>
        <p:spPr>
          <a:xfrm>
            <a:off x="3579876"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Latest</a:t>
            </a:r>
          </a:p>
        </p:txBody>
      </p:sp>
      <p:sp>
        <p:nvSpPr>
          <p:cNvPr id="93" name="TextBox 92"/>
          <p:cNvSpPr txBox="1"/>
          <p:nvPr/>
        </p:nvSpPr>
        <p:spPr>
          <a:xfrm>
            <a:off x="5042916" y="5413248"/>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94" name="TextBox 93"/>
          <p:cNvSpPr txBox="1"/>
          <p:nvPr/>
        </p:nvSpPr>
        <p:spPr>
          <a:xfrm>
            <a:off x="3579876"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People here</a:t>
            </a:r>
          </a:p>
        </p:txBody>
      </p:sp>
      <p:sp>
        <p:nvSpPr>
          <p:cNvPr id="95" name="TextBox 94"/>
          <p:cNvSpPr txBox="1"/>
          <p:nvPr/>
        </p:nvSpPr>
        <p:spPr>
          <a:xfrm>
            <a:off x="5042916" y="5586984"/>
            <a:ext cx="786384" cy="201168"/>
          </a:xfrm>
          <a:prstGeom prst="rect">
            <a:avLst/>
          </a:prstGeom>
          <a:noFill/>
        </p:spPr>
        <p:txBody>
          <a:bodyPr wrap="square" lIns="0" rIns="0" tIns="0" bIns="0" anchor="t">
            <a:spAutoFit/>
          </a:bodyPr>
          <a:lstStyle/>
          <a:p>
            <a:pPr algn="r"/>
            <a:r>
              <a:rPr sz="950" b="1">
                <a:solidFill>
                  <a:srgbClr val="111111"/>
                </a:solidFill>
                <a:latin typeface="Calibri"/>
              </a:rPr>
              <a:t>51</a:t>
            </a:r>
          </a:p>
        </p:txBody>
      </p:sp>
      <p:sp>
        <p:nvSpPr>
          <p:cNvPr id="96" name="Rectangle 95"/>
          <p:cNvSpPr/>
          <p:nvPr/>
        </p:nvSpPr>
        <p:spPr>
          <a:xfrm>
            <a:off x="3579876"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579876"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Nothing sent, though four people here can.</a:t>
            </a:r>
          </a:p>
        </p:txBody>
      </p:sp>
      <p:sp>
        <p:nvSpPr>
          <p:cNvPr id="98" name="Rectangle 97"/>
          <p:cNvSpPr/>
          <p:nvPr/>
        </p:nvSpPr>
        <p:spPr>
          <a:xfrm>
            <a:off x="6227064"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227064" y="4073652"/>
            <a:ext cx="2615184" cy="4114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409944"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Trillium</a:t>
            </a:r>
          </a:p>
        </p:txBody>
      </p:sp>
      <p:sp>
        <p:nvSpPr>
          <p:cNvPr id="101" name="TextBox 100"/>
          <p:cNvSpPr txBox="1"/>
          <p:nvPr/>
        </p:nvSpPr>
        <p:spPr>
          <a:xfrm>
            <a:off x="6409944" y="4466844"/>
            <a:ext cx="1463040" cy="457200"/>
          </a:xfrm>
          <a:prstGeom prst="rect">
            <a:avLst/>
          </a:prstGeom>
          <a:noFill/>
        </p:spPr>
        <p:txBody>
          <a:bodyPr wrap="square" lIns="0" rIns="0" tIns="0" bIns="0" anchor="t">
            <a:spAutoFit/>
          </a:bodyPr>
          <a:lstStyle/>
          <a:p>
            <a:pPr algn="l"/>
            <a:r>
              <a:rPr sz="2400" b="1">
                <a:solidFill>
                  <a:srgbClr val="5A6478"/>
                </a:solidFill>
                <a:latin typeface="Cambria"/>
              </a:rPr>
              <a:t>—</a:t>
            </a:r>
          </a:p>
        </p:txBody>
      </p:sp>
      <p:sp>
        <p:nvSpPr>
          <p:cNvPr id="102" name="TextBox 101"/>
          <p:cNvSpPr txBox="1"/>
          <p:nvPr/>
        </p:nvSpPr>
        <p:spPr>
          <a:xfrm>
            <a:off x="6409944"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SENT IN 2026</a:t>
            </a:r>
          </a:p>
        </p:txBody>
      </p:sp>
      <p:sp>
        <p:nvSpPr>
          <p:cNvPr id="103" name="TextBox 102"/>
          <p:cNvSpPr txBox="1"/>
          <p:nvPr/>
        </p:nvSpPr>
        <p:spPr>
          <a:xfrm>
            <a:off x="6409944"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On file</a:t>
            </a:r>
          </a:p>
        </p:txBody>
      </p:sp>
      <p:sp>
        <p:nvSpPr>
          <p:cNvPr id="104" name="TextBox 103"/>
          <p:cNvSpPr txBox="1"/>
          <p:nvPr/>
        </p:nvSpPr>
        <p:spPr>
          <a:xfrm>
            <a:off x="7872984" y="5065776"/>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105" name="TextBox 104"/>
          <p:cNvSpPr txBox="1"/>
          <p:nvPr/>
        </p:nvSpPr>
        <p:spPr>
          <a:xfrm>
            <a:off x="6409944"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Senders</a:t>
            </a:r>
          </a:p>
        </p:txBody>
      </p:sp>
      <p:sp>
        <p:nvSpPr>
          <p:cNvPr id="106" name="TextBox 105"/>
          <p:cNvSpPr txBox="1"/>
          <p:nvPr/>
        </p:nvSpPr>
        <p:spPr>
          <a:xfrm>
            <a:off x="7872984" y="5239512"/>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107" name="TextBox 106"/>
          <p:cNvSpPr txBox="1"/>
          <p:nvPr/>
        </p:nvSpPr>
        <p:spPr>
          <a:xfrm>
            <a:off x="6409944"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Latest</a:t>
            </a:r>
          </a:p>
        </p:txBody>
      </p:sp>
      <p:sp>
        <p:nvSpPr>
          <p:cNvPr id="108" name="TextBox 107"/>
          <p:cNvSpPr txBox="1"/>
          <p:nvPr/>
        </p:nvSpPr>
        <p:spPr>
          <a:xfrm>
            <a:off x="7872984" y="5413248"/>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109" name="TextBox 108"/>
          <p:cNvSpPr txBox="1"/>
          <p:nvPr/>
        </p:nvSpPr>
        <p:spPr>
          <a:xfrm>
            <a:off x="6409944"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People here</a:t>
            </a:r>
          </a:p>
        </p:txBody>
      </p:sp>
      <p:sp>
        <p:nvSpPr>
          <p:cNvPr id="110" name="TextBox 109"/>
          <p:cNvSpPr txBox="1"/>
          <p:nvPr/>
        </p:nvSpPr>
        <p:spPr>
          <a:xfrm>
            <a:off x="7872984" y="5586984"/>
            <a:ext cx="786384" cy="201168"/>
          </a:xfrm>
          <a:prstGeom prst="rect">
            <a:avLst/>
          </a:prstGeom>
          <a:noFill/>
        </p:spPr>
        <p:txBody>
          <a:bodyPr wrap="square" lIns="0" rIns="0" tIns="0" bIns="0" anchor="t">
            <a:spAutoFit/>
          </a:bodyPr>
          <a:lstStyle/>
          <a:p>
            <a:pPr algn="r"/>
            <a:r>
              <a:rPr sz="950" b="1">
                <a:solidFill>
                  <a:srgbClr val="111111"/>
                </a:solidFill>
                <a:latin typeface="Calibri"/>
              </a:rPr>
              <a:t>20</a:t>
            </a:r>
          </a:p>
        </p:txBody>
      </p:sp>
      <p:sp>
        <p:nvSpPr>
          <p:cNvPr id="111" name="Rectangle 110"/>
          <p:cNvSpPr/>
          <p:nvPr/>
        </p:nvSpPr>
        <p:spPr>
          <a:xfrm>
            <a:off x="6409944"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409944"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Nothing sent, and nobody here holds access to send one.</a:t>
            </a:r>
          </a:p>
        </p:txBody>
      </p:sp>
      <p:sp>
        <p:nvSpPr>
          <p:cNvPr id="113" name="TextBox 112"/>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 memo is counted for the company of the person who sent it. The 84 memos issued before this year carry no company and are not on this slide, so these 19 are the memos that can be placed — 17 of them sent in 2026, plus 2 more this year that carry no company. A memo goes to the whole group, not to one company.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1 · OWNERSHIP</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Ownership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4 with whole-group access and 10 company administrators across seven companies. Each list leads with that company's owner — the name to go to first.</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591056"/>
            <a:ext cx="8229600" cy="274320"/>
          </a:xfrm>
          <a:prstGeom prst="rect">
            <a:avLst/>
          </a:prstGeom>
          <a:noFill/>
        </p:spPr>
        <p:txBody>
          <a:bodyPr wrap="square" lIns="0" rIns="0" tIns="0" bIns="0" anchor="t">
            <a:spAutoFit/>
          </a:bodyPr>
          <a:lstStyle/>
          <a:p>
            <a:pPr algn="l"/>
            <a:r>
              <a:rPr sz="1400" b="1">
                <a:solidFill>
                  <a:srgbClr val="1E2761"/>
                </a:solidFill>
                <a:latin typeface="Cambria"/>
              </a:rPr>
              <a:t>Whole group access</a:t>
            </a:r>
            <a:r>
              <a:rPr sz="1100" b="0">
                <a:solidFill>
                  <a:srgbClr val="5A6478"/>
                </a:solidFill>
                <a:latin typeface="Calibri"/>
              </a:rPr>
              <a:t>   —  can act on any company</a:t>
            </a:r>
          </a:p>
        </p:txBody>
      </p:sp>
      <p:sp>
        <p:nvSpPr>
          <p:cNvPr id="9" name="Rectangle 8"/>
          <p:cNvSpPr/>
          <p:nvPr/>
        </p:nvSpPr>
        <p:spPr>
          <a:xfrm>
            <a:off x="566928" y="1938528"/>
            <a:ext cx="2615184" cy="786384"/>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938528"/>
            <a:ext cx="45720" cy="7863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011680"/>
            <a:ext cx="2304288" cy="237744"/>
          </a:xfrm>
          <a:prstGeom prst="rect">
            <a:avLst/>
          </a:prstGeom>
          <a:noFill/>
        </p:spPr>
        <p:txBody>
          <a:bodyPr wrap="square" lIns="0" rIns="0" tIns="0" bIns="0" anchor="t">
            <a:spAutoFit/>
          </a:bodyPr>
          <a:lstStyle/>
          <a:p>
            <a:pPr algn="l"/>
            <a:r>
              <a:rPr sz="1150" b="1">
                <a:solidFill>
                  <a:srgbClr val="16203F"/>
                </a:solidFill>
                <a:latin typeface="Cambria"/>
              </a:rPr>
              <a:t>Chua Shin Fun @ Kevin Chua</a:t>
            </a:r>
          </a:p>
        </p:txBody>
      </p:sp>
      <p:sp>
        <p:nvSpPr>
          <p:cNvPr id="12" name="TextBox 11"/>
          <p:cNvSpPr txBox="1"/>
          <p:nvPr/>
        </p:nvSpPr>
        <p:spPr>
          <a:xfrm>
            <a:off x="749808" y="2276856"/>
            <a:ext cx="2304288" cy="219456"/>
          </a:xfrm>
          <a:prstGeom prst="rect">
            <a:avLst/>
          </a:prstGeom>
          <a:noFill/>
        </p:spPr>
        <p:txBody>
          <a:bodyPr wrap="square" lIns="0" rIns="0" tIns="0" bIns="0" anchor="t">
            <a:spAutoFit/>
          </a:bodyPr>
          <a:lstStyle/>
          <a:p>
            <a:pPr algn="l"/>
            <a:r>
              <a:rPr sz="950" b="0">
                <a:solidFill>
                  <a:srgbClr val="5A6478"/>
                </a:solidFill>
                <a:latin typeface="Calibri"/>
              </a:rPr>
              <a:t>IT Manager</a:t>
            </a:r>
          </a:p>
        </p:txBody>
      </p:sp>
      <p:sp>
        <p:nvSpPr>
          <p:cNvPr id="13" name="TextBox 12"/>
          <p:cNvSpPr txBox="1"/>
          <p:nvPr/>
        </p:nvSpPr>
        <p:spPr>
          <a:xfrm>
            <a:off x="749808" y="2487168"/>
            <a:ext cx="2304288" cy="201168"/>
          </a:xfrm>
          <a:prstGeom prst="rect">
            <a:avLst/>
          </a:prstGeom>
          <a:noFill/>
        </p:spPr>
        <p:txBody>
          <a:bodyPr wrap="square" lIns="0" rIns="0" tIns="0" bIns="0" anchor="t">
            <a:spAutoFit/>
          </a:bodyPr>
          <a:lstStyle/>
          <a:p>
            <a:pPr algn="l"/>
            <a:r>
              <a:rPr sz="850" b="1">
                <a:solidFill>
                  <a:srgbClr val="1E2761"/>
                </a:solidFill>
                <a:latin typeface="Calibri"/>
              </a:rPr>
              <a:t>GLOBINACO</a:t>
            </a:r>
          </a:p>
        </p:txBody>
      </p:sp>
      <p:sp>
        <p:nvSpPr>
          <p:cNvPr id="14" name="Rectangle 13"/>
          <p:cNvSpPr/>
          <p:nvPr/>
        </p:nvSpPr>
        <p:spPr>
          <a:xfrm>
            <a:off x="3383280" y="1938528"/>
            <a:ext cx="2615184" cy="786384"/>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80" y="1938528"/>
            <a:ext cx="45720" cy="7863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66160" y="2011680"/>
            <a:ext cx="2304288" cy="237744"/>
          </a:xfrm>
          <a:prstGeom prst="rect">
            <a:avLst/>
          </a:prstGeom>
          <a:noFill/>
        </p:spPr>
        <p:txBody>
          <a:bodyPr wrap="square" lIns="0" rIns="0" tIns="0" bIns="0" anchor="t">
            <a:spAutoFit/>
          </a:bodyPr>
          <a:lstStyle/>
          <a:p>
            <a:pPr algn="l"/>
            <a:r>
              <a:rPr sz="1150" b="1">
                <a:solidFill>
                  <a:srgbClr val="16203F"/>
                </a:solidFill>
                <a:latin typeface="Cambria"/>
              </a:rPr>
              <a:t>Siti Khadijah Binti Kabul</a:t>
            </a:r>
          </a:p>
        </p:txBody>
      </p:sp>
      <p:sp>
        <p:nvSpPr>
          <p:cNvPr id="17" name="TextBox 16"/>
          <p:cNvSpPr txBox="1"/>
          <p:nvPr/>
        </p:nvSpPr>
        <p:spPr>
          <a:xfrm>
            <a:off x="3566160" y="2276856"/>
            <a:ext cx="2304288" cy="219456"/>
          </a:xfrm>
          <a:prstGeom prst="rect">
            <a:avLst/>
          </a:prstGeom>
          <a:noFill/>
        </p:spPr>
        <p:txBody>
          <a:bodyPr wrap="square" lIns="0" rIns="0" tIns="0" bIns="0" anchor="t">
            <a:spAutoFit/>
          </a:bodyPr>
          <a:lstStyle/>
          <a:p>
            <a:pPr algn="l"/>
            <a:r>
              <a:rPr sz="950" b="0">
                <a:solidFill>
                  <a:srgbClr val="5A6478"/>
                </a:solidFill>
                <a:latin typeface="Calibri"/>
              </a:rPr>
              <a:t>Web Programmer</a:t>
            </a:r>
          </a:p>
        </p:txBody>
      </p:sp>
      <p:sp>
        <p:nvSpPr>
          <p:cNvPr id="18" name="TextBox 17"/>
          <p:cNvSpPr txBox="1"/>
          <p:nvPr/>
        </p:nvSpPr>
        <p:spPr>
          <a:xfrm>
            <a:off x="3566160" y="2487168"/>
            <a:ext cx="2304288" cy="201168"/>
          </a:xfrm>
          <a:prstGeom prst="rect">
            <a:avLst/>
          </a:prstGeom>
          <a:noFill/>
        </p:spPr>
        <p:txBody>
          <a:bodyPr wrap="square" lIns="0" rIns="0" tIns="0" bIns="0" anchor="t">
            <a:spAutoFit/>
          </a:bodyPr>
          <a:lstStyle/>
          <a:p>
            <a:pPr algn="l"/>
            <a:r>
              <a:rPr sz="850" b="1">
                <a:solidFill>
                  <a:srgbClr val="1E2761"/>
                </a:solidFill>
                <a:latin typeface="Calibri"/>
              </a:rPr>
              <a:t>GLOBINACO</a:t>
            </a:r>
          </a:p>
        </p:txBody>
      </p:sp>
      <p:sp>
        <p:nvSpPr>
          <p:cNvPr id="19" name="Rectangle 18"/>
          <p:cNvSpPr/>
          <p:nvPr/>
        </p:nvSpPr>
        <p:spPr>
          <a:xfrm>
            <a:off x="6199632" y="1938528"/>
            <a:ext cx="2615184" cy="786384"/>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9632" y="1938528"/>
            <a:ext cx="45720" cy="7863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2512" y="2011680"/>
            <a:ext cx="2304288" cy="237744"/>
          </a:xfrm>
          <a:prstGeom prst="rect">
            <a:avLst/>
          </a:prstGeom>
          <a:noFill/>
        </p:spPr>
        <p:txBody>
          <a:bodyPr wrap="square" lIns="0" rIns="0" tIns="0" bIns="0" anchor="t">
            <a:spAutoFit/>
          </a:bodyPr>
          <a:lstStyle/>
          <a:p>
            <a:pPr algn="l"/>
            <a:r>
              <a:rPr sz="1150" b="1">
                <a:solidFill>
                  <a:srgbClr val="16203F"/>
                </a:solidFill>
                <a:latin typeface="Cambria"/>
              </a:rPr>
              <a:t>Soo Zhao Yuan Nathan</a:t>
            </a:r>
          </a:p>
        </p:txBody>
      </p:sp>
      <p:sp>
        <p:nvSpPr>
          <p:cNvPr id="22" name="TextBox 21"/>
          <p:cNvSpPr txBox="1"/>
          <p:nvPr/>
        </p:nvSpPr>
        <p:spPr>
          <a:xfrm>
            <a:off x="6382512" y="2276856"/>
            <a:ext cx="2304288" cy="219456"/>
          </a:xfrm>
          <a:prstGeom prst="rect">
            <a:avLst/>
          </a:prstGeom>
          <a:noFill/>
        </p:spPr>
        <p:txBody>
          <a:bodyPr wrap="square" lIns="0" rIns="0" tIns="0" bIns="0" anchor="t">
            <a:spAutoFit/>
          </a:bodyPr>
          <a:lstStyle/>
          <a:p>
            <a:pPr algn="l"/>
            <a:r>
              <a:rPr sz="950" b="0">
                <a:solidFill>
                  <a:srgbClr val="5A6478"/>
                </a:solidFill>
                <a:latin typeface="Calibri"/>
              </a:rPr>
              <a:t>Programmer</a:t>
            </a:r>
          </a:p>
        </p:txBody>
      </p:sp>
      <p:sp>
        <p:nvSpPr>
          <p:cNvPr id="23" name="TextBox 22"/>
          <p:cNvSpPr txBox="1"/>
          <p:nvPr/>
        </p:nvSpPr>
        <p:spPr>
          <a:xfrm>
            <a:off x="6382512" y="2487168"/>
            <a:ext cx="2304288" cy="201168"/>
          </a:xfrm>
          <a:prstGeom prst="rect">
            <a:avLst/>
          </a:prstGeom>
          <a:noFill/>
        </p:spPr>
        <p:txBody>
          <a:bodyPr wrap="square" lIns="0" rIns="0" tIns="0" bIns="0" anchor="t">
            <a:spAutoFit/>
          </a:bodyPr>
          <a:lstStyle/>
          <a:p>
            <a:pPr algn="l"/>
            <a:r>
              <a:rPr sz="850" b="1">
                <a:solidFill>
                  <a:srgbClr val="1E2761"/>
                </a:solidFill>
                <a:latin typeface="Calibri"/>
              </a:rPr>
              <a:t>GLOBINACO</a:t>
            </a:r>
          </a:p>
        </p:txBody>
      </p:sp>
      <p:sp>
        <p:nvSpPr>
          <p:cNvPr id="24" name="TextBox 23"/>
          <p:cNvSpPr txBox="1"/>
          <p:nvPr/>
        </p:nvSpPr>
        <p:spPr>
          <a:xfrm>
            <a:off x="566928" y="2944368"/>
            <a:ext cx="10515600" cy="274320"/>
          </a:xfrm>
          <a:prstGeom prst="rect">
            <a:avLst/>
          </a:prstGeom>
          <a:noFill/>
        </p:spPr>
        <p:txBody>
          <a:bodyPr wrap="square" lIns="0" rIns="0" tIns="0" bIns="0" anchor="t">
            <a:spAutoFit/>
          </a:bodyPr>
          <a:lstStyle/>
          <a:p>
            <a:pPr algn="l"/>
            <a:r>
              <a:rPr sz="1400" b="1">
                <a:solidFill>
                  <a:srgbClr val="1E2761"/>
                </a:solidFill>
                <a:latin typeface="Cambria"/>
              </a:rPr>
              <a:t>Company administrators</a:t>
            </a:r>
            <a:r>
              <a:rPr sz="1100" b="0">
                <a:solidFill>
                  <a:srgbClr val="5A6478"/>
                </a:solidFill>
                <a:latin typeface="Calibri"/>
              </a:rPr>
              <a:t>   —  can act on their own company only</a:t>
            </a:r>
          </a:p>
        </p:txBody>
      </p:sp>
      <p:sp>
        <p:nvSpPr>
          <p:cNvPr id="25" name="Rectangle 24"/>
          <p:cNvSpPr/>
          <p:nvPr/>
        </p:nvSpPr>
        <p:spPr>
          <a:xfrm>
            <a:off x="566928" y="3328416"/>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3328416"/>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3483864"/>
            <a:ext cx="2852927" cy="256032"/>
          </a:xfrm>
          <a:prstGeom prst="rect">
            <a:avLst/>
          </a:prstGeom>
          <a:noFill/>
        </p:spPr>
        <p:txBody>
          <a:bodyPr wrap="square" lIns="0" rIns="0" tIns="0" bIns="0" anchor="t">
            <a:spAutoFit/>
          </a:bodyPr>
          <a:lstStyle/>
          <a:p>
            <a:pPr algn="l"/>
            <a:r>
              <a:rPr sz="1300" b="1">
                <a:solidFill>
                  <a:srgbClr val="16203F"/>
                </a:solidFill>
                <a:latin typeface="Cambria"/>
              </a:rPr>
              <a:t>Globinaco</a:t>
            </a:r>
          </a:p>
        </p:txBody>
      </p:sp>
      <p:sp>
        <p:nvSpPr>
          <p:cNvPr id="28" name="TextBox 27"/>
          <p:cNvSpPr txBox="1"/>
          <p:nvPr/>
        </p:nvSpPr>
        <p:spPr>
          <a:xfrm>
            <a:off x="3310128" y="3465576"/>
            <a:ext cx="731520" cy="274320"/>
          </a:xfrm>
          <a:prstGeom prst="rect">
            <a:avLst/>
          </a:prstGeom>
          <a:noFill/>
        </p:spPr>
        <p:txBody>
          <a:bodyPr wrap="square" lIns="0" rIns="0" tIns="0" bIns="0" anchor="t">
            <a:spAutoFit/>
          </a:bodyPr>
          <a:lstStyle/>
          <a:p>
            <a:pPr algn="r"/>
            <a:r>
              <a:rPr sz="1500" b="1">
                <a:solidFill>
                  <a:srgbClr val="1E2761"/>
                </a:solidFill>
                <a:latin typeface="Cambria"/>
              </a:rPr>
              <a:t>2</a:t>
            </a:r>
          </a:p>
        </p:txBody>
      </p:sp>
      <p:sp>
        <p:nvSpPr>
          <p:cNvPr id="29" name="TextBox 28"/>
          <p:cNvSpPr txBox="1"/>
          <p:nvPr/>
        </p:nvSpPr>
        <p:spPr>
          <a:xfrm>
            <a:off x="768096" y="3840480"/>
            <a:ext cx="3310127" cy="219456"/>
          </a:xfrm>
          <a:prstGeom prst="rect">
            <a:avLst/>
          </a:prstGeom>
          <a:noFill/>
        </p:spPr>
        <p:txBody>
          <a:bodyPr wrap="square" lIns="0" rIns="0" tIns="0" bIns="0" anchor="t">
            <a:spAutoFit/>
          </a:bodyPr>
          <a:lstStyle/>
          <a:p>
            <a:pPr algn="l"/>
            <a:r>
              <a:rPr sz="1000" b="1">
                <a:solidFill>
                  <a:srgbClr val="16203F"/>
                </a:solidFill>
                <a:latin typeface="Calibri"/>
              </a:rPr>
              <a:t>Vincent Ng Tung Hau</a:t>
            </a:r>
            <a:r>
              <a:rPr sz="800" b="1">
                <a:solidFill>
                  <a:srgbClr val="F9A825"/>
                </a:solidFill>
                <a:latin typeface="Calibri"/>
              </a:rPr>
              <a:t>  OWNER</a:t>
            </a:r>
          </a:p>
        </p:txBody>
      </p:sp>
      <p:sp>
        <p:nvSpPr>
          <p:cNvPr id="30" name="TextBox 29"/>
          <p:cNvSpPr txBox="1"/>
          <p:nvPr/>
        </p:nvSpPr>
        <p:spPr>
          <a:xfrm>
            <a:off x="768096" y="4055364"/>
            <a:ext cx="3310127" cy="219456"/>
          </a:xfrm>
          <a:prstGeom prst="rect">
            <a:avLst/>
          </a:prstGeom>
          <a:noFill/>
        </p:spPr>
        <p:txBody>
          <a:bodyPr wrap="square" lIns="0" rIns="0" tIns="0" bIns="0" anchor="t">
            <a:spAutoFit/>
          </a:bodyPr>
          <a:lstStyle/>
          <a:p>
            <a:pPr algn="l"/>
            <a:r>
              <a:rPr sz="1000" b="0">
                <a:solidFill>
                  <a:srgbClr val="3A425C"/>
                </a:solidFill>
                <a:latin typeface="Calibri"/>
              </a:rPr>
              <a:t>Jeffrey Soo Yee Lieh</a:t>
            </a:r>
          </a:p>
        </p:txBody>
      </p:sp>
      <p:sp>
        <p:nvSpPr>
          <p:cNvPr id="31" name="Rectangle 30"/>
          <p:cNvSpPr/>
          <p:nvPr/>
        </p:nvSpPr>
        <p:spPr>
          <a:xfrm>
            <a:off x="4443983" y="3328416"/>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43983" y="3328416"/>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45151" y="3483864"/>
            <a:ext cx="2852927" cy="256032"/>
          </a:xfrm>
          <a:prstGeom prst="rect">
            <a:avLst/>
          </a:prstGeom>
          <a:noFill/>
        </p:spPr>
        <p:txBody>
          <a:bodyPr wrap="square" lIns="0" rIns="0" tIns="0" bIns="0" anchor="t">
            <a:spAutoFit/>
          </a:bodyPr>
          <a:lstStyle/>
          <a:p>
            <a:pPr algn="l"/>
            <a:r>
              <a:rPr sz="1300" b="1">
                <a:solidFill>
                  <a:srgbClr val="16203F"/>
                </a:solidFill>
                <a:latin typeface="Cambria"/>
              </a:rPr>
              <a:t>Arus Sawit</a:t>
            </a:r>
          </a:p>
        </p:txBody>
      </p:sp>
      <p:sp>
        <p:nvSpPr>
          <p:cNvPr id="34" name="TextBox 33"/>
          <p:cNvSpPr txBox="1"/>
          <p:nvPr/>
        </p:nvSpPr>
        <p:spPr>
          <a:xfrm>
            <a:off x="7187183" y="3465576"/>
            <a:ext cx="731520" cy="274320"/>
          </a:xfrm>
          <a:prstGeom prst="rect">
            <a:avLst/>
          </a:prstGeom>
          <a:noFill/>
        </p:spPr>
        <p:txBody>
          <a:bodyPr wrap="square" lIns="0" rIns="0" tIns="0" bIns="0" anchor="t">
            <a:spAutoFit/>
          </a:bodyPr>
          <a:lstStyle/>
          <a:p>
            <a:pPr algn="r"/>
            <a:r>
              <a:rPr sz="1500" b="1">
                <a:solidFill>
                  <a:srgbClr val="1E2761"/>
                </a:solidFill>
                <a:latin typeface="Cambria"/>
              </a:rPr>
              <a:t>2</a:t>
            </a:r>
          </a:p>
        </p:txBody>
      </p:sp>
      <p:sp>
        <p:nvSpPr>
          <p:cNvPr id="35" name="TextBox 34"/>
          <p:cNvSpPr txBox="1"/>
          <p:nvPr/>
        </p:nvSpPr>
        <p:spPr>
          <a:xfrm>
            <a:off x="4645151" y="3840480"/>
            <a:ext cx="3310127" cy="219456"/>
          </a:xfrm>
          <a:prstGeom prst="rect">
            <a:avLst/>
          </a:prstGeom>
          <a:noFill/>
        </p:spPr>
        <p:txBody>
          <a:bodyPr wrap="square" lIns="0" rIns="0" tIns="0" bIns="0" anchor="t">
            <a:spAutoFit/>
          </a:bodyPr>
          <a:lstStyle/>
          <a:p>
            <a:pPr algn="l"/>
            <a:r>
              <a:rPr sz="1000" b="1">
                <a:solidFill>
                  <a:srgbClr val="16203F"/>
                </a:solidFill>
                <a:latin typeface="Calibri"/>
              </a:rPr>
              <a:t>Asyraf bin Yahya</a:t>
            </a:r>
            <a:r>
              <a:rPr sz="800" b="1">
                <a:solidFill>
                  <a:srgbClr val="F9A825"/>
                </a:solidFill>
                <a:latin typeface="Calibri"/>
              </a:rPr>
              <a:t>  OWNER</a:t>
            </a:r>
          </a:p>
        </p:txBody>
      </p:sp>
      <p:sp>
        <p:nvSpPr>
          <p:cNvPr id="36" name="TextBox 35"/>
          <p:cNvSpPr txBox="1"/>
          <p:nvPr/>
        </p:nvSpPr>
        <p:spPr>
          <a:xfrm>
            <a:off x="4645151" y="4055364"/>
            <a:ext cx="3310127" cy="219456"/>
          </a:xfrm>
          <a:prstGeom prst="rect">
            <a:avLst/>
          </a:prstGeom>
          <a:noFill/>
        </p:spPr>
        <p:txBody>
          <a:bodyPr wrap="square" lIns="0" rIns="0" tIns="0" bIns="0" anchor="t">
            <a:spAutoFit/>
          </a:bodyPr>
          <a:lstStyle/>
          <a:p>
            <a:pPr algn="l"/>
            <a:r>
              <a:rPr sz="1000" b="0">
                <a:solidFill>
                  <a:srgbClr val="3A425C"/>
                </a:solidFill>
                <a:latin typeface="Calibri"/>
              </a:rPr>
              <a:t>Lim Chen Eng</a:t>
            </a:r>
          </a:p>
        </p:txBody>
      </p:sp>
      <p:sp>
        <p:nvSpPr>
          <p:cNvPr id="37" name="Rectangle 36"/>
          <p:cNvSpPr/>
          <p:nvPr/>
        </p:nvSpPr>
        <p:spPr>
          <a:xfrm>
            <a:off x="8321038" y="3328416"/>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21038" y="3328416"/>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22206" y="3483864"/>
            <a:ext cx="2852927" cy="256032"/>
          </a:xfrm>
          <a:prstGeom prst="rect">
            <a:avLst/>
          </a:prstGeom>
          <a:noFill/>
        </p:spPr>
        <p:txBody>
          <a:bodyPr wrap="square" lIns="0" rIns="0" tIns="0" bIns="0" anchor="t">
            <a:spAutoFit/>
          </a:bodyPr>
          <a:lstStyle/>
          <a:p>
            <a:pPr algn="l"/>
            <a:r>
              <a:rPr sz="1300" b="1">
                <a:solidFill>
                  <a:srgbClr val="16203F"/>
                </a:solidFill>
                <a:latin typeface="Cambria"/>
              </a:rPr>
              <a:t>Hotel Grandis</a:t>
            </a:r>
          </a:p>
        </p:txBody>
      </p:sp>
      <p:sp>
        <p:nvSpPr>
          <p:cNvPr id="40" name="TextBox 39"/>
          <p:cNvSpPr txBox="1"/>
          <p:nvPr/>
        </p:nvSpPr>
        <p:spPr>
          <a:xfrm>
            <a:off x="11064238" y="3465576"/>
            <a:ext cx="731520" cy="274320"/>
          </a:xfrm>
          <a:prstGeom prst="rect">
            <a:avLst/>
          </a:prstGeom>
          <a:noFill/>
        </p:spPr>
        <p:txBody>
          <a:bodyPr wrap="square" lIns="0" rIns="0" tIns="0" bIns="0" anchor="t">
            <a:spAutoFit/>
          </a:bodyPr>
          <a:lstStyle/>
          <a:p>
            <a:pPr algn="r"/>
            <a:r>
              <a:rPr sz="1500" b="1">
                <a:solidFill>
                  <a:srgbClr val="1E2761"/>
                </a:solidFill>
                <a:latin typeface="Cambria"/>
              </a:rPr>
              <a:t>1</a:t>
            </a:r>
          </a:p>
        </p:txBody>
      </p:sp>
      <p:sp>
        <p:nvSpPr>
          <p:cNvPr id="41" name="TextBox 40"/>
          <p:cNvSpPr txBox="1"/>
          <p:nvPr/>
        </p:nvSpPr>
        <p:spPr>
          <a:xfrm>
            <a:off x="8522206" y="3840480"/>
            <a:ext cx="3310127" cy="219456"/>
          </a:xfrm>
          <a:prstGeom prst="rect">
            <a:avLst/>
          </a:prstGeom>
          <a:noFill/>
        </p:spPr>
        <p:txBody>
          <a:bodyPr wrap="square" lIns="0" rIns="0" tIns="0" bIns="0" anchor="t">
            <a:spAutoFit/>
          </a:bodyPr>
          <a:lstStyle/>
          <a:p>
            <a:pPr algn="l"/>
            <a:r>
              <a:rPr sz="1000" b="1">
                <a:solidFill>
                  <a:srgbClr val="16203F"/>
                </a:solidFill>
                <a:latin typeface="Calibri"/>
              </a:rPr>
              <a:t>Natasha Beatta Gait</a:t>
            </a:r>
            <a:r>
              <a:rPr sz="800" b="1">
                <a:solidFill>
                  <a:srgbClr val="F9A825"/>
                </a:solidFill>
                <a:latin typeface="Calibri"/>
              </a:rPr>
              <a:t>  OWNER</a:t>
            </a:r>
          </a:p>
        </p:txBody>
      </p:sp>
      <p:sp>
        <p:nvSpPr>
          <p:cNvPr id="42" name="Rectangle 41"/>
          <p:cNvSpPr/>
          <p:nvPr/>
        </p:nvSpPr>
        <p:spPr>
          <a:xfrm>
            <a:off x="566928" y="4937760"/>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66928" y="4937760"/>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5093208"/>
            <a:ext cx="2852927" cy="256032"/>
          </a:xfrm>
          <a:prstGeom prst="rect">
            <a:avLst/>
          </a:prstGeom>
          <a:noFill/>
        </p:spPr>
        <p:txBody>
          <a:bodyPr wrap="square" lIns="0" rIns="0" tIns="0" bIns="0" anchor="t">
            <a:spAutoFit/>
          </a:bodyPr>
          <a:lstStyle/>
          <a:p>
            <a:pPr algn="l"/>
            <a:r>
              <a:rPr sz="1300" b="1">
                <a:solidFill>
                  <a:srgbClr val="16203F"/>
                </a:solidFill>
                <a:latin typeface="Cambria"/>
              </a:rPr>
              <a:t>TP Group</a:t>
            </a:r>
          </a:p>
        </p:txBody>
      </p:sp>
      <p:sp>
        <p:nvSpPr>
          <p:cNvPr id="45" name="TextBox 44"/>
          <p:cNvSpPr txBox="1"/>
          <p:nvPr/>
        </p:nvSpPr>
        <p:spPr>
          <a:xfrm>
            <a:off x="3310128" y="5074920"/>
            <a:ext cx="731520" cy="274320"/>
          </a:xfrm>
          <a:prstGeom prst="rect">
            <a:avLst/>
          </a:prstGeom>
          <a:noFill/>
        </p:spPr>
        <p:txBody>
          <a:bodyPr wrap="square" lIns="0" rIns="0" tIns="0" bIns="0" anchor="t">
            <a:spAutoFit/>
          </a:bodyPr>
          <a:lstStyle/>
          <a:p>
            <a:pPr algn="r"/>
            <a:r>
              <a:rPr sz="1500" b="1">
                <a:solidFill>
                  <a:srgbClr val="1E2761"/>
                </a:solidFill>
                <a:latin typeface="Cambria"/>
              </a:rPr>
              <a:t>1</a:t>
            </a:r>
          </a:p>
        </p:txBody>
      </p:sp>
      <p:sp>
        <p:nvSpPr>
          <p:cNvPr id="46" name="TextBox 45"/>
          <p:cNvSpPr txBox="1"/>
          <p:nvPr/>
        </p:nvSpPr>
        <p:spPr>
          <a:xfrm>
            <a:off x="768096" y="5449824"/>
            <a:ext cx="3310127" cy="219456"/>
          </a:xfrm>
          <a:prstGeom prst="rect">
            <a:avLst/>
          </a:prstGeom>
          <a:noFill/>
        </p:spPr>
        <p:txBody>
          <a:bodyPr wrap="square" lIns="0" rIns="0" tIns="0" bIns="0" anchor="t">
            <a:spAutoFit/>
          </a:bodyPr>
          <a:lstStyle/>
          <a:p>
            <a:pPr algn="l"/>
            <a:r>
              <a:rPr sz="1000" b="1">
                <a:solidFill>
                  <a:srgbClr val="16203F"/>
                </a:solidFill>
                <a:latin typeface="Calibri"/>
              </a:rPr>
              <a:t>Vun Nyet Lan</a:t>
            </a:r>
            <a:r>
              <a:rPr sz="800" b="1">
                <a:solidFill>
                  <a:srgbClr val="F9A825"/>
                </a:solidFill>
                <a:latin typeface="Calibri"/>
              </a:rPr>
              <a:t>  OWNER</a:t>
            </a:r>
          </a:p>
        </p:txBody>
      </p:sp>
      <p:sp>
        <p:nvSpPr>
          <p:cNvPr id="47" name="Rectangle 46"/>
          <p:cNvSpPr/>
          <p:nvPr/>
        </p:nvSpPr>
        <p:spPr>
          <a:xfrm>
            <a:off x="4443983" y="4937760"/>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443983" y="4937760"/>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45151" y="5093208"/>
            <a:ext cx="2852927" cy="256032"/>
          </a:xfrm>
          <a:prstGeom prst="rect">
            <a:avLst/>
          </a:prstGeom>
          <a:noFill/>
        </p:spPr>
        <p:txBody>
          <a:bodyPr wrap="square" lIns="0" rIns="0" tIns="0" bIns="0" anchor="t">
            <a:spAutoFit/>
          </a:bodyPr>
          <a:lstStyle/>
          <a:p>
            <a:pPr algn="l"/>
            <a:r>
              <a:rPr sz="1300" b="1">
                <a:solidFill>
                  <a:srgbClr val="16203F"/>
                </a:solidFill>
                <a:latin typeface="Cambria"/>
              </a:rPr>
              <a:t>AMC</a:t>
            </a:r>
          </a:p>
        </p:txBody>
      </p:sp>
      <p:sp>
        <p:nvSpPr>
          <p:cNvPr id="50" name="TextBox 49"/>
          <p:cNvSpPr txBox="1"/>
          <p:nvPr/>
        </p:nvSpPr>
        <p:spPr>
          <a:xfrm>
            <a:off x="7187183" y="5074920"/>
            <a:ext cx="731520" cy="274320"/>
          </a:xfrm>
          <a:prstGeom prst="rect">
            <a:avLst/>
          </a:prstGeom>
          <a:noFill/>
        </p:spPr>
        <p:txBody>
          <a:bodyPr wrap="square" lIns="0" rIns="0" tIns="0" bIns="0" anchor="t">
            <a:spAutoFit/>
          </a:bodyPr>
          <a:lstStyle/>
          <a:p>
            <a:pPr algn="r"/>
            <a:r>
              <a:rPr sz="1500" b="1">
                <a:solidFill>
                  <a:srgbClr val="1E2761"/>
                </a:solidFill>
                <a:latin typeface="Cambria"/>
              </a:rPr>
              <a:t>1</a:t>
            </a:r>
          </a:p>
        </p:txBody>
      </p:sp>
      <p:sp>
        <p:nvSpPr>
          <p:cNvPr id="51" name="TextBox 50"/>
          <p:cNvSpPr txBox="1"/>
          <p:nvPr/>
        </p:nvSpPr>
        <p:spPr>
          <a:xfrm>
            <a:off x="4645151" y="5449824"/>
            <a:ext cx="3310127" cy="219456"/>
          </a:xfrm>
          <a:prstGeom prst="rect">
            <a:avLst/>
          </a:prstGeom>
          <a:noFill/>
        </p:spPr>
        <p:txBody>
          <a:bodyPr wrap="square" lIns="0" rIns="0" tIns="0" bIns="0" anchor="t">
            <a:spAutoFit/>
          </a:bodyPr>
          <a:lstStyle/>
          <a:p>
            <a:pPr algn="l"/>
            <a:r>
              <a:rPr sz="1000" b="1">
                <a:solidFill>
                  <a:srgbClr val="16203F"/>
                </a:solidFill>
                <a:latin typeface="Calibri"/>
              </a:rPr>
              <a:t>Aqilla Dalinte</a:t>
            </a:r>
            <a:r>
              <a:rPr sz="800" b="1">
                <a:solidFill>
                  <a:srgbClr val="F9A825"/>
                </a:solidFill>
                <a:latin typeface="Calibri"/>
              </a:rPr>
              <a:t>  OWNER</a:t>
            </a:r>
          </a:p>
        </p:txBody>
      </p:sp>
      <p:sp>
        <p:nvSpPr>
          <p:cNvPr id="52" name="TextBox 51"/>
          <p:cNvSpPr txBox="1"/>
          <p:nvPr/>
        </p:nvSpPr>
        <p:spPr>
          <a:xfrm>
            <a:off x="4645151" y="5664708"/>
            <a:ext cx="3310127" cy="219456"/>
          </a:xfrm>
          <a:prstGeom prst="rect">
            <a:avLst/>
          </a:prstGeom>
          <a:noFill/>
        </p:spPr>
        <p:txBody>
          <a:bodyPr wrap="square" lIns="0" rIns="0" tIns="0" bIns="0" anchor="t">
            <a:spAutoFit/>
          </a:bodyPr>
          <a:lstStyle/>
          <a:p>
            <a:pPr algn="l"/>
            <a:r>
              <a:rPr sz="1000" b="0">
                <a:solidFill>
                  <a:srgbClr val="3A425C"/>
                </a:solidFill>
                <a:latin typeface="Calibri"/>
              </a:rPr>
              <a:t>Dr Pan</a:t>
            </a:r>
          </a:p>
        </p:txBody>
      </p:sp>
      <p:sp>
        <p:nvSpPr>
          <p:cNvPr id="53" name="Rectangle 52"/>
          <p:cNvSpPr/>
          <p:nvPr/>
        </p:nvSpPr>
        <p:spPr>
          <a:xfrm>
            <a:off x="8321038" y="4937760"/>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321038" y="4937760"/>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522206" y="5093208"/>
            <a:ext cx="2852927" cy="256032"/>
          </a:xfrm>
          <a:prstGeom prst="rect">
            <a:avLst/>
          </a:prstGeom>
          <a:noFill/>
        </p:spPr>
        <p:txBody>
          <a:bodyPr wrap="square" lIns="0" rIns="0" tIns="0" bIns="0" anchor="t">
            <a:spAutoFit/>
          </a:bodyPr>
          <a:lstStyle/>
          <a:p>
            <a:pPr algn="l"/>
            <a:r>
              <a:rPr sz="1300" b="1">
                <a:solidFill>
                  <a:srgbClr val="16203F"/>
                </a:solidFill>
                <a:latin typeface="Cambria"/>
              </a:rPr>
              <a:t>Likas Square</a:t>
            </a:r>
          </a:p>
        </p:txBody>
      </p:sp>
      <p:sp>
        <p:nvSpPr>
          <p:cNvPr id="56" name="TextBox 55"/>
          <p:cNvSpPr txBox="1"/>
          <p:nvPr/>
        </p:nvSpPr>
        <p:spPr>
          <a:xfrm>
            <a:off x="11064238" y="5074920"/>
            <a:ext cx="731520" cy="274320"/>
          </a:xfrm>
          <a:prstGeom prst="rect">
            <a:avLst/>
          </a:prstGeom>
          <a:noFill/>
        </p:spPr>
        <p:txBody>
          <a:bodyPr wrap="square" lIns="0" rIns="0" tIns="0" bIns="0" anchor="t">
            <a:spAutoFit/>
          </a:bodyPr>
          <a:lstStyle/>
          <a:p>
            <a:pPr algn="r"/>
            <a:r>
              <a:rPr sz="1500" b="1">
                <a:solidFill>
                  <a:srgbClr val="1E2761"/>
                </a:solidFill>
                <a:latin typeface="Cambria"/>
              </a:rPr>
              <a:t>1</a:t>
            </a:r>
          </a:p>
        </p:txBody>
      </p:sp>
      <p:sp>
        <p:nvSpPr>
          <p:cNvPr id="57" name="TextBox 56"/>
          <p:cNvSpPr txBox="1"/>
          <p:nvPr/>
        </p:nvSpPr>
        <p:spPr>
          <a:xfrm>
            <a:off x="8522206" y="5449824"/>
            <a:ext cx="3310127" cy="219456"/>
          </a:xfrm>
          <a:prstGeom prst="rect">
            <a:avLst/>
          </a:prstGeom>
          <a:noFill/>
        </p:spPr>
        <p:txBody>
          <a:bodyPr wrap="square" lIns="0" rIns="0" tIns="0" bIns="0" anchor="t">
            <a:spAutoFit/>
          </a:bodyPr>
          <a:lstStyle/>
          <a:p>
            <a:pPr algn="l"/>
            <a:r>
              <a:rPr sz="1000" b="1">
                <a:solidFill>
                  <a:srgbClr val="16203F"/>
                </a:solidFill>
                <a:latin typeface="Calibri"/>
              </a:rPr>
              <a:t>Fionne Foo Ka Kyun</a:t>
            </a:r>
            <a:r>
              <a:rPr sz="800" b="1">
                <a:solidFill>
                  <a:srgbClr val="F9A825"/>
                </a:solidFill>
                <a:latin typeface="Calibri"/>
              </a:rPr>
              <a:t>  OWNER</a:t>
            </a:r>
          </a:p>
        </p:txBody>
      </p:sp>
      <p:sp>
        <p:nvSpPr>
          <p:cNvPr id="58" name="TextBox 57"/>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Access grants read from the training system on 12 Oct 2026. Whole group = a grant that is not tied to one company; OWNER = the grant marked as that company's owner. The 35 people who can only assign training are a lesser right and are not counted here. Every company in this review holds at least one administrator.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