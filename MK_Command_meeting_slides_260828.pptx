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68" r:id="rId3"/>
    <p:sldId id="263" r:id="rId4"/>
    <p:sldId id="264" r:id="rId5"/>
    <p:sldId id="265" r:id="rId6"/>
    <p:sldId id="266" r:id="rId7"/>
    <p:sldId id="261" r:id="rId8"/>
    <p:sldId id="260" r:id="rId9"/>
    <p:sldId id="270" r:id="rId15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10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E051C-52A6-A9AF-C535-D116DBDF3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B46B32-0948-8868-3B2A-C7E1885B2EE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E89321-2242-93E0-9E1D-D5D67F7F3F3E}"/>
              </a:ext>
            </a:extLst>
          </p:cNvPr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3A027C-C5DF-35ED-93AD-4A62100332F8}"/>
              </a:ext>
            </a:extLst>
          </p:cNvPr>
          <p:cNvSpPr txBox="1"/>
          <p:nvPr/>
        </p:nvSpPr>
        <p:spPr>
          <a:xfrm>
            <a:off x="1051560" y="265176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dirty="0">
                <a:solidFill>
                  <a:srgbClr val="F9A825"/>
                </a:solidFill>
                <a:latin typeface="Calibri"/>
              </a:rPr>
              <a:t>TOPIC </a:t>
            </a:r>
            <a:r>
              <a:rPr lang="en-US" sz="1250" b="1" dirty="0">
                <a:solidFill>
                  <a:srgbClr val="F9A825"/>
                </a:solidFill>
                <a:latin typeface="Calibri"/>
              </a:rPr>
              <a:t>ONE</a:t>
            </a:r>
            <a:endParaRPr sz="1250" b="1" dirty="0">
              <a:solidFill>
                <a:srgbClr val="F9A825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563858-F26B-3FE7-21F3-8E44717349A8}"/>
              </a:ext>
            </a:extLst>
          </p:cNvPr>
          <p:cNvSpPr txBox="1"/>
          <p:nvPr/>
        </p:nvSpPr>
        <p:spPr>
          <a:xfrm>
            <a:off x="1051560" y="301752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Merit/Demerit Issuance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3CFF9E-055C-6A3E-C92D-410F585EC292}"/>
              </a:ext>
            </a:extLst>
          </p:cNvPr>
          <p:cNvSpPr/>
          <p:nvPr/>
        </p:nvSpPr>
        <p:spPr>
          <a:xfrm>
            <a:off x="1051560" y="3904487"/>
            <a:ext cx="2011680" cy="1905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150F9-F991-9874-4C1B-B553D39B5528}"/>
              </a:ext>
            </a:extLst>
          </p:cNvPr>
          <p:cNvSpPr txBox="1"/>
          <p:nvPr/>
        </p:nvSpPr>
        <p:spPr>
          <a:xfrm>
            <a:off x="1051560" y="417880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9AA4C0"/>
                </a:solidFill>
                <a:latin typeface="Calibri"/>
              </a:rPr>
              <a:t>Who is using the recognition tool, and how the mix has shifted over time.</a:t>
            </a:r>
          </a:p>
        </p:txBody>
      </p:sp>
    </p:spTree>
    <p:extLst>
      <p:ext uri="{BB962C8B-B14F-4D97-AF65-F5344CB8AC3E}">
        <p14:creationId xmlns:p14="http://schemas.microsoft.com/office/powerpoint/2010/main" val="3822218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4C976-25B8-1ACD-A3A1-141C94AD4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A4C637C-17B7-8E2C-9C5E-D8503C8E8950}"/>
              </a:ext>
            </a:extLst>
          </p:cNvPr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8FDF73-EEF0-1E09-0D32-E4784A16A8AA}"/>
              </a:ext>
            </a:extLst>
          </p:cNvPr>
          <p:cNvSpPr txBox="1"/>
          <p:nvPr/>
        </p:nvSpPr>
        <p:spPr>
          <a:xfrm>
            <a:off x="566928" y="384048"/>
            <a:ext cx="110642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5A6478"/>
                </a:solidFill>
                <a:latin typeface="Calibri"/>
              </a:rPr>
              <a:t>TOPIC </a:t>
            </a:r>
            <a:r>
              <a:rPr lang="en-US" sz="1000" b="1" dirty="0">
                <a:solidFill>
                  <a:srgbClr val="5A6478"/>
                </a:solidFill>
                <a:latin typeface="Calibri"/>
              </a:rPr>
              <a:t>1</a:t>
            </a:r>
            <a:r>
              <a:rPr sz="1000" b="1" dirty="0">
                <a:solidFill>
                  <a:srgbClr val="5A6478"/>
                </a:solidFill>
                <a:latin typeface="Calibri"/>
              </a:rPr>
              <a:t> · ADOPTION &amp; CONCENTRATION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E96BE0-A4D3-52C1-8928-BA245E79F50A}"/>
              </a:ext>
            </a:extLst>
          </p:cNvPr>
          <p:cNvSpPr txBox="1"/>
          <p:nvPr/>
        </p:nvSpPr>
        <p:spPr>
          <a:xfrm>
            <a:off x="566928" y="62179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Cambria"/>
              </a:rPr>
              <a:t>Merit/Demerit issuance — group summary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23C0BC-CD51-C1F7-A64A-FF294037C6EE}"/>
              </a:ext>
            </a:extLst>
          </p:cNvPr>
          <p:cNvSpPr/>
          <p:nvPr/>
        </p:nvSpPr>
        <p:spPr>
          <a:xfrm>
            <a:off x="566928" y="1371600"/>
            <a:ext cx="1106424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63FCF5-1AE1-03C2-4A7C-7329AE4623A3}"/>
              </a:ext>
            </a:extLst>
          </p:cNvPr>
          <p:cNvSpPr/>
          <p:nvPr/>
        </p:nvSpPr>
        <p:spPr>
          <a:xfrm>
            <a:off x="566928" y="1627632"/>
            <a:ext cx="2615184" cy="1783080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F2385B-6AD9-C148-6156-36B6614C1420}"/>
              </a:ext>
            </a:extLst>
          </p:cNvPr>
          <p:cNvSpPr/>
          <p:nvPr/>
        </p:nvSpPr>
        <p:spPr>
          <a:xfrm>
            <a:off x="566928" y="1627632"/>
            <a:ext cx="50292" cy="17830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2573C1-70BA-5167-8395-5C7280A7B8C1}"/>
              </a:ext>
            </a:extLst>
          </p:cNvPr>
          <p:cNvSpPr txBox="1"/>
          <p:nvPr/>
        </p:nvSpPr>
        <p:spPr>
          <a:xfrm>
            <a:off x="804672" y="1810512"/>
            <a:ext cx="22037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1E2761"/>
                </a:solidFill>
                <a:latin typeface="Cambria"/>
              </a:rPr>
              <a:t>1,014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D41D56-254F-7DDE-A9BB-3EFF6B3D9570}"/>
              </a:ext>
            </a:extLst>
          </p:cNvPr>
          <p:cNvSpPr txBox="1"/>
          <p:nvPr/>
        </p:nvSpPr>
        <p:spPr>
          <a:xfrm>
            <a:off x="804672" y="2395728"/>
            <a:ext cx="22037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6203F"/>
                </a:solidFill>
                <a:latin typeface="Calibri"/>
              </a:rPr>
              <a:t>Merit/Demerit records issued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DBD084-DC17-13B3-F87E-B2102E1849FE}"/>
              </a:ext>
            </a:extLst>
          </p:cNvPr>
          <p:cNvSpPr txBox="1"/>
          <p:nvPr/>
        </p:nvSpPr>
        <p:spPr>
          <a:xfrm>
            <a:off x="804672" y="2761488"/>
            <a:ext cx="22037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5A6478"/>
                </a:solidFill>
                <a:latin typeface="Calibri"/>
              </a:rPr>
              <a:t>2023 – 22 Aug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2EDC40-60A1-AE36-4779-5DE4366D667B}"/>
              </a:ext>
            </a:extLst>
          </p:cNvPr>
          <p:cNvSpPr/>
          <p:nvPr/>
        </p:nvSpPr>
        <p:spPr>
          <a:xfrm>
            <a:off x="3396996" y="1627632"/>
            <a:ext cx="2615184" cy="1783080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ED80BC-D169-C29E-0885-0A651CB37E8F}"/>
              </a:ext>
            </a:extLst>
          </p:cNvPr>
          <p:cNvSpPr/>
          <p:nvPr/>
        </p:nvSpPr>
        <p:spPr>
          <a:xfrm>
            <a:off x="3396996" y="1627632"/>
            <a:ext cx="50292" cy="17830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EDE545-906A-0CA6-17DE-98E5E42CF135}"/>
              </a:ext>
            </a:extLst>
          </p:cNvPr>
          <p:cNvSpPr txBox="1"/>
          <p:nvPr/>
        </p:nvSpPr>
        <p:spPr>
          <a:xfrm>
            <a:off x="3634740" y="1810512"/>
            <a:ext cx="22037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E7D32"/>
                </a:solidFill>
                <a:latin typeface="Cambria"/>
              </a:rPr>
              <a:t>61%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2B5F40-A23A-E075-0B89-F54CC4CFF5FF}"/>
              </a:ext>
            </a:extLst>
          </p:cNvPr>
          <p:cNvSpPr txBox="1"/>
          <p:nvPr/>
        </p:nvSpPr>
        <p:spPr>
          <a:xfrm>
            <a:off x="3634740" y="2395728"/>
            <a:ext cx="22037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6203F"/>
                </a:solidFill>
                <a:latin typeface="Calibri"/>
              </a:rPr>
              <a:t>Merit share, group-wide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C891A9-BA0B-BF65-1A5E-90BE696B3D1F}"/>
              </a:ext>
            </a:extLst>
          </p:cNvPr>
          <p:cNvSpPr txBox="1"/>
          <p:nvPr/>
        </p:nvSpPr>
        <p:spPr>
          <a:xfrm>
            <a:off x="3634740" y="2761488"/>
            <a:ext cx="22037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5A6478"/>
                </a:solidFill>
                <a:latin typeface="Calibri"/>
              </a:rPr>
              <a:t>623 merit vs 389 demerit (2 unclassified)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1AAAEB-E2EB-2A24-A74D-B386819A6AED}"/>
              </a:ext>
            </a:extLst>
          </p:cNvPr>
          <p:cNvSpPr/>
          <p:nvPr/>
        </p:nvSpPr>
        <p:spPr>
          <a:xfrm>
            <a:off x="6227064" y="1627632"/>
            <a:ext cx="2615184" cy="1783080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5FB14B-C7F9-E8F0-1C00-14E385EF13D0}"/>
              </a:ext>
            </a:extLst>
          </p:cNvPr>
          <p:cNvSpPr/>
          <p:nvPr/>
        </p:nvSpPr>
        <p:spPr>
          <a:xfrm>
            <a:off x="6227064" y="1627632"/>
            <a:ext cx="50292" cy="17830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C49C6C-01EC-4B50-479C-948F83D971E4}"/>
              </a:ext>
            </a:extLst>
          </p:cNvPr>
          <p:cNvSpPr txBox="1"/>
          <p:nvPr/>
        </p:nvSpPr>
        <p:spPr>
          <a:xfrm>
            <a:off x="6464808" y="1810512"/>
            <a:ext cx="22037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E7D32"/>
                </a:solidFill>
                <a:latin typeface="Cambria"/>
              </a:rPr>
              <a:t>497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F3228D-798A-B279-59A8-3A4F6100936B}"/>
              </a:ext>
            </a:extLst>
          </p:cNvPr>
          <p:cNvSpPr txBox="1"/>
          <p:nvPr/>
        </p:nvSpPr>
        <p:spPr>
          <a:xfrm>
            <a:off x="6464808" y="2395728"/>
            <a:ext cx="22037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6203F"/>
                </a:solidFill>
                <a:latin typeface="Calibri"/>
              </a:rPr>
              <a:t>Issued so far in 2026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F18026-C45E-1390-BEC8-32EF3E97E6DD}"/>
              </a:ext>
            </a:extLst>
          </p:cNvPr>
          <p:cNvSpPr txBox="1"/>
          <p:nvPr/>
        </p:nvSpPr>
        <p:spPr>
          <a:xfrm>
            <a:off x="6464808" y="2761488"/>
            <a:ext cx="22037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5A6478"/>
                </a:solidFill>
                <a:latin typeface="Calibri"/>
              </a:rPr>
              <a:t>vs 368 for all of 2025 — already the busiest year on record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A81D4A-A12B-A0DF-9696-A4542BDA3841}"/>
              </a:ext>
            </a:extLst>
          </p:cNvPr>
          <p:cNvSpPr/>
          <p:nvPr/>
        </p:nvSpPr>
        <p:spPr>
          <a:xfrm>
            <a:off x="566928" y="3703320"/>
            <a:ext cx="6903720" cy="32918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2BCC52-00EB-18A6-FA01-5CBEEE723656}"/>
              </a:ext>
            </a:extLst>
          </p:cNvPr>
          <p:cNvSpPr txBox="1"/>
          <p:nvPr/>
        </p:nvSpPr>
        <p:spPr>
          <a:xfrm>
            <a:off x="667512" y="3776472"/>
            <a:ext cx="2218413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Year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0E9D62-CB7E-4FD3-DB58-4083AA81F487}"/>
              </a:ext>
            </a:extLst>
          </p:cNvPr>
          <p:cNvSpPr txBox="1"/>
          <p:nvPr/>
        </p:nvSpPr>
        <p:spPr>
          <a:xfrm>
            <a:off x="3068805" y="3776472"/>
            <a:ext cx="131792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Calibri"/>
              </a:rPr>
              <a:t>Merit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0CF5E5-D066-8667-6244-96E19CC67107}"/>
              </a:ext>
            </a:extLst>
          </p:cNvPr>
          <p:cNvSpPr txBox="1"/>
          <p:nvPr/>
        </p:nvSpPr>
        <p:spPr>
          <a:xfrm>
            <a:off x="4569613" y="3776472"/>
            <a:ext cx="131792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Calibri"/>
              </a:rPr>
              <a:t>Demerit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6BAF53-62C3-EFF4-8E75-425F10ED270E}"/>
              </a:ext>
            </a:extLst>
          </p:cNvPr>
          <p:cNvSpPr txBox="1"/>
          <p:nvPr/>
        </p:nvSpPr>
        <p:spPr>
          <a:xfrm>
            <a:off x="6070421" y="3776472"/>
            <a:ext cx="131792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855B822-C6AC-6669-08FD-E508202280F5}"/>
              </a:ext>
            </a:extLst>
          </p:cNvPr>
          <p:cNvSpPr/>
          <p:nvPr/>
        </p:nvSpPr>
        <p:spPr>
          <a:xfrm>
            <a:off x="566928" y="4032504"/>
            <a:ext cx="6903720" cy="306324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459D96A-430E-B8B7-25FC-EB3FEE1C9C02}"/>
              </a:ext>
            </a:extLst>
          </p:cNvPr>
          <p:cNvSpPr/>
          <p:nvPr/>
        </p:nvSpPr>
        <p:spPr>
          <a:xfrm>
            <a:off x="566928" y="4338828"/>
            <a:ext cx="690372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7FAFF9-77B1-71A0-8C02-47E9415E4FE8}"/>
              </a:ext>
            </a:extLst>
          </p:cNvPr>
          <p:cNvSpPr txBox="1"/>
          <p:nvPr/>
        </p:nvSpPr>
        <p:spPr>
          <a:xfrm>
            <a:off x="667512" y="4096512"/>
            <a:ext cx="2218413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2023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7CB6671-96D2-A0CE-8355-C32B7E930BE4}"/>
              </a:ext>
            </a:extLst>
          </p:cNvPr>
          <p:cNvSpPr txBox="1"/>
          <p:nvPr/>
        </p:nvSpPr>
        <p:spPr>
          <a:xfrm>
            <a:off x="3068805" y="4096512"/>
            <a:ext cx="1317928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71DA53-A82C-E980-A6DE-71D2C4EB9B3C}"/>
              </a:ext>
            </a:extLst>
          </p:cNvPr>
          <p:cNvSpPr txBox="1"/>
          <p:nvPr/>
        </p:nvSpPr>
        <p:spPr>
          <a:xfrm>
            <a:off x="4569613" y="4096512"/>
            <a:ext cx="1317928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5A83B8-0055-97E7-DE2B-DD243DACB723}"/>
              </a:ext>
            </a:extLst>
          </p:cNvPr>
          <p:cNvSpPr txBox="1"/>
          <p:nvPr/>
        </p:nvSpPr>
        <p:spPr>
          <a:xfrm>
            <a:off x="6070421" y="4096512"/>
            <a:ext cx="1317928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4A0D0E0-B4DD-D8FC-ACF4-1EB921D3BA45}"/>
              </a:ext>
            </a:extLst>
          </p:cNvPr>
          <p:cNvSpPr/>
          <p:nvPr/>
        </p:nvSpPr>
        <p:spPr>
          <a:xfrm>
            <a:off x="566928" y="4338828"/>
            <a:ext cx="690372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DEFDCCD-EAF2-86D1-93D2-62D04DB56B59}"/>
              </a:ext>
            </a:extLst>
          </p:cNvPr>
          <p:cNvSpPr/>
          <p:nvPr/>
        </p:nvSpPr>
        <p:spPr>
          <a:xfrm>
            <a:off x="566928" y="4645152"/>
            <a:ext cx="690372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048F50-DA8D-A907-A57B-A1062B91EA4A}"/>
              </a:ext>
            </a:extLst>
          </p:cNvPr>
          <p:cNvSpPr txBox="1"/>
          <p:nvPr/>
        </p:nvSpPr>
        <p:spPr>
          <a:xfrm>
            <a:off x="667512" y="4402836"/>
            <a:ext cx="2218413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2024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DB53E49-6550-C75C-5543-FFFE2C3CF8F0}"/>
              </a:ext>
            </a:extLst>
          </p:cNvPr>
          <p:cNvSpPr txBox="1"/>
          <p:nvPr/>
        </p:nvSpPr>
        <p:spPr>
          <a:xfrm>
            <a:off x="3068805" y="4402836"/>
            <a:ext cx="1317928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A654F4-7E37-416E-047B-3C16F55F0936}"/>
              </a:ext>
            </a:extLst>
          </p:cNvPr>
          <p:cNvSpPr txBox="1"/>
          <p:nvPr/>
        </p:nvSpPr>
        <p:spPr>
          <a:xfrm>
            <a:off x="4569613" y="4402836"/>
            <a:ext cx="1317928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146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3AD4014-DDF0-2956-12EB-B3823AF72FFA}"/>
              </a:ext>
            </a:extLst>
          </p:cNvPr>
          <p:cNvSpPr txBox="1"/>
          <p:nvPr/>
        </p:nvSpPr>
        <p:spPr>
          <a:xfrm>
            <a:off x="6070421" y="4402836"/>
            <a:ext cx="1317928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148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A0FB3B0-9F35-DA42-4AEE-683CC9BD1875}"/>
              </a:ext>
            </a:extLst>
          </p:cNvPr>
          <p:cNvSpPr/>
          <p:nvPr/>
        </p:nvSpPr>
        <p:spPr>
          <a:xfrm>
            <a:off x="566928" y="4645152"/>
            <a:ext cx="6903720" cy="306324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BE4981D-3D72-9FE7-7F19-CF4F5CE2B887}"/>
              </a:ext>
            </a:extLst>
          </p:cNvPr>
          <p:cNvSpPr/>
          <p:nvPr/>
        </p:nvSpPr>
        <p:spPr>
          <a:xfrm>
            <a:off x="566928" y="4951476"/>
            <a:ext cx="690372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9A335F3-5C1E-BFFF-5FBF-24EC89C01E0B}"/>
              </a:ext>
            </a:extLst>
          </p:cNvPr>
          <p:cNvSpPr txBox="1"/>
          <p:nvPr/>
        </p:nvSpPr>
        <p:spPr>
          <a:xfrm>
            <a:off x="667512" y="4709160"/>
            <a:ext cx="2218413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2025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089273-D4E3-23FA-BE36-DE788D02A9DE}"/>
              </a:ext>
            </a:extLst>
          </p:cNvPr>
          <p:cNvSpPr txBox="1"/>
          <p:nvPr/>
        </p:nvSpPr>
        <p:spPr>
          <a:xfrm>
            <a:off x="3068805" y="4709160"/>
            <a:ext cx="1317928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260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46624CC-5CF4-2D5B-3BF5-BFA3F849CC13}"/>
              </a:ext>
            </a:extLst>
          </p:cNvPr>
          <p:cNvSpPr txBox="1"/>
          <p:nvPr/>
        </p:nvSpPr>
        <p:spPr>
          <a:xfrm>
            <a:off x="4569613" y="4709160"/>
            <a:ext cx="1317928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108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925B689-BE58-7BDE-794B-6A26620EF6BC}"/>
              </a:ext>
            </a:extLst>
          </p:cNvPr>
          <p:cNvSpPr txBox="1"/>
          <p:nvPr/>
        </p:nvSpPr>
        <p:spPr>
          <a:xfrm>
            <a:off x="6070421" y="4709160"/>
            <a:ext cx="1317928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368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CFFD945-151F-97C5-51D6-5360CF219F05}"/>
              </a:ext>
            </a:extLst>
          </p:cNvPr>
          <p:cNvSpPr/>
          <p:nvPr/>
        </p:nvSpPr>
        <p:spPr>
          <a:xfrm>
            <a:off x="566928" y="4951476"/>
            <a:ext cx="690372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593FC44-06CE-6960-87B4-6268FF519B6E}"/>
              </a:ext>
            </a:extLst>
          </p:cNvPr>
          <p:cNvSpPr/>
          <p:nvPr/>
        </p:nvSpPr>
        <p:spPr>
          <a:xfrm>
            <a:off x="566928" y="5257800"/>
            <a:ext cx="690372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0582B00-6B84-EBBD-1CD6-B6375CECF420}"/>
              </a:ext>
            </a:extLst>
          </p:cNvPr>
          <p:cNvSpPr txBox="1"/>
          <p:nvPr/>
        </p:nvSpPr>
        <p:spPr>
          <a:xfrm>
            <a:off x="667512" y="5015484"/>
            <a:ext cx="2218413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dirty="0">
                <a:solidFill>
                  <a:srgbClr val="111111"/>
                </a:solidFill>
                <a:latin typeface="Calibri"/>
              </a:rPr>
              <a:t>2026 YTD (2</a:t>
            </a:r>
            <a:r>
              <a:rPr lang="en-US" sz="1050" b="1" dirty="0">
                <a:solidFill>
                  <a:srgbClr val="111111"/>
                </a:solidFill>
                <a:latin typeface="Calibri"/>
              </a:rPr>
              <a:t>8</a:t>
            </a:r>
            <a:r>
              <a:rPr sz="1050" b="1" dirty="0">
                <a:solidFill>
                  <a:srgbClr val="111111"/>
                </a:solidFill>
                <a:latin typeface="Calibri"/>
              </a:rPr>
              <a:t> Aug)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9107F5E-B4CD-BBD1-3741-8AF1B6B88819}"/>
              </a:ext>
            </a:extLst>
          </p:cNvPr>
          <p:cNvSpPr txBox="1"/>
          <p:nvPr/>
        </p:nvSpPr>
        <p:spPr>
          <a:xfrm>
            <a:off x="3068805" y="5015484"/>
            <a:ext cx="1317928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362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A100F5B-CD75-3902-930D-237A20716556}"/>
              </a:ext>
            </a:extLst>
          </p:cNvPr>
          <p:cNvSpPr txBox="1"/>
          <p:nvPr/>
        </p:nvSpPr>
        <p:spPr>
          <a:xfrm>
            <a:off x="4569613" y="5015484"/>
            <a:ext cx="1317928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134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78E3E02-662B-C081-EBD0-A08A143C81DE}"/>
              </a:ext>
            </a:extLst>
          </p:cNvPr>
          <p:cNvSpPr txBox="1"/>
          <p:nvPr/>
        </p:nvSpPr>
        <p:spPr>
          <a:xfrm>
            <a:off x="6070421" y="5015484"/>
            <a:ext cx="1317928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497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EAACAD7-002F-19FE-8712-80A3058B3675}"/>
              </a:ext>
            </a:extLst>
          </p:cNvPr>
          <p:cNvSpPr/>
          <p:nvPr/>
        </p:nvSpPr>
        <p:spPr>
          <a:xfrm>
            <a:off x="566928" y="5257800"/>
            <a:ext cx="6903720" cy="306324"/>
          </a:xfrm>
          <a:prstGeom prst="rect">
            <a:avLst/>
          </a:prstGeom>
          <a:solidFill>
            <a:srgbClr val="E8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61C26FF-7DAB-E113-9F45-946DC8CCBCA0}"/>
              </a:ext>
            </a:extLst>
          </p:cNvPr>
          <p:cNvSpPr/>
          <p:nvPr/>
        </p:nvSpPr>
        <p:spPr>
          <a:xfrm>
            <a:off x="566928" y="5564124"/>
            <a:ext cx="690372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D19929C-1091-ACCC-A8F9-C553E458C24A}"/>
              </a:ext>
            </a:extLst>
          </p:cNvPr>
          <p:cNvSpPr txBox="1"/>
          <p:nvPr/>
        </p:nvSpPr>
        <p:spPr>
          <a:xfrm>
            <a:off x="667512" y="5321808"/>
            <a:ext cx="2218413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E2761"/>
                </a:solidFill>
                <a:latin typeface="Calibri"/>
              </a:rPr>
              <a:t>Total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5B5447D-A7D8-D2FB-F5A6-A4F4C35DF506}"/>
              </a:ext>
            </a:extLst>
          </p:cNvPr>
          <p:cNvSpPr txBox="1"/>
          <p:nvPr/>
        </p:nvSpPr>
        <p:spPr>
          <a:xfrm>
            <a:off x="3068805" y="5321808"/>
            <a:ext cx="1317928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623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50B9884-6F61-DBD0-80AF-D6CBE789116C}"/>
              </a:ext>
            </a:extLst>
          </p:cNvPr>
          <p:cNvSpPr txBox="1"/>
          <p:nvPr/>
        </p:nvSpPr>
        <p:spPr>
          <a:xfrm>
            <a:off x="4569613" y="5321808"/>
            <a:ext cx="1317928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389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BD7770-9C24-FCE5-2F65-4C82E2835A03}"/>
              </a:ext>
            </a:extLst>
          </p:cNvPr>
          <p:cNvSpPr txBox="1"/>
          <p:nvPr/>
        </p:nvSpPr>
        <p:spPr>
          <a:xfrm>
            <a:off x="6070421" y="5321808"/>
            <a:ext cx="1317928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1014</a:t>
            </a:r>
          </a:p>
        </p:txBody>
      </p:sp>
    </p:spTree>
    <p:extLst>
      <p:ext uri="{BB962C8B-B14F-4D97-AF65-F5344CB8AC3E}">
        <p14:creationId xmlns:p14="http://schemas.microsoft.com/office/powerpoint/2010/main" val="3078173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8"/>
                </a:solidFill>
                <a:latin typeface="Calibri"/>
              </a:rPr>
              <a:t>TOPIC 2 · BY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Cambria"/>
              </a:rPr>
              <a:t>Merit/Demerit issuance — by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64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A6478"/>
                </a:solidFill>
                <a:latin typeface="Calibri"/>
              </a:rPr>
              <a:t>Grandis carries 80% of group volume and is merit-led; Globinaco is almost entirely demerit.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71600"/>
            <a:ext cx="1106424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27632"/>
            <a:ext cx="3675887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10512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Grandis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084832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E7D32"/>
                </a:solidFill>
                <a:latin typeface="Cambria"/>
              </a:rPr>
              <a:t>75%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5603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MERIT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1031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Merit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848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11111"/>
                </a:solidFill>
                <a:latin typeface="Calibri"/>
              </a:rPr>
              <a:t>605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231800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Demerit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299716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11111"/>
                </a:solidFill>
                <a:latin typeface="Calibri"/>
              </a:rPr>
              <a:t>205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253288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514600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810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2871216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980944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80% of the group's volume, and merit-led — the model use case.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43983" y="1627632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43983" y="1627632"/>
            <a:ext cx="3675887" cy="411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5151" y="1810512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Globinaco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1" y="2084832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C62828"/>
                </a:solidFill>
                <a:latin typeface="Cambria"/>
              </a:rPr>
              <a:t>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1" y="25603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MERIT SHARE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7" y="21031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Merit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5" y="20848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11111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7" y="231800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Demerit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3215" y="2299716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11111"/>
                </a:solidFill>
                <a:latin typeface="Calibri"/>
              </a:rPr>
              <a:t>178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7" y="253288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Total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5" y="2514600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183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1" y="2871216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45151" y="2980944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178 of 181 classified records are demerit — almost entirely punitive here.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38" y="1627632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21038" y="1627632"/>
            <a:ext cx="3675887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22206" y="1810512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Arus Sawit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6" y="2084832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E7D32"/>
                </a:solidFill>
                <a:latin typeface="Cambria"/>
              </a:rPr>
              <a:t>73%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22206" y="25603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MERIT SHARE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96142" y="21031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Merit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20270" y="20848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11111"/>
                </a:solidFill>
                <a:latin typeface="Calibri"/>
              </a:rPr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96142" y="231800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Demerit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20270" y="2299716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11111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96142" y="253288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Total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20270" y="2514600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15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22206" y="2871216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22206" y="2980944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Small sample (15) but merit-led, consistent with Grandis's pattern.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4041648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6928" y="4041648"/>
            <a:ext cx="3675887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" y="4224528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Likas Square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" y="449884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E7D32"/>
                </a:solidFill>
                <a:latin typeface="Cambria"/>
              </a:rPr>
              <a:t>67%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" y="497433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MERIT SHARE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42032" y="451713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Merit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66160" y="4498848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11111"/>
                </a:solidFill>
                <a:latin typeface="Calibr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42032" y="47320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Demerit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66160" y="47137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11111"/>
                </a:solidFill>
                <a:latin typeface="Calibri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42032" y="494690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Total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66160" y="4928616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8096" y="5285232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8096" y="5394960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Small sample (6) but merit-led, consistent with the group's pattern.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43983" y="4041648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443983" y="4041648"/>
            <a:ext cx="3675887" cy="4114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45151" y="4224528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AMC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45151" y="449884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5A6478"/>
                </a:solidFill>
                <a:latin typeface="Cambria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45151" y="497433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MERIT SHARE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19087" y="451713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Merit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43215" y="4498848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11111"/>
                </a:solidFill>
                <a:latin typeface="Calibri"/>
              </a:rPr>
              <a:t>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19087" y="47320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Demerit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43215" y="47137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11111"/>
                </a:solidFill>
                <a:latin typeface="Calibri"/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19087" y="494690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Total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43215" y="4928616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645151" y="5285232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645151" y="5394960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No merit/demerit records on file for this company.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21038" y="4041648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321038" y="4041648"/>
            <a:ext cx="3675887" cy="4114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22206" y="4224528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City Skill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22206" y="449884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5A6478"/>
                </a:solidFill>
                <a:latin typeface="Cambria"/>
              </a:rPr>
              <a:t>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22206" y="497433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MERIT SHARE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96142" y="451713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Merit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20270" y="4498848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11111"/>
                </a:solidFill>
                <a:latin typeface="Calibri"/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296142" y="47320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Demerit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320270" y="47137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11111"/>
                </a:solidFill>
                <a:latin typeface="Calibri"/>
              </a:rP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96142" y="494690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Total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320270" y="4928616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522206" y="5285232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22206" y="5394960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No merit/demerit records on file for this company.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265176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dirty="0">
                <a:solidFill>
                  <a:srgbClr val="F9A825"/>
                </a:solidFill>
                <a:latin typeface="Calibri"/>
              </a:rPr>
              <a:t>TOPIC </a:t>
            </a:r>
            <a:r>
              <a:rPr lang="en-US" sz="1250" b="1" dirty="0">
                <a:solidFill>
                  <a:srgbClr val="F9A825"/>
                </a:solidFill>
                <a:latin typeface="Calibri"/>
              </a:rPr>
              <a:t>TWO</a:t>
            </a:r>
            <a:endParaRPr sz="1250" b="1" dirty="0">
              <a:solidFill>
                <a:srgbClr val="F9A825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" y="301752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Memo Activity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904487"/>
            <a:ext cx="2011680" cy="1905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417880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9AA4C0"/>
                </a:solidFill>
                <a:latin typeface="Calibri"/>
              </a:rPr>
              <a:t>Is the group-wide memo broadcast still in use?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8"/>
                </a:solidFill>
                <a:latin typeface="Calibri"/>
              </a:rPr>
              <a:t>TOPIC 3 ·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Cambria"/>
              </a:rPr>
              <a:t>Memo activity — group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64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A6478"/>
                </a:solidFill>
                <a:latin typeface="Calibri"/>
              </a:rPr>
              <a:t>83 memos on file, all-time — usage has fallen 97% from its 2023 peak.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71600"/>
            <a:ext cx="1106424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2615184" cy="1783080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627632"/>
            <a:ext cx="50292" cy="17830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810512"/>
            <a:ext cx="22037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1E2761"/>
                </a:solidFill>
                <a:latin typeface="Cambria"/>
              </a:rPr>
              <a:t>83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95728"/>
            <a:ext cx="22037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6203F"/>
                </a:solidFill>
                <a:latin typeface="Calibri"/>
              </a:rPr>
              <a:t>Memos issued, all-time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61488"/>
            <a:ext cx="22037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5A6478"/>
                </a:solidFill>
                <a:latin typeface="Calibri"/>
              </a:rPr>
              <a:t>2022 – 2026 YTD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6996" y="1627632"/>
            <a:ext cx="2615184" cy="1783080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6996" y="1627632"/>
            <a:ext cx="50292" cy="17830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4740" y="1810512"/>
            <a:ext cx="22037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C62828"/>
                </a:solidFill>
                <a:latin typeface="Cambr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4740" y="2395728"/>
            <a:ext cx="22037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6203F"/>
                </a:solidFill>
                <a:latin typeface="Calibri"/>
              </a:rPr>
              <a:t>Issued in 2026 YTD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4740" y="2761488"/>
            <a:ext cx="22037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5A6478"/>
                </a:solidFill>
                <a:latin typeface="Calibri"/>
              </a:rPr>
              <a:t>vs 32 in 2023, the peak year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7064" y="1627632"/>
            <a:ext cx="2615184" cy="1783080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27064" y="1627632"/>
            <a:ext cx="50292" cy="17830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8" y="1810512"/>
            <a:ext cx="22037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C62828"/>
                </a:solidFill>
                <a:latin typeface="Cambria"/>
              </a:rPr>
              <a:t>97%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395728"/>
            <a:ext cx="22037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6203F"/>
                </a:solidFill>
                <a:latin typeface="Calibri"/>
              </a:rPr>
              <a:t>Decline from peak-year 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2761488"/>
            <a:ext cx="22037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5A6478"/>
                </a:solidFill>
                <a:latin typeface="Calibri"/>
              </a:rPr>
              <a:t>32 memos in 2023 → 1 so far in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7132" y="1627632"/>
            <a:ext cx="2615184" cy="1783080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57132" y="1627632"/>
            <a:ext cx="50292" cy="178308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94876" y="1810512"/>
            <a:ext cx="22037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9A825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4876" y="2395728"/>
            <a:ext cx="22037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6203F"/>
                </a:solidFill>
                <a:latin typeface="Calibri"/>
              </a:rPr>
              <a:t>Distinct senders, ever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4876" y="2761488"/>
            <a:ext cx="22037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5A6478"/>
                </a:solidFill>
                <a:latin typeface="Calibri"/>
              </a:rPr>
              <a:t>One person sent 76 of the 83 memos (under two name spellings)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3703320"/>
            <a:ext cx="5486400" cy="32918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" y="3776472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Year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5112" y="3776472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Calibri"/>
              </a:rPr>
              <a:t>Memos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032504"/>
            <a:ext cx="5486400" cy="306324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66928" y="4338828"/>
            <a:ext cx="548640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512" y="4096512"/>
            <a:ext cx="3474720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2022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25112" y="4096512"/>
            <a:ext cx="1645920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31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4338828"/>
            <a:ext cx="548640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66928" y="4645152"/>
            <a:ext cx="548640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7512" y="4402836"/>
            <a:ext cx="3474720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2023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25112" y="4402836"/>
            <a:ext cx="1645920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32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645152"/>
            <a:ext cx="5486400" cy="306324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66928" y="4951476"/>
            <a:ext cx="548640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7512" y="4709160"/>
            <a:ext cx="3474720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2024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25112" y="4709160"/>
            <a:ext cx="1645920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16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951476"/>
            <a:ext cx="548640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66928" y="5257800"/>
            <a:ext cx="548640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7512" y="5015484"/>
            <a:ext cx="3474720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2025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25112" y="5015484"/>
            <a:ext cx="1645920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5257800"/>
            <a:ext cx="5486400" cy="306324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66928" y="5564124"/>
            <a:ext cx="548640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7512" y="5321808"/>
            <a:ext cx="3474720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2026 YTD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25112" y="5321808"/>
            <a:ext cx="1645920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5564124"/>
            <a:ext cx="5486400" cy="306324"/>
          </a:xfrm>
          <a:prstGeom prst="rect">
            <a:avLst/>
          </a:prstGeom>
          <a:solidFill>
            <a:srgbClr val="E8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66928" y="5870448"/>
            <a:ext cx="548640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7512" y="5628132"/>
            <a:ext cx="3474720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E2761"/>
                </a:solidFill>
                <a:latin typeface="Calibri"/>
              </a:rPr>
              <a:t>Total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25112" y="5628132"/>
            <a:ext cx="1645920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83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3703320"/>
            <a:ext cx="5321808" cy="1207008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309360" y="3703320"/>
            <a:ext cx="50292" cy="120700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28816" y="3840480"/>
            <a:ext cx="4910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C62828"/>
                </a:solidFill>
                <a:latin typeface="Calibri"/>
              </a:rPr>
              <a:t>One sender carries the feature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28816" y="4142232"/>
            <a:ext cx="4910328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33B52"/>
                </a:solidFill>
                <a:latin typeface="Calibri"/>
              </a:rPr>
              <a:t>76 of 83 memos (92%) came from one person, logged under two spellings of their name. No memo has been sent by anyone else since 2024.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5010912"/>
            <a:ext cx="5321808" cy="1207008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309360" y="5010912"/>
            <a:ext cx="50292" cy="1207008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28816" y="5148072"/>
            <a:ext cx="4910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9A825"/>
                </a:solidFill>
                <a:latin typeface="Calibri"/>
              </a:rPr>
              <a:t>Read this as a small-sample trend, not a monthly metric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28816" y="5449824"/>
            <a:ext cx="4910328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33B52"/>
                </a:solidFill>
                <a:latin typeface="Calibri"/>
              </a:rPr>
              <a:t>83 records over 4.5 years — the direction (steadily down) is the finding; treat any single year's count as directional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8"/>
                </a:solidFill>
                <a:latin typeface="Calibri"/>
              </a:rPr>
              <a:t>TOPIC 3 · USAGE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Cambria"/>
              </a:rPr>
              <a:t>Memo activity — who is sending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64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A6478"/>
                </a:solidFill>
                <a:latin typeface="Calibri"/>
              </a:rPr>
              <a:t>Free-text sender field, not tied to a company — shown as senders, not units.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71600"/>
            <a:ext cx="1106424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6949440" cy="32918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856232"/>
            <a:ext cx="3607723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Sender (as recorded)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8115" y="1856232"/>
            <a:ext cx="139653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Calibri"/>
              </a:rPr>
              <a:t>Memos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7533" y="1856232"/>
            <a:ext cx="139653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Calibri"/>
              </a:rPr>
              <a:t>Share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112264"/>
            <a:ext cx="6949440" cy="306324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" y="2418588"/>
            <a:ext cx="694944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2176272"/>
            <a:ext cx="3607723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Dr. Lawrence Chu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8115" y="2176272"/>
            <a:ext cx="1396538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7533" y="2176272"/>
            <a:ext cx="1396538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47%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418588"/>
            <a:ext cx="694944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2724912"/>
            <a:ext cx="694944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" y="2482596"/>
            <a:ext cx="3607723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Dr. Lawrence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8115" y="2482596"/>
            <a:ext cx="1396538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7533" y="2482596"/>
            <a:ext cx="1396538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45%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724912"/>
            <a:ext cx="6949440" cy="306324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28" y="3031236"/>
            <a:ext cx="694944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" y="2788920"/>
            <a:ext cx="3607723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Jeffrey Soo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8115" y="2788920"/>
            <a:ext cx="1396538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7533" y="2788920"/>
            <a:ext cx="1396538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6%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031236"/>
            <a:ext cx="694944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66928" y="3337560"/>
            <a:ext cx="694944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" y="3095244"/>
            <a:ext cx="3607723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HR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8115" y="3095244"/>
            <a:ext cx="1396538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7533" y="3095244"/>
            <a:ext cx="1396538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1%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337560"/>
            <a:ext cx="6949440" cy="306324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66928" y="3643884"/>
            <a:ext cx="694944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" y="3401568"/>
            <a:ext cx="3607723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Jeffrey Soo Yee Lieh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58115" y="3401568"/>
            <a:ext cx="1396538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7533" y="3401568"/>
            <a:ext cx="1396538" cy="306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1783080"/>
            <a:ext cx="3493008" cy="2377440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138160" y="1783080"/>
            <a:ext cx="50292" cy="23774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57616" y="1920240"/>
            <a:ext cx="3081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E2761"/>
                </a:solidFill>
                <a:latin typeface="Calibri"/>
              </a:rPr>
              <a:t>This cycle's decision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7616" y="2221992"/>
            <a:ext cx="3081528" cy="1847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33B52"/>
                </a:solidFill>
                <a:latin typeface="Calibri"/>
              </a:rPr>
              <a:t>“Dr. Lawrence Chu” and “Dr. Lawrence” are the same person, entered two ways — free text, not a lookup. With one active sender and zero recipients-side complaints on record, the group should either name a second owner and relaunch it, or formally retire the feature.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3A8"/>
                </a:solidFill>
                <a:latin typeface="Calibri"/>
              </a:rPr>
              <a:t>staff_memo_from is free text; grouped as-entered, not deduplicated by identity. Snapshot 27 Aug 2026, 09:14 — mkPortal / staff_portal2 / staff_profile / evaluation, live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265176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dirty="0">
                <a:solidFill>
                  <a:srgbClr val="F9A825"/>
                </a:solidFill>
                <a:latin typeface="Calibri"/>
              </a:rPr>
              <a:t>TOPIC </a:t>
            </a:r>
            <a:r>
              <a:rPr lang="en-US" sz="1250" b="1" dirty="0">
                <a:solidFill>
                  <a:srgbClr val="F9A825"/>
                </a:solidFill>
                <a:latin typeface="Calibri"/>
              </a:rPr>
              <a:t>ONE</a:t>
            </a:r>
            <a:endParaRPr sz="1250" b="1" dirty="0">
              <a:solidFill>
                <a:srgbClr val="F9A825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" y="3017520"/>
            <a:ext cx="100584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Cambria"/>
              </a:rPr>
              <a:t>Job Spec Approval</a:t>
            </a:r>
            <a:endParaRPr sz="4000" b="1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51560" y="3904487"/>
            <a:ext cx="2011680" cy="1905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8"/>
                </a:solidFill>
                <a:latin typeface="Calibri"/>
              </a:rPr>
              <a:t>TOPIC 1 · BY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Cambria"/>
              </a:rPr>
              <a:t>Job Spec approvals — by company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71600"/>
            <a:ext cx="1106424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27632"/>
            <a:ext cx="3675887" cy="411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10512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Globinaco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084832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C62828"/>
                </a:solidFill>
                <a:latin typeface="Cambria"/>
              </a:rPr>
              <a:t>683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5603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TOTAL VERSIONS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1031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Staff versions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848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11111"/>
                </a:solidFill>
                <a:latin typeface="Calibri"/>
              </a:rPr>
              <a:t>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231800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GW versions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299716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11111"/>
                </a:solidFill>
                <a:latin typeface="Calibri"/>
              </a:rPr>
              <a:t>347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253288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Approved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514600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99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2871216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980944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85% of all versions still pending — the group's approval bottleneck sits here.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43983" y="1627632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43983" y="1627632"/>
            <a:ext cx="3675887" cy="411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5151" y="1810512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Arus Sawit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1" y="2084832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C62828"/>
                </a:solidFill>
                <a:latin typeface="Cambria"/>
              </a:rPr>
              <a:t>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1" y="25603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TOTAL VERSIONS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7" y="21031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Staff versions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5" y="20848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11111"/>
                </a:solidFill>
                <a:latin typeface="Calibri"/>
              </a:rPr>
              <a:t>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7" y="231800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GW versions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3215" y="2299716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11111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7" y="253288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Approved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5" y="2514600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1" y="2871216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45151" y="2980944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97% pending — the pattern echoes Globinaco's backlog.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38" y="1627632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21038" y="1627632"/>
            <a:ext cx="3675887" cy="411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22206" y="1810512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Likas Square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6" y="2084832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C62828"/>
                </a:solidFill>
                <a:latin typeface="Cambria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22206" y="25603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TOTAL VERSIONS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96142" y="21031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Staff versions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20270" y="20848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11111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96142" y="231800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GW versions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20270" y="2299716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11111"/>
                </a:solidFill>
                <a:latin typeface="Calibri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96142" y="253288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Approved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20270" y="2514600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22206" y="2871216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22206" y="2980944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Only 2 versions on file, none approved yet.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4041648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6928" y="4041648"/>
            <a:ext cx="3675887" cy="4114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" y="4224528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AMC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" y="449884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5A6478"/>
                </a:solidFill>
                <a:latin typeface="Cambria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" y="497433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TOTAL VERSIONS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42032" y="451713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Staff versions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66160" y="4498848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11111"/>
                </a:solidFill>
                <a:latin typeface="Calibri"/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42032" y="47320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GW versions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66160" y="47137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11111"/>
                </a:solidFill>
                <a:latin typeface="Calibri"/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42032" y="494690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Approved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66160" y="4928616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8096" y="5285232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8096" y="5394960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No job spec versions on file for this company.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43983" y="4041648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443983" y="4041648"/>
            <a:ext cx="3675887" cy="4114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45151" y="4224528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Grandis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45151" y="449884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5A6478"/>
                </a:solidFill>
                <a:latin typeface="Cambria"/>
              </a:rP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45151" y="497433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TOTAL VERSIONS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19087" y="451713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Staff versions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43215" y="4498848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11111"/>
                </a:solidFill>
                <a:latin typeface="Calibri"/>
              </a:rPr>
              <a:t>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19087" y="47320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GW versions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43215" y="47137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11111"/>
                </a:solidFill>
                <a:latin typeface="Calibri"/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19087" y="494690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Approved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43215" y="4928616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645151" y="5285232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645151" y="5394960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No job spec versions on file for this company.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21038" y="4041648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321038" y="4041648"/>
            <a:ext cx="3675887" cy="4114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22206" y="4224528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City Skill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22206" y="449884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5A6478"/>
                </a:solidFill>
                <a:latin typeface="Cambria"/>
              </a:rPr>
              <a:t>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22206" y="497433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TOTAL VERSIONS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96142" y="451713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Staff versions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20270" y="4498848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11111"/>
                </a:solidFill>
                <a:latin typeface="Calibri"/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296142" y="47320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GW versions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320270" y="47137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11111"/>
                </a:solidFill>
                <a:latin typeface="Calibri"/>
              </a:rP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96142" y="494690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Approved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320270" y="4928616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522206" y="5285232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22206" y="5394960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No job spec versions on file for this company.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A6478"/>
                </a:solidFill>
                <a:latin typeface="Calibri"/>
              </a:rPr>
              <a:t>STAFF SUMMARY · GROUP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Cambria"/>
              </a:rPr>
              <a:t>Staff headcount — group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51560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A6478"/>
                </a:solidFill>
                <a:latin typeface="Calibri"/>
              </a:rPr>
              <a:t>721 active staff group-wide, plus 353 General Workers — all at Globinaco.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71600"/>
            <a:ext cx="1106424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27632"/>
            <a:ext cx="2615184" cy="1783080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50292" cy="17830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810512"/>
            <a:ext cx="2203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E2761"/>
                </a:solidFill>
                <a:latin typeface="Cambria"/>
              </a:rPr>
              <a:t>721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95728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203F"/>
                </a:solidFill>
                <a:latin typeface="Calibri"/>
              </a:rPr>
              <a:t>Active staff, group-wide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761488"/>
            <a:ext cx="2203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5A6478"/>
                </a:solidFill>
                <a:latin typeface="Calibri"/>
              </a:rPr>
              <a:t>Across all 6 companies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6996" y="1627632"/>
            <a:ext cx="2615184" cy="1783080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6996" y="1627632"/>
            <a:ext cx="50292" cy="17830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4740" y="1810512"/>
            <a:ext cx="2203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E2761"/>
                </a:solidFill>
                <a:latin typeface="Cambria"/>
              </a:rPr>
              <a:t>353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4740" y="2395728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203F"/>
                </a:solidFill>
                <a:latin typeface="Calibri"/>
              </a:rPr>
              <a:t>General Workers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4740" y="2761488"/>
            <a:ext cx="2203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5A6478"/>
                </a:solidFill>
                <a:latin typeface="Calibri"/>
              </a:rPr>
              <a:t>All at Globinaco — no other company runs a GW workforce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627632"/>
            <a:ext cx="2615184" cy="1783080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7064" y="1627632"/>
            <a:ext cx="50292" cy="17830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1810512"/>
            <a:ext cx="2203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E2761"/>
                </a:solidFill>
                <a:latin typeface="Cambria"/>
              </a:rPr>
              <a:t>690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2395728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203F"/>
                </a:solidFill>
                <a:latin typeface="Calibri"/>
              </a:rPr>
              <a:t>Globinaco ledger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2761488"/>
            <a:ext cx="2203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5A6478"/>
                </a:solidFill>
                <a:latin typeface="Calibri"/>
              </a:rPr>
              <a:t>669 in main departments + 21 in Trillium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7132" y="1627632"/>
            <a:ext cx="2615184" cy="1783080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7132" y="1627632"/>
            <a:ext cx="50292" cy="17830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4876" y="1810512"/>
            <a:ext cx="2203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E2761"/>
                </a:solidFill>
                <a:latin typeface="Cambria"/>
              </a:rPr>
              <a:t>50%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4876" y="2395728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203F"/>
                </a:solidFill>
                <a:latin typeface="Calibri"/>
              </a:rPr>
              <a:t>Globinaco's share of group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4876" y="2761488"/>
            <a:ext cx="2203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5A6478"/>
                </a:solidFill>
                <a:latin typeface="Calibri"/>
              </a:rPr>
              <a:t>364 of 721 active staff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703320"/>
            <a:ext cx="5486400" cy="32918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3776472"/>
            <a:ext cx="23493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Company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99696" y="3776472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Calibri"/>
              </a:rPr>
              <a:t>Active Staff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1296" y="3776472"/>
            <a:ext cx="13997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Calibri"/>
              </a:rPr>
              <a:t>General Workers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032504"/>
            <a:ext cx="5486400" cy="306324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4338828"/>
            <a:ext cx="548640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" y="4096512"/>
            <a:ext cx="23493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Globinaco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99696" y="4096512"/>
            <a:ext cx="118872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364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1296" y="4096512"/>
            <a:ext cx="139973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353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338828"/>
            <a:ext cx="548640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4645152"/>
            <a:ext cx="548640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" y="4402836"/>
            <a:ext cx="23493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Grandis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99696" y="4402836"/>
            <a:ext cx="118872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149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1296" y="4402836"/>
            <a:ext cx="139973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645152"/>
            <a:ext cx="5486400" cy="306324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4951476"/>
            <a:ext cx="548640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" y="4709160"/>
            <a:ext cx="23493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Arus Sawit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99696" y="4709160"/>
            <a:ext cx="118872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91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1296" y="4709160"/>
            <a:ext cx="139973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951476"/>
            <a:ext cx="548640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6928" y="5257800"/>
            <a:ext cx="548640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" y="5015484"/>
            <a:ext cx="23493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AMC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99696" y="5015484"/>
            <a:ext cx="118872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58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1296" y="5015484"/>
            <a:ext cx="139973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5257800"/>
            <a:ext cx="5486400" cy="306324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5564124"/>
            <a:ext cx="548640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7512" y="5321808"/>
            <a:ext cx="23493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Likas Square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99696" y="5321808"/>
            <a:ext cx="118872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51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1296" y="5321808"/>
            <a:ext cx="139973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5564124"/>
            <a:ext cx="548640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6928" y="5870448"/>
            <a:ext cx="548640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" y="5628132"/>
            <a:ext cx="23493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City Skill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99696" y="5628132"/>
            <a:ext cx="118872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1296" y="5628132"/>
            <a:ext cx="139973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5870448"/>
            <a:ext cx="5486400" cy="306324"/>
          </a:xfrm>
          <a:prstGeom prst="rect">
            <a:avLst/>
          </a:prstGeom>
          <a:solidFill>
            <a:srgbClr val="E8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66928" y="6176772"/>
            <a:ext cx="548640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7512" y="5934456"/>
            <a:ext cx="23493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E2761"/>
                </a:solidFill>
                <a:latin typeface="Calibri"/>
              </a:rPr>
              <a:t>Total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99696" y="5934456"/>
            <a:ext cx="118872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721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1296" y="5934456"/>
            <a:ext cx="139973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353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3703320"/>
            <a:ext cx="5321808" cy="1207008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09360" y="3703320"/>
            <a:ext cx="50292" cy="120700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28816" y="3840480"/>
            <a:ext cx="4910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C62828"/>
                </a:solidFill>
                <a:latin typeface="Calibri"/>
              </a:rPr>
              <a:t>Globinaco carries most of the group's headcount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28816" y="4142232"/>
            <a:ext cx="491032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33B52"/>
                </a:solidFill>
                <a:latin typeface="Calibri"/>
              </a:rPr>
              <a:t>364 of 721 active staff (50%) sit at Globinaco, plus all 353 General Workers — no other company in the group runs a GW workforce.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09360" y="5010912"/>
            <a:ext cx="5321808" cy="1207008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09360" y="5010912"/>
            <a:ext cx="50292" cy="1207008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28816" y="5148072"/>
            <a:ext cx="4910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9A825"/>
                </a:solidFill>
                <a:latin typeface="Calibri"/>
              </a:rPr>
              <a:t>Two different “totals” for Globinaco, on purpose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28816" y="5449824"/>
            <a:ext cx="491032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33B52"/>
                </a:solidFill>
                <a:latin typeface="Calibri"/>
              </a:rPr>
              <a:t>690 is the manpower ledger's own total (669 main + 21 Trillium), counting a person once per reporting line. 364 + 353 = 717 is the clean, de-duplicated headcount. Both are correct — they answer different questions.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93A8"/>
                </a:solidFill>
                <a:latin typeface="Calibri"/>
              </a:rPr>
              <a:t>staff_portal2.users + evaluation.monthly_assign_gw + manpower_summary.php's department ledger (Globinaco). Snapshot 28 Aug 2026 — mkPortal / staff_portal2 / evaluation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A6478"/>
                </a:solidFill>
                <a:latin typeface="Calibri"/>
              </a:rPr>
              <a:t>STAFF SUMMARY · BY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Cambria"/>
              </a:rPr>
              <a:t>Staff headcount — by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51560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A6478"/>
                </a:solidFill>
                <a:latin typeface="Calibri"/>
              </a:rPr>
              <a:t>Active staff currently on file for each company, per the manpower report.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71600"/>
            <a:ext cx="1106424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27632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3675887" cy="411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810512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Globinaco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084832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Cambria"/>
              </a:rPr>
              <a:t>364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603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ACTIVE STAFF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21031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General Workers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0848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353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231800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Share of group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299716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5A6478"/>
                </a:solidFill>
                <a:latin typeface="Calibri"/>
              </a:rPr>
              <a:t>50%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" y="2871216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980944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364 of 721 group-wide active staff. Manpower ledger total (incl. GW): 690 — see group summary.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43983" y="1627632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43983" y="1627632"/>
            <a:ext cx="3675887" cy="411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1" y="1810512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Grandis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1" y="2084832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Cambria"/>
              </a:rPr>
              <a:t>149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1" y="25603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ACTIVE STAFF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7" y="21031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Share of group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3215" y="20848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5A6478"/>
                </a:solidFill>
                <a:latin typeface="Calibri"/>
              </a:rPr>
              <a:t>21%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45151" y="2871216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1" y="2980944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149 of 721 group-wide active staff.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38" y="1627632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1038" y="1627632"/>
            <a:ext cx="3675887" cy="411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22206" y="1810512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Arus Sawit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6" y="2084832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Cambria"/>
              </a:rPr>
              <a:t>91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6" y="25603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ACTIVE STAFF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96142" y="21031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Share of group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20270" y="20848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5A6478"/>
                </a:solidFill>
                <a:latin typeface="Calibri"/>
              </a:rPr>
              <a:t>13%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22206" y="2871216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22206" y="2980944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91 of 721 group-wide active staff.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041648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4041648"/>
            <a:ext cx="3675887" cy="411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4224528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AMC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" y="449884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Cambria"/>
              </a:rPr>
              <a:t>58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" y="497433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ACTIVE STAFF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42032" y="451713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Share of group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498848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5A6478"/>
                </a:solidFill>
                <a:latin typeface="Calibri"/>
              </a:rPr>
              <a:t>8%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" y="5285232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8096" y="5394960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58 of 721 group-wide active staff.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43983" y="4041648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43983" y="4041648"/>
            <a:ext cx="3675887" cy="411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45151" y="4224528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Likas Square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45151" y="449884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Cambria"/>
              </a:rPr>
              <a:t>51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45151" y="497433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ACTIVE STAFF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19087" y="451713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Share of group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43215" y="4498848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5A6478"/>
                </a:solidFill>
                <a:latin typeface="Calibri"/>
              </a:rPr>
              <a:t>7%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45151" y="5285232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45151" y="5394960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51 of 721 group-wide active staff.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1038" y="4041648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21038" y="4041648"/>
            <a:ext cx="3675887" cy="411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22206" y="4224528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City Skill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22206" y="449884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Cambria"/>
              </a:rP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22206" y="497433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ACTIVE STAFF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96142" y="451713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Share of group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20270" y="4498848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5A6478"/>
                </a:solidFill>
                <a:latin typeface="Calibri"/>
              </a:rPr>
              <a:t>1%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22206" y="5285232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22206" y="5394960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8 of 721 group-wide active staff.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625</Words>
  <Application>Microsoft Office PowerPoint</Application>
  <PresentationFormat>Widescreen</PresentationFormat>
  <Paragraphs>155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Nathan Szy</cp:lastModifiedBy>
  <cp:revision>4</cp:revision>
  <dcterms:created xsi:type="dcterms:W3CDTF">2013-01-27T09:14:16Z</dcterms:created>
  <dcterms:modified xsi:type="dcterms:W3CDTF">2026-08-28T02:55:39Z</dcterms:modified>
  <cp:category/>
</cp:coreProperties>
</file>