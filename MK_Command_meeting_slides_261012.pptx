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993392"/>
            <a:ext cx="10058400" cy="822960"/>
          </a:xfrm>
          <a:prstGeom prst="rect">
            <a:avLst/>
          </a:prstGeom>
          <a:noFill/>
        </p:spPr>
        <p:txBody>
          <a:bodyPr wrap="square" lIns="0" rIns="0" tIns="0" bIns="0" anchor="t">
            <a:spAutoFit/>
          </a:bodyPr>
          <a:lstStyle/>
          <a:p>
            <a:pPr algn="l"/>
            <a:r>
              <a:rPr sz="4600" b="1">
                <a:solidFill>
                  <a:srgbClr val="FFFFFF"/>
                </a:solidFill>
                <a:latin typeface="Cambria"/>
              </a:rPr>
              <a:t>MK Command</a:t>
            </a:r>
          </a:p>
        </p:txBody>
      </p:sp>
      <p:sp>
        <p:nvSpPr>
          <p:cNvPr id="5" name="Rectangle 4"/>
          <p:cNvSpPr/>
          <p:nvPr/>
        </p:nvSpPr>
        <p:spPr>
          <a:xfrm>
            <a:off x="1051560" y="2962656"/>
            <a:ext cx="2377440" cy="22225"/>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3255264"/>
            <a:ext cx="10058400" cy="365760"/>
          </a:xfrm>
          <a:prstGeom prst="rect">
            <a:avLst/>
          </a:prstGeom>
          <a:noFill/>
        </p:spPr>
        <p:txBody>
          <a:bodyPr wrap="square" lIns="0" rIns="0" tIns="0" bIns="0" anchor="t">
            <a:spAutoFit/>
          </a:bodyPr>
          <a:lstStyle/>
          <a:p>
            <a:pPr algn="l"/>
            <a:r>
              <a:rPr sz="1500" b="0">
                <a:solidFill>
                  <a:srgbClr val="9AA4C0"/>
                </a:solidFill>
                <a:latin typeface="Calibri"/>
              </a:rPr>
              <a:t>Ownership  ·  Headcount  ·  Job specs  ·  Merit / Demerit  ·  Memos</a:t>
            </a:r>
          </a:p>
        </p:txBody>
      </p:sp>
      <p:sp>
        <p:nvSpPr>
          <p:cNvPr id="7" name="TextBox 6"/>
          <p:cNvSpPr txBox="1"/>
          <p:nvPr/>
        </p:nvSpPr>
        <p:spPr>
          <a:xfrm>
            <a:off x="1051560" y="3931920"/>
            <a:ext cx="10332720" cy="365760"/>
          </a:xfrm>
          <a:prstGeom prst="rect">
            <a:avLst/>
          </a:prstGeom>
          <a:noFill/>
        </p:spPr>
        <p:txBody>
          <a:bodyPr wrap="square" lIns="0" rIns="0" tIns="0" bIns="0" anchor="t">
            <a:spAutoFit/>
          </a:bodyPr>
          <a:lstStyle/>
          <a:p>
            <a:pPr algn="l"/>
            <a:r>
              <a:rPr sz="1200" b="0">
                <a:solidFill>
                  <a:srgbClr val="FFFFFF"/>
                </a:solidFill>
                <a:latin typeface="Calibri"/>
              </a:rPr>
              <a:t>6 operating companies  ·  745 active staff  ·  937 general workers  ·  941 job spec versions  ·  1,207 merit/demerit records</a:t>
            </a:r>
          </a:p>
        </p:txBody>
      </p:sp>
      <p:sp>
        <p:nvSpPr>
          <p:cNvPr id="8" name="TextBox 7"/>
          <p:cNvSpPr txBox="1"/>
          <p:nvPr/>
        </p:nvSpPr>
        <p:spPr>
          <a:xfrm>
            <a:off x="1051560" y="5806440"/>
            <a:ext cx="10058400" cy="274320"/>
          </a:xfrm>
          <a:prstGeom prst="rect">
            <a:avLst/>
          </a:prstGeom>
          <a:noFill/>
        </p:spPr>
        <p:txBody>
          <a:bodyPr wrap="square" lIns="0" rIns="0" tIns="0" bIns="0" anchor="t">
            <a:spAutoFit/>
          </a:bodyPr>
          <a:lstStyle/>
          <a:p>
            <a:pPr algn="l"/>
            <a:r>
              <a:rPr sz="1100" b="0">
                <a:solidFill>
                  <a:srgbClr val="9AA4C0"/>
                </a:solidFill>
                <a:latin typeface="Calibri"/>
              </a:rPr>
              <a:t>Snapshot 12 Oct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AGENDA</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How this review works</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Five topics. Each one is shown for the group first, then broken down across the companies.</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45920"/>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45920"/>
            <a:ext cx="45720" cy="8412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47088"/>
            <a:ext cx="457200" cy="457200"/>
          </a:xfrm>
          <a:prstGeom prst="rect">
            <a:avLst/>
          </a:prstGeom>
          <a:noFill/>
        </p:spPr>
        <p:txBody>
          <a:bodyPr wrap="square" lIns="0" rIns="0" tIns="0" bIns="0" anchor="t">
            <a:spAutoFit/>
          </a:bodyPr>
          <a:lstStyle/>
          <a:p>
            <a:pPr algn="l"/>
            <a:r>
              <a:rPr sz="2200" b="1">
                <a:solidFill>
                  <a:srgbClr val="1E2761"/>
                </a:solidFill>
                <a:latin typeface="Cambria"/>
              </a:rPr>
              <a:t>1</a:t>
            </a:r>
          </a:p>
        </p:txBody>
      </p:sp>
      <p:sp>
        <p:nvSpPr>
          <p:cNvPr id="11" name="TextBox 10"/>
          <p:cNvSpPr txBox="1"/>
          <p:nvPr/>
        </p:nvSpPr>
        <p:spPr>
          <a:xfrm>
            <a:off x="1435608" y="1792224"/>
            <a:ext cx="4937760" cy="292608"/>
          </a:xfrm>
          <a:prstGeom prst="rect">
            <a:avLst/>
          </a:prstGeom>
          <a:noFill/>
        </p:spPr>
        <p:txBody>
          <a:bodyPr wrap="square" lIns="0" rIns="0" tIns="0" bIns="0" anchor="t">
            <a:spAutoFit/>
          </a:bodyPr>
          <a:lstStyle/>
          <a:p>
            <a:pPr algn="l"/>
            <a:r>
              <a:rPr sz="1500" b="1">
                <a:solidFill>
                  <a:srgbClr val="16203F"/>
                </a:solidFill>
                <a:latin typeface="Cambria"/>
              </a:rPr>
              <a:t>Ownership</a:t>
            </a:r>
          </a:p>
        </p:txBody>
      </p:sp>
      <p:sp>
        <p:nvSpPr>
          <p:cNvPr id="12" name="TextBox 11"/>
          <p:cNvSpPr txBox="1"/>
          <p:nvPr/>
        </p:nvSpPr>
        <p:spPr>
          <a:xfrm>
            <a:off x="1435608" y="2121408"/>
            <a:ext cx="5303520" cy="256032"/>
          </a:xfrm>
          <a:prstGeom prst="rect">
            <a:avLst/>
          </a:prstGeom>
          <a:noFill/>
        </p:spPr>
        <p:txBody>
          <a:bodyPr wrap="square" lIns="0" rIns="0" tIns="0" bIns="0" anchor="t">
            <a:spAutoFit/>
          </a:bodyPr>
          <a:lstStyle/>
          <a:p>
            <a:pPr algn="l"/>
            <a:r>
              <a:rPr sz="1050" b="0">
                <a:solidFill>
                  <a:srgbClr val="5A6478"/>
                </a:solidFill>
                <a:latin typeface="Calibri"/>
              </a:rPr>
              <a:t>Who can run the training system in each company</a:t>
            </a:r>
          </a:p>
        </p:txBody>
      </p:sp>
      <p:sp>
        <p:nvSpPr>
          <p:cNvPr id="13" name="TextBox 12"/>
          <p:cNvSpPr txBox="1"/>
          <p:nvPr/>
        </p:nvSpPr>
        <p:spPr>
          <a:xfrm>
            <a:off x="8705088" y="1773936"/>
            <a:ext cx="2651760" cy="457200"/>
          </a:xfrm>
          <a:prstGeom prst="rect">
            <a:avLst/>
          </a:prstGeom>
          <a:noFill/>
        </p:spPr>
        <p:txBody>
          <a:bodyPr wrap="square" lIns="0" rIns="0" tIns="0" bIns="0" anchor="t">
            <a:spAutoFit/>
          </a:bodyPr>
          <a:lstStyle/>
          <a:p>
            <a:pPr algn="r"/>
            <a:r>
              <a:rPr sz="2400" b="1">
                <a:solidFill>
                  <a:srgbClr val="1E2761"/>
                </a:solidFill>
                <a:latin typeface="Cambria"/>
              </a:rPr>
              <a:t>13</a:t>
            </a:r>
          </a:p>
        </p:txBody>
      </p:sp>
      <p:sp>
        <p:nvSpPr>
          <p:cNvPr id="14" name="TextBox 13"/>
          <p:cNvSpPr txBox="1"/>
          <p:nvPr/>
        </p:nvSpPr>
        <p:spPr>
          <a:xfrm>
            <a:off x="8705088" y="2176272"/>
            <a:ext cx="2651760" cy="237744"/>
          </a:xfrm>
          <a:prstGeom prst="rect">
            <a:avLst/>
          </a:prstGeom>
          <a:noFill/>
        </p:spPr>
        <p:txBody>
          <a:bodyPr wrap="square" lIns="0" rIns="0" tIns="0" bIns="0" anchor="t">
            <a:spAutoFit/>
          </a:bodyPr>
          <a:lstStyle/>
          <a:p>
            <a:pPr algn="r"/>
            <a:r>
              <a:rPr sz="850" b="1">
                <a:solidFill>
                  <a:srgbClr val="5A6478"/>
                </a:solidFill>
                <a:latin typeface="Calibri"/>
              </a:rPr>
              <a:t>PEOPLE WITH ACCESS</a:t>
            </a:r>
          </a:p>
        </p:txBody>
      </p:sp>
      <p:sp>
        <p:nvSpPr>
          <p:cNvPr id="15" name="Rectangle 14"/>
          <p:cNvSpPr/>
          <p:nvPr/>
        </p:nvSpPr>
        <p:spPr>
          <a:xfrm>
            <a:off x="566928" y="2587752"/>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2587752"/>
            <a:ext cx="45720" cy="8412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2788920"/>
            <a:ext cx="457200" cy="457200"/>
          </a:xfrm>
          <a:prstGeom prst="rect">
            <a:avLst/>
          </a:prstGeom>
          <a:noFill/>
        </p:spPr>
        <p:txBody>
          <a:bodyPr wrap="square" lIns="0" rIns="0" tIns="0" bIns="0" anchor="t">
            <a:spAutoFit/>
          </a:bodyPr>
          <a:lstStyle/>
          <a:p>
            <a:pPr algn="l"/>
            <a:r>
              <a:rPr sz="2200" b="1">
                <a:solidFill>
                  <a:srgbClr val="1E2761"/>
                </a:solidFill>
                <a:latin typeface="Cambria"/>
              </a:rPr>
              <a:t>2</a:t>
            </a:r>
          </a:p>
        </p:txBody>
      </p:sp>
      <p:sp>
        <p:nvSpPr>
          <p:cNvPr id="18" name="TextBox 17"/>
          <p:cNvSpPr txBox="1"/>
          <p:nvPr/>
        </p:nvSpPr>
        <p:spPr>
          <a:xfrm>
            <a:off x="1435608" y="2734056"/>
            <a:ext cx="4937760" cy="292608"/>
          </a:xfrm>
          <a:prstGeom prst="rect">
            <a:avLst/>
          </a:prstGeom>
          <a:noFill/>
        </p:spPr>
        <p:txBody>
          <a:bodyPr wrap="square" lIns="0" rIns="0" tIns="0" bIns="0" anchor="t">
            <a:spAutoFit/>
          </a:bodyPr>
          <a:lstStyle/>
          <a:p>
            <a:pPr algn="l"/>
            <a:r>
              <a:rPr sz="1500" b="1">
                <a:solidFill>
                  <a:srgbClr val="16203F"/>
                </a:solidFill>
                <a:latin typeface="Cambria"/>
              </a:rPr>
              <a:t>Staff headcount</a:t>
            </a:r>
          </a:p>
        </p:txBody>
      </p:sp>
      <p:sp>
        <p:nvSpPr>
          <p:cNvPr id="19" name="TextBox 18"/>
          <p:cNvSpPr txBox="1"/>
          <p:nvPr/>
        </p:nvSpPr>
        <p:spPr>
          <a:xfrm>
            <a:off x="1435608" y="3063240"/>
            <a:ext cx="5303520" cy="256032"/>
          </a:xfrm>
          <a:prstGeom prst="rect">
            <a:avLst/>
          </a:prstGeom>
          <a:noFill/>
        </p:spPr>
        <p:txBody>
          <a:bodyPr wrap="square" lIns="0" rIns="0" tIns="0" bIns="0" anchor="t">
            <a:spAutoFit/>
          </a:bodyPr>
          <a:lstStyle/>
          <a:p>
            <a:pPr algn="l"/>
            <a:r>
              <a:rPr sz="1050" b="0">
                <a:solidFill>
                  <a:srgbClr val="5A6478"/>
                </a:solidFill>
                <a:latin typeface="Calibri"/>
              </a:rPr>
              <a:t>Who is on file across the six companies</a:t>
            </a:r>
          </a:p>
        </p:txBody>
      </p:sp>
      <p:sp>
        <p:nvSpPr>
          <p:cNvPr id="20" name="TextBox 19"/>
          <p:cNvSpPr txBox="1"/>
          <p:nvPr/>
        </p:nvSpPr>
        <p:spPr>
          <a:xfrm>
            <a:off x="8705088" y="2715768"/>
            <a:ext cx="2651760" cy="457200"/>
          </a:xfrm>
          <a:prstGeom prst="rect">
            <a:avLst/>
          </a:prstGeom>
          <a:noFill/>
        </p:spPr>
        <p:txBody>
          <a:bodyPr wrap="square" lIns="0" rIns="0" tIns="0" bIns="0" anchor="t">
            <a:spAutoFit/>
          </a:bodyPr>
          <a:lstStyle/>
          <a:p>
            <a:pPr algn="r"/>
            <a:r>
              <a:rPr sz="2400" b="1">
                <a:solidFill>
                  <a:srgbClr val="1E2761"/>
                </a:solidFill>
                <a:latin typeface="Cambria"/>
              </a:rPr>
              <a:t>745</a:t>
            </a:r>
          </a:p>
        </p:txBody>
      </p:sp>
      <p:sp>
        <p:nvSpPr>
          <p:cNvPr id="21" name="TextBox 20"/>
          <p:cNvSpPr txBox="1"/>
          <p:nvPr/>
        </p:nvSpPr>
        <p:spPr>
          <a:xfrm>
            <a:off x="8705088" y="3118104"/>
            <a:ext cx="2651760" cy="237744"/>
          </a:xfrm>
          <a:prstGeom prst="rect">
            <a:avLst/>
          </a:prstGeom>
          <a:noFill/>
        </p:spPr>
        <p:txBody>
          <a:bodyPr wrap="square" lIns="0" rIns="0" tIns="0" bIns="0" anchor="t">
            <a:spAutoFit/>
          </a:bodyPr>
          <a:lstStyle/>
          <a:p>
            <a:pPr algn="r"/>
            <a:r>
              <a:rPr sz="850" b="1">
                <a:solidFill>
                  <a:srgbClr val="5A6478"/>
                </a:solidFill>
                <a:latin typeface="Calibri"/>
              </a:rPr>
              <a:t>ACTIVE STAFF</a:t>
            </a:r>
          </a:p>
        </p:txBody>
      </p:sp>
      <p:sp>
        <p:nvSpPr>
          <p:cNvPr id="22" name="Rectangle 21"/>
          <p:cNvSpPr/>
          <p:nvPr/>
        </p:nvSpPr>
        <p:spPr>
          <a:xfrm>
            <a:off x="566928" y="3529584"/>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529584"/>
            <a:ext cx="45720" cy="8412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 y="3730752"/>
            <a:ext cx="457200" cy="457200"/>
          </a:xfrm>
          <a:prstGeom prst="rect">
            <a:avLst/>
          </a:prstGeom>
          <a:noFill/>
        </p:spPr>
        <p:txBody>
          <a:bodyPr wrap="square" lIns="0" rIns="0" tIns="0" bIns="0" anchor="t">
            <a:spAutoFit/>
          </a:bodyPr>
          <a:lstStyle/>
          <a:p>
            <a:pPr algn="l"/>
            <a:r>
              <a:rPr sz="2200" b="1">
                <a:solidFill>
                  <a:srgbClr val="F9A825"/>
                </a:solidFill>
                <a:latin typeface="Cambria"/>
              </a:rPr>
              <a:t>3</a:t>
            </a:r>
          </a:p>
        </p:txBody>
      </p:sp>
      <p:sp>
        <p:nvSpPr>
          <p:cNvPr id="25" name="TextBox 24"/>
          <p:cNvSpPr txBox="1"/>
          <p:nvPr/>
        </p:nvSpPr>
        <p:spPr>
          <a:xfrm>
            <a:off x="1435608" y="3675888"/>
            <a:ext cx="4937760" cy="292608"/>
          </a:xfrm>
          <a:prstGeom prst="rect">
            <a:avLst/>
          </a:prstGeom>
          <a:noFill/>
        </p:spPr>
        <p:txBody>
          <a:bodyPr wrap="square" lIns="0" rIns="0" tIns="0" bIns="0" anchor="t">
            <a:spAutoFit/>
          </a:bodyPr>
          <a:lstStyle/>
          <a:p>
            <a:pPr algn="l"/>
            <a:r>
              <a:rPr sz="1500" b="1">
                <a:solidFill>
                  <a:srgbClr val="16203F"/>
                </a:solidFill>
                <a:latin typeface="Cambria"/>
              </a:rPr>
              <a:t>Job spec approval</a:t>
            </a:r>
          </a:p>
        </p:txBody>
      </p:sp>
      <p:sp>
        <p:nvSpPr>
          <p:cNvPr id="26" name="TextBox 25"/>
          <p:cNvSpPr txBox="1"/>
          <p:nvPr/>
        </p:nvSpPr>
        <p:spPr>
          <a:xfrm>
            <a:off x="1435608" y="4005072"/>
            <a:ext cx="5303520" cy="256032"/>
          </a:xfrm>
          <a:prstGeom prst="rect">
            <a:avLst/>
          </a:prstGeom>
          <a:noFill/>
        </p:spPr>
        <p:txBody>
          <a:bodyPr wrap="square" lIns="0" rIns="0" tIns="0" bIns="0" anchor="t">
            <a:spAutoFit/>
          </a:bodyPr>
          <a:lstStyle/>
          <a:p>
            <a:pPr algn="l"/>
            <a:r>
              <a:rPr sz="1050" b="0">
                <a:solidFill>
                  <a:srgbClr val="5A6478"/>
                </a:solidFill>
                <a:latin typeface="Calibri"/>
              </a:rPr>
              <a:t>Where the approval backlog sits</a:t>
            </a:r>
          </a:p>
        </p:txBody>
      </p:sp>
      <p:sp>
        <p:nvSpPr>
          <p:cNvPr id="27" name="TextBox 26"/>
          <p:cNvSpPr txBox="1"/>
          <p:nvPr/>
        </p:nvSpPr>
        <p:spPr>
          <a:xfrm>
            <a:off x="8705088" y="3657600"/>
            <a:ext cx="2651760" cy="457200"/>
          </a:xfrm>
          <a:prstGeom prst="rect">
            <a:avLst/>
          </a:prstGeom>
          <a:noFill/>
        </p:spPr>
        <p:txBody>
          <a:bodyPr wrap="square" lIns="0" rIns="0" tIns="0" bIns="0" anchor="t">
            <a:spAutoFit/>
          </a:bodyPr>
          <a:lstStyle/>
          <a:p>
            <a:pPr algn="r"/>
            <a:r>
              <a:rPr sz="2400" b="1">
                <a:solidFill>
                  <a:srgbClr val="F9A825"/>
                </a:solidFill>
                <a:latin typeface="Cambria"/>
              </a:rPr>
              <a:t>28%</a:t>
            </a:r>
          </a:p>
        </p:txBody>
      </p:sp>
      <p:sp>
        <p:nvSpPr>
          <p:cNvPr id="28" name="TextBox 27"/>
          <p:cNvSpPr txBox="1"/>
          <p:nvPr/>
        </p:nvSpPr>
        <p:spPr>
          <a:xfrm>
            <a:off x="8705088" y="4059936"/>
            <a:ext cx="2651760" cy="237744"/>
          </a:xfrm>
          <a:prstGeom prst="rect">
            <a:avLst/>
          </a:prstGeom>
          <a:noFill/>
        </p:spPr>
        <p:txBody>
          <a:bodyPr wrap="square" lIns="0" rIns="0" tIns="0" bIns="0" anchor="t">
            <a:spAutoFit/>
          </a:bodyPr>
          <a:lstStyle/>
          <a:p>
            <a:pPr algn="r"/>
            <a:r>
              <a:rPr sz="850" b="1">
                <a:solidFill>
                  <a:srgbClr val="5A6478"/>
                </a:solidFill>
                <a:latin typeface="Calibri"/>
              </a:rPr>
              <a:t>VERSIONS APPROVED</a:t>
            </a:r>
          </a:p>
        </p:txBody>
      </p:sp>
      <p:sp>
        <p:nvSpPr>
          <p:cNvPr id="29" name="Rectangle 28"/>
          <p:cNvSpPr/>
          <p:nvPr/>
        </p:nvSpPr>
        <p:spPr>
          <a:xfrm>
            <a:off x="566928" y="4471416"/>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471416"/>
            <a:ext cx="45720" cy="8412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7824" y="4672584"/>
            <a:ext cx="457200" cy="457200"/>
          </a:xfrm>
          <a:prstGeom prst="rect">
            <a:avLst/>
          </a:prstGeom>
          <a:noFill/>
        </p:spPr>
        <p:txBody>
          <a:bodyPr wrap="square" lIns="0" rIns="0" tIns="0" bIns="0" anchor="t">
            <a:spAutoFit/>
          </a:bodyPr>
          <a:lstStyle/>
          <a:p>
            <a:pPr algn="l"/>
            <a:r>
              <a:rPr sz="2200" b="1">
                <a:solidFill>
                  <a:srgbClr val="2E7D32"/>
                </a:solidFill>
                <a:latin typeface="Cambria"/>
              </a:rPr>
              <a:t>4</a:t>
            </a:r>
          </a:p>
        </p:txBody>
      </p:sp>
      <p:sp>
        <p:nvSpPr>
          <p:cNvPr id="32" name="TextBox 31"/>
          <p:cNvSpPr txBox="1"/>
          <p:nvPr/>
        </p:nvSpPr>
        <p:spPr>
          <a:xfrm>
            <a:off x="1435608" y="4617720"/>
            <a:ext cx="4937760" cy="292608"/>
          </a:xfrm>
          <a:prstGeom prst="rect">
            <a:avLst/>
          </a:prstGeom>
          <a:noFill/>
        </p:spPr>
        <p:txBody>
          <a:bodyPr wrap="square" lIns="0" rIns="0" tIns="0" bIns="0" anchor="t">
            <a:spAutoFit/>
          </a:bodyPr>
          <a:lstStyle/>
          <a:p>
            <a:pPr algn="l"/>
            <a:r>
              <a:rPr sz="1500" b="1">
                <a:solidFill>
                  <a:srgbClr val="16203F"/>
                </a:solidFill>
                <a:latin typeface="Cambria"/>
              </a:rPr>
              <a:t>Merit / Demerit</a:t>
            </a:r>
          </a:p>
        </p:txBody>
      </p:sp>
      <p:sp>
        <p:nvSpPr>
          <p:cNvPr id="33" name="TextBox 32"/>
          <p:cNvSpPr txBox="1"/>
          <p:nvPr/>
        </p:nvSpPr>
        <p:spPr>
          <a:xfrm>
            <a:off x="1435608" y="4946904"/>
            <a:ext cx="5303520" cy="256032"/>
          </a:xfrm>
          <a:prstGeom prst="rect">
            <a:avLst/>
          </a:prstGeom>
          <a:noFill/>
        </p:spPr>
        <p:txBody>
          <a:bodyPr wrap="square" lIns="0" rIns="0" tIns="0" bIns="0" anchor="t">
            <a:spAutoFit/>
          </a:bodyPr>
          <a:lstStyle/>
          <a:p>
            <a:pPr algn="l"/>
            <a:r>
              <a:rPr sz="1050" b="0">
                <a:solidFill>
                  <a:srgbClr val="5A6478"/>
                </a:solidFill>
                <a:latin typeface="Calibri"/>
              </a:rPr>
              <a:t>Who is using the recognition tool</a:t>
            </a:r>
          </a:p>
        </p:txBody>
      </p:sp>
      <p:sp>
        <p:nvSpPr>
          <p:cNvPr id="34" name="TextBox 33"/>
          <p:cNvSpPr txBox="1"/>
          <p:nvPr/>
        </p:nvSpPr>
        <p:spPr>
          <a:xfrm>
            <a:off x="8705088" y="4599432"/>
            <a:ext cx="2651760" cy="457200"/>
          </a:xfrm>
          <a:prstGeom prst="rect">
            <a:avLst/>
          </a:prstGeom>
          <a:noFill/>
        </p:spPr>
        <p:txBody>
          <a:bodyPr wrap="square" lIns="0" rIns="0" tIns="0" bIns="0" anchor="t">
            <a:spAutoFit/>
          </a:bodyPr>
          <a:lstStyle/>
          <a:p>
            <a:pPr algn="r"/>
            <a:r>
              <a:rPr sz="2400" b="1">
                <a:solidFill>
                  <a:srgbClr val="2E7D32"/>
                </a:solidFill>
                <a:latin typeface="Cambria"/>
              </a:rPr>
              <a:t>1,207</a:t>
            </a:r>
          </a:p>
        </p:txBody>
      </p:sp>
      <p:sp>
        <p:nvSpPr>
          <p:cNvPr id="35" name="TextBox 34"/>
          <p:cNvSpPr txBox="1"/>
          <p:nvPr/>
        </p:nvSpPr>
        <p:spPr>
          <a:xfrm>
            <a:off x="8705088" y="5001768"/>
            <a:ext cx="2651760" cy="237744"/>
          </a:xfrm>
          <a:prstGeom prst="rect">
            <a:avLst/>
          </a:prstGeom>
          <a:noFill/>
        </p:spPr>
        <p:txBody>
          <a:bodyPr wrap="square" lIns="0" rIns="0" tIns="0" bIns="0" anchor="t">
            <a:spAutoFit/>
          </a:bodyPr>
          <a:lstStyle/>
          <a:p>
            <a:pPr algn="r"/>
            <a:r>
              <a:rPr sz="850" b="1">
                <a:solidFill>
                  <a:srgbClr val="5A6478"/>
                </a:solidFill>
                <a:latin typeface="Calibri"/>
              </a:rPr>
              <a:t>RECORDS ISSUED</a:t>
            </a:r>
          </a:p>
        </p:txBody>
      </p:sp>
      <p:sp>
        <p:nvSpPr>
          <p:cNvPr id="36" name="Rectangle 35"/>
          <p:cNvSpPr/>
          <p:nvPr/>
        </p:nvSpPr>
        <p:spPr>
          <a:xfrm>
            <a:off x="566928" y="5413248"/>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5413248"/>
            <a:ext cx="45720" cy="8412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7824" y="5614416"/>
            <a:ext cx="457200" cy="457200"/>
          </a:xfrm>
          <a:prstGeom prst="rect">
            <a:avLst/>
          </a:prstGeom>
          <a:noFill/>
        </p:spPr>
        <p:txBody>
          <a:bodyPr wrap="square" lIns="0" rIns="0" tIns="0" bIns="0" anchor="t">
            <a:spAutoFit/>
          </a:bodyPr>
          <a:lstStyle/>
          <a:p>
            <a:pPr algn="l"/>
            <a:r>
              <a:rPr sz="2200" b="1">
                <a:solidFill>
                  <a:srgbClr val="2E7D32"/>
                </a:solidFill>
                <a:latin typeface="Cambria"/>
              </a:rPr>
              <a:t>5</a:t>
            </a:r>
          </a:p>
        </p:txBody>
      </p:sp>
      <p:sp>
        <p:nvSpPr>
          <p:cNvPr id="39" name="TextBox 38"/>
          <p:cNvSpPr txBox="1"/>
          <p:nvPr/>
        </p:nvSpPr>
        <p:spPr>
          <a:xfrm>
            <a:off x="1435608" y="5559552"/>
            <a:ext cx="4937760" cy="292608"/>
          </a:xfrm>
          <a:prstGeom prst="rect">
            <a:avLst/>
          </a:prstGeom>
          <a:noFill/>
        </p:spPr>
        <p:txBody>
          <a:bodyPr wrap="square" lIns="0" rIns="0" tIns="0" bIns="0" anchor="t">
            <a:spAutoFit/>
          </a:bodyPr>
          <a:lstStyle/>
          <a:p>
            <a:pPr algn="l"/>
            <a:r>
              <a:rPr sz="1500" b="1">
                <a:solidFill>
                  <a:srgbClr val="16203F"/>
                </a:solidFill>
                <a:latin typeface="Cambria"/>
              </a:rPr>
              <a:t>Memo activity</a:t>
            </a:r>
          </a:p>
        </p:txBody>
      </p:sp>
      <p:sp>
        <p:nvSpPr>
          <p:cNvPr id="40" name="TextBox 39"/>
          <p:cNvSpPr txBox="1"/>
          <p:nvPr/>
        </p:nvSpPr>
        <p:spPr>
          <a:xfrm>
            <a:off x="1435608" y="5888736"/>
            <a:ext cx="5303520" cy="256032"/>
          </a:xfrm>
          <a:prstGeom prst="rect">
            <a:avLst/>
          </a:prstGeom>
          <a:noFill/>
        </p:spPr>
        <p:txBody>
          <a:bodyPr wrap="square" lIns="0" rIns="0" tIns="0" bIns="0" anchor="t">
            <a:spAutoFit/>
          </a:bodyPr>
          <a:lstStyle/>
          <a:p>
            <a:pPr algn="l"/>
            <a:r>
              <a:rPr sz="1050" b="0">
                <a:solidFill>
                  <a:srgbClr val="5A6478"/>
                </a:solidFill>
                <a:latin typeface="Calibri"/>
              </a:rPr>
              <a:t>Is the group-wide broadcast back in use?</a:t>
            </a:r>
          </a:p>
        </p:txBody>
      </p:sp>
      <p:sp>
        <p:nvSpPr>
          <p:cNvPr id="41" name="TextBox 40"/>
          <p:cNvSpPr txBox="1"/>
          <p:nvPr/>
        </p:nvSpPr>
        <p:spPr>
          <a:xfrm>
            <a:off x="8705088" y="5541264"/>
            <a:ext cx="2651760" cy="457200"/>
          </a:xfrm>
          <a:prstGeom prst="rect">
            <a:avLst/>
          </a:prstGeom>
          <a:noFill/>
        </p:spPr>
        <p:txBody>
          <a:bodyPr wrap="square" lIns="0" rIns="0" tIns="0" bIns="0" anchor="t">
            <a:spAutoFit/>
          </a:bodyPr>
          <a:lstStyle/>
          <a:p>
            <a:pPr algn="r"/>
            <a:r>
              <a:rPr sz="2400" b="1">
                <a:solidFill>
                  <a:srgbClr val="2E7D32"/>
                </a:solidFill>
                <a:latin typeface="Cambria"/>
              </a:rPr>
              <a:t>9</a:t>
            </a:r>
          </a:p>
        </p:txBody>
      </p:sp>
      <p:sp>
        <p:nvSpPr>
          <p:cNvPr id="42" name="TextBox 41"/>
          <p:cNvSpPr txBox="1"/>
          <p:nvPr/>
        </p:nvSpPr>
        <p:spPr>
          <a:xfrm>
            <a:off x="8705088" y="5943600"/>
            <a:ext cx="2651760" cy="237744"/>
          </a:xfrm>
          <a:prstGeom prst="rect">
            <a:avLst/>
          </a:prstGeom>
          <a:noFill/>
        </p:spPr>
        <p:txBody>
          <a:bodyPr wrap="square" lIns="0" rIns="0" tIns="0" bIns="0" anchor="t">
            <a:spAutoFit/>
          </a:bodyPr>
          <a:lstStyle/>
          <a:p>
            <a:pPr algn="r"/>
            <a:r>
              <a:rPr sz="850" b="1">
                <a:solidFill>
                  <a:srgbClr val="5A6478"/>
                </a:solidFill>
                <a:latin typeface="Calibri"/>
              </a:rPr>
              <a:t>SENT IN 2026</a:t>
            </a:r>
          </a:p>
        </p:txBody>
      </p:sp>
      <p:sp>
        <p:nvSpPr>
          <p:cNvPr id="43" name="TextBox 42"/>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All figures re-queried from the live system on 12 Oct 2026. Staff and general worker counts on the same basis as the MK Command staff overview page; job spec figures on the same basis as the application's own approval report. General workers now include Arus Sawit, which earlier reviews left out of scope.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ONE</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Ownership</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Who can run this in each company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1 · OWNERSHIP</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Ownership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4 with whole-group access and 10 company administrators across seven companies. Each list leads with that company's owner — the name to go to first.</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591056"/>
            <a:ext cx="8229600" cy="274320"/>
          </a:xfrm>
          <a:prstGeom prst="rect">
            <a:avLst/>
          </a:prstGeom>
          <a:noFill/>
        </p:spPr>
        <p:txBody>
          <a:bodyPr wrap="square" lIns="0" rIns="0" tIns="0" bIns="0" anchor="t">
            <a:spAutoFit/>
          </a:bodyPr>
          <a:lstStyle/>
          <a:p>
            <a:pPr algn="l"/>
            <a:r>
              <a:rPr sz="1400" b="1">
                <a:solidFill>
                  <a:srgbClr val="1E2761"/>
                </a:solidFill>
                <a:latin typeface="Cambria"/>
              </a:rPr>
              <a:t>Whole group access</a:t>
            </a:r>
            <a:r>
              <a:rPr sz="1100" b="0">
                <a:solidFill>
                  <a:srgbClr val="5A6478"/>
                </a:solidFill>
                <a:latin typeface="Calibri"/>
              </a:rPr>
              <a:t>   —  can act on any company</a:t>
            </a:r>
          </a:p>
        </p:txBody>
      </p:sp>
      <p:sp>
        <p:nvSpPr>
          <p:cNvPr id="9" name="Rectangle 8"/>
          <p:cNvSpPr/>
          <p:nvPr/>
        </p:nvSpPr>
        <p:spPr>
          <a:xfrm>
            <a:off x="566928" y="1938528"/>
            <a:ext cx="2615184" cy="786384"/>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938528"/>
            <a:ext cx="45720" cy="7863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011680"/>
            <a:ext cx="2304288" cy="237744"/>
          </a:xfrm>
          <a:prstGeom prst="rect">
            <a:avLst/>
          </a:prstGeom>
          <a:noFill/>
        </p:spPr>
        <p:txBody>
          <a:bodyPr wrap="square" lIns="0" rIns="0" tIns="0" bIns="0" anchor="t">
            <a:spAutoFit/>
          </a:bodyPr>
          <a:lstStyle/>
          <a:p>
            <a:pPr algn="l"/>
            <a:r>
              <a:rPr sz="1150" b="1">
                <a:solidFill>
                  <a:srgbClr val="16203F"/>
                </a:solidFill>
                <a:latin typeface="Cambria"/>
              </a:rPr>
              <a:t>Chua Shin Fun @ Kevin Chua</a:t>
            </a:r>
          </a:p>
        </p:txBody>
      </p:sp>
      <p:sp>
        <p:nvSpPr>
          <p:cNvPr id="12" name="TextBox 11"/>
          <p:cNvSpPr txBox="1"/>
          <p:nvPr/>
        </p:nvSpPr>
        <p:spPr>
          <a:xfrm>
            <a:off x="749808" y="2276856"/>
            <a:ext cx="2304288" cy="219456"/>
          </a:xfrm>
          <a:prstGeom prst="rect">
            <a:avLst/>
          </a:prstGeom>
          <a:noFill/>
        </p:spPr>
        <p:txBody>
          <a:bodyPr wrap="square" lIns="0" rIns="0" tIns="0" bIns="0" anchor="t">
            <a:spAutoFit/>
          </a:bodyPr>
          <a:lstStyle/>
          <a:p>
            <a:pPr algn="l"/>
            <a:r>
              <a:rPr sz="950" b="0">
                <a:solidFill>
                  <a:srgbClr val="5A6478"/>
                </a:solidFill>
                <a:latin typeface="Calibri"/>
              </a:rPr>
              <a:t>IT Manager</a:t>
            </a:r>
          </a:p>
        </p:txBody>
      </p:sp>
      <p:sp>
        <p:nvSpPr>
          <p:cNvPr id="13" name="TextBox 12"/>
          <p:cNvSpPr txBox="1"/>
          <p:nvPr/>
        </p:nvSpPr>
        <p:spPr>
          <a:xfrm>
            <a:off x="749808" y="2487168"/>
            <a:ext cx="2304288" cy="201168"/>
          </a:xfrm>
          <a:prstGeom prst="rect">
            <a:avLst/>
          </a:prstGeom>
          <a:noFill/>
        </p:spPr>
        <p:txBody>
          <a:bodyPr wrap="square" lIns="0" rIns="0" tIns="0" bIns="0" anchor="t">
            <a:spAutoFit/>
          </a:bodyPr>
          <a:lstStyle/>
          <a:p>
            <a:pPr algn="l"/>
            <a:r>
              <a:rPr sz="850" b="1">
                <a:solidFill>
                  <a:srgbClr val="1E2761"/>
                </a:solidFill>
                <a:latin typeface="Calibri"/>
              </a:rPr>
              <a:t>GLOBINACO</a:t>
            </a:r>
          </a:p>
        </p:txBody>
      </p:sp>
      <p:sp>
        <p:nvSpPr>
          <p:cNvPr id="14" name="Rectangle 13"/>
          <p:cNvSpPr/>
          <p:nvPr/>
        </p:nvSpPr>
        <p:spPr>
          <a:xfrm>
            <a:off x="3383280" y="1938528"/>
            <a:ext cx="2615184" cy="786384"/>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1938528"/>
            <a:ext cx="45720" cy="7863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6160" y="2011680"/>
            <a:ext cx="2304288" cy="237744"/>
          </a:xfrm>
          <a:prstGeom prst="rect">
            <a:avLst/>
          </a:prstGeom>
          <a:noFill/>
        </p:spPr>
        <p:txBody>
          <a:bodyPr wrap="square" lIns="0" rIns="0" tIns="0" bIns="0" anchor="t">
            <a:spAutoFit/>
          </a:bodyPr>
          <a:lstStyle/>
          <a:p>
            <a:pPr algn="l"/>
            <a:r>
              <a:rPr sz="1150" b="1">
                <a:solidFill>
                  <a:srgbClr val="16203F"/>
                </a:solidFill>
                <a:latin typeface="Cambria"/>
              </a:rPr>
              <a:t>Siti Khadijah Binti Kabul</a:t>
            </a:r>
          </a:p>
        </p:txBody>
      </p:sp>
      <p:sp>
        <p:nvSpPr>
          <p:cNvPr id="17" name="TextBox 16"/>
          <p:cNvSpPr txBox="1"/>
          <p:nvPr/>
        </p:nvSpPr>
        <p:spPr>
          <a:xfrm>
            <a:off x="3566160" y="2276856"/>
            <a:ext cx="2304288" cy="219456"/>
          </a:xfrm>
          <a:prstGeom prst="rect">
            <a:avLst/>
          </a:prstGeom>
          <a:noFill/>
        </p:spPr>
        <p:txBody>
          <a:bodyPr wrap="square" lIns="0" rIns="0" tIns="0" bIns="0" anchor="t">
            <a:spAutoFit/>
          </a:bodyPr>
          <a:lstStyle/>
          <a:p>
            <a:pPr algn="l"/>
            <a:r>
              <a:rPr sz="950" b="0">
                <a:solidFill>
                  <a:srgbClr val="5A6478"/>
                </a:solidFill>
                <a:latin typeface="Calibri"/>
              </a:rPr>
              <a:t>Web Programmer</a:t>
            </a:r>
          </a:p>
        </p:txBody>
      </p:sp>
      <p:sp>
        <p:nvSpPr>
          <p:cNvPr id="18" name="TextBox 17"/>
          <p:cNvSpPr txBox="1"/>
          <p:nvPr/>
        </p:nvSpPr>
        <p:spPr>
          <a:xfrm>
            <a:off x="3566160" y="2487168"/>
            <a:ext cx="2304288" cy="201168"/>
          </a:xfrm>
          <a:prstGeom prst="rect">
            <a:avLst/>
          </a:prstGeom>
          <a:noFill/>
        </p:spPr>
        <p:txBody>
          <a:bodyPr wrap="square" lIns="0" rIns="0" tIns="0" bIns="0" anchor="t">
            <a:spAutoFit/>
          </a:bodyPr>
          <a:lstStyle/>
          <a:p>
            <a:pPr algn="l"/>
            <a:r>
              <a:rPr sz="850" b="1">
                <a:solidFill>
                  <a:srgbClr val="1E2761"/>
                </a:solidFill>
                <a:latin typeface="Calibri"/>
              </a:rPr>
              <a:t>GLOBINACO</a:t>
            </a:r>
          </a:p>
        </p:txBody>
      </p:sp>
      <p:sp>
        <p:nvSpPr>
          <p:cNvPr id="19" name="Rectangle 18"/>
          <p:cNvSpPr/>
          <p:nvPr/>
        </p:nvSpPr>
        <p:spPr>
          <a:xfrm>
            <a:off x="6199632" y="1938528"/>
            <a:ext cx="2615184" cy="786384"/>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9632" y="1938528"/>
            <a:ext cx="45720" cy="7863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2011680"/>
            <a:ext cx="2304288" cy="237744"/>
          </a:xfrm>
          <a:prstGeom prst="rect">
            <a:avLst/>
          </a:prstGeom>
          <a:noFill/>
        </p:spPr>
        <p:txBody>
          <a:bodyPr wrap="square" lIns="0" rIns="0" tIns="0" bIns="0" anchor="t">
            <a:spAutoFit/>
          </a:bodyPr>
          <a:lstStyle/>
          <a:p>
            <a:pPr algn="l"/>
            <a:r>
              <a:rPr sz="1150" b="1">
                <a:solidFill>
                  <a:srgbClr val="16203F"/>
                </a:solidFill>
                <a:latin typeface="Cambria"/>
              </a:rPr>
              <a:t>Soo Zhao Yuan Nathan</a:t>
            </a:r>
          </a:p>
        </p:txBody>
      </p:sp>
      <p:sp>
        <p:nvSpPr>
          <p:cNvPr id="22" name="TextBox 21"/>
          <p:cNvSpPr txBox="1"/>
          <p:nvPr/>
        </p:nvSpPr>
        <p:spPr>
          <a:xfrm>
            <a:off x="6382512" y="2276856"/>
            <a:ext cx="2304288" cy="219456"/>
          </a:xfrm>
          <a:prstGeom prst="rect">
            <a:avLst/>
          </a:prstGeom>
          <a:noFill/>
        </p:spPr>
        <p:txBody>
          <a:bodyPr wrap="square" lIns="0" rIns="0" tIns="0" bIns="0" anchor="t">
            <a:spAutoFit/>
          </a:bodyPr>
          <a:lstStyle/>
          <a:p>
            <a:pPr algn="l"/>
            <a:r>
              <a:rPr sz="950" b="0">
                <a:solidFill>
                  <a:srgbClr val="5A6478"/>
                </a:solidFill>
                <a:latin typeface="Calibri"/>
              </a:rPr>
              <a:t>Programmer</a:t>
            </a:r>
          </a:p>
        </p:txBody>
      </p:sp>
      <p:sp>
        <p:nvSpPr>
          <p:cNvPr id="23" name="TextBox 22"/>
          <p:cNvSpPr txBox="1"/>
          <p:nvPr/>
        </p:nvSpPr>
        <p:spPr>
          <a:xfrm>
            <a:off x="6382512" y="2487168"/>
            <a:ext cx="2304288" cy="201168"/>
          </a:xfrm>
          <a:prstGeom prst="rect">
            <a:avLst/>
          </a:prstGeom>
          <a:noFill/>
        </p:spPr>
        <p:txBody>
          <a:bodyPr wrap="square" lIns="0" rIns="0" tIns="0" bIns="0" anchor="t">
            <a:spAutoFit/>
          </a:bodyPr>
          <a:lstStyle/>
          <a:p>
            <a:pPr algn="l"/>
            <a:r>
              <a:rPr sz="850" b="1">
                <a:solidFill>
                  <a:srgbClr val="1E2761"/>
                </a:solidFill>
                <a:latin typeface="Calibri"/>
              </a:rPr>
              <a:t>GLOBINACO</a:t>
            </a:r>
          </a:p>
        </p:txBody>
      </p:sp>
      <p:sp>
        <p:nvSpPr>
          <p:cNvPr id="24" name="TextBox 23"/>
          <p:cNvSpPr txBox="1"/>
          <p:nvPr/>
        </p:nvSpPr>
        <p:spPr>
          <a:xfrm>
            <a:off x="566928" y="2944368"/>
            <a:ext cx="10515600" cy="274320"/>
          </a:xfrm>
          <a:prstGeom prst="rect">
            <a:avLst/>
          </a:prstGeom>
          <a:noFill/>
        </p:spPr>
        <p:txBody>
          <a:bodyPr wrap="square" lIns="0" rIns="0" tIns="0" bIns="0" anchor="t">
            <a:spAutoFit/>
          </a:bodyPr>
          <a:lstStyle/>
          <a:p>
            <a:pPr algn="l"/>
            <a:r>
              <a:rPr sz="1400" b="1">
                <a:solidFill>
                  <a:srgbClr val="1E2761"/>
                </a:solidFill>
                <a:latin typeface="Cambria"/>
              </a:rPr>
              <a:t>Company administrators</a:t>
            </a:r>
            <a:r>
              <a:rPr sz="1100" b="0">
                <a:solidFill>
                  <a:srgbClr val="5A6478"/>
                </a:solidFill>
                <a:latin typeface="Calibri"/>
              </a:rPr>
              <a:t>   —  can act on their own company only</a:t>
            </a:r>
          </a:p>
        </p:txBody>
      </p:sp>
      <p:sp>
        <p:nvSpPr>
          <p:cNvPr id="25" name="Rectangle 24"/>
          <p:cNvSpPr/>
          <p:nvPr/>
        </p:nvSpPr>
        <p:spPr>
          <a:xfrm>
            <a:off x="566928" y="3328416"/>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3328416"/>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3483864"/>
            <a:ext cx="2852927" cy="256032"/>
          </a:xfrm>
          <a:prstGeom prst="rect">
            <a:avLst/>
          </a:prstGeom>
          <a:noFill/>
        </p:spPr>
        <p:txBody>
          <a:bodyPr wrap="square" lIns="0" rIns="0" tIns="0" bIns="0" anchor="t">
            <a:spAutoFit/>
          </a:bodyPr>
          <a:lstStyle/>
          <a:p>
            <a:pPr algn="l"/>
            <a:r>
              <a:rPr sz="1300" b="1">
                <a:solidFill>
                  <a:srgbClr val="16203F"/>
                </a:solidFill>
                <a:latin typeface="Cambria"/>
              </a:rPr>
              <a:t>Globinaco</a:t>
            </a:r>
          </a:p>
        </p:txBody>
      </p:sp>
      <p:sp>
        <p:nvSpPr>
          <p:cNvPr id="28" name="TextBox 27"/>
          <p:cNvSpPr txBox="1"/>
          <p:nvPr/>
        </p:nvSpPr>
        <p:spPr>
          <a:xfrm>
            <a:off x="3310128" y="3465576"/>
            <a:ext cx="731520" cy="274320"/>
          </a:xfrm>
          <a:prstGeom prst="rect">
            <a:avLst/>
          </a:prstGeom>
          <a:noFill/>
        </p:spPr>
        <p:txBody>
          <a:bodyPr wrap="square" lIns="0" rIns="0" tIns="0" bIns="0" anchor="t">
            <a:spAutoFit/>
          </a:bodyPr>
          <a:lstStyle/>
          <a:p>
            <a:pPr algn="r"/>
            <a:r>
              <a:rPr sz="1500" b="1">
                <a:solidFill>
                  <a:srgbClr val="1E2761"/>
                </a:solidFill>
                <a:latin typeface="Cambria"/>
              </a:rPr>
              <a:t>2</a:t>
            </a:r>
          </a:p>
        </p:txBody>
      </p:sp>
      <p:sp>
        <p:nvSpPr>
          <p:cNvPr id="29" name="TextBox 28"/>
          <p:cNvSpPr txBox="1"/>
          <p:nvPr/>
        </p:nvSpPr>
        <p:spPr>
          <a:xfrm>
            <a:off x="768096" y="3840480"/>
            <a:ext cx="3310127" cy="219456"/>
          </a:xfrm>
          <a:prstGeom prst="rect">
            <a:avLst/>
          </a:prstGeom>
          <a:noFill/>
        </p:spPr>
        <p:txBody>
          <a:bodyPr wrap="square" lIns="0" rIns="0" tIns="0" bIns="0" anchor="t">
            <a:spAutoFit/>
          </a:bodyPr>
          <a:lstStyle/>
          <a:p>
            <a:pPr algn="l"/>
            <a:r>
              <a:rPr sz="1000" b="1">
                <a:solidFill>
                  <a:srgbClr val="16203F"/>
                </a:solidFill>
                <a:latin typeface="Calibri"/>
              </a:rPr>
              <a:t>Vincent Ng Tung Hau</a:t>
            </a:r>
            <a:r>
              <a:rPr sz="800" b="1">
                <a:solidFill>
                  <a:srgbClr val="F9A825"/>
                </a:solidFill>
                <a:latin typeface="Calibri"/>
              </a:rPr>
              <a:t>  OWNER</a:t>
            </a:r>
          </a:p>
        </p:txBody>
      </p:sp>
      <p:sp>
        <p:nvSpPr>
          <p:cNvPr id="30" name="TextBox 29"/>
          <p:cNvSpPr txBox="1"/>
          <p:nvPr/>
        </p:nvSpPr>
        <p:spPr>
          <a:xfrm>
            <a:off x="768096" y="4055364"/>
            <a:ext cx="3310127" cy="219456"/>
          </a:xfrm>
          <a:prstGeom prst="rect">
            <a:avLst/>
          </a:prstGeom>
          <a:noFill/>
        </p:spPr>
        <p:txBody>
          <a:bodyPr wrap="square" lIns="0" rIns="0" tIns="0" bIns="0" anchor="t">
            <a:spAutoFit/>
          </a:bodyPr>
          <a:lstStyle/>
          <a:p>
            <a:pPr algn="l"/>
            <a:r>
              <a:rPr sz="1000" b="0">
                <a:solidFill>
                  <a:srgbClr val="3A425C"/>
                </a:solidFill>
                <a:latin typeface="Calibri"/>
              </a:rPr>
              <a:t>Jeffrey Soo Yee Lieh</a:t>
            </a:r>
          </a:p>
        </p:txBody>
      </p:sp>
      <p:sp>
        <p:nvSpPr>
          <p:cNvPr id="31" name="Rectangle 30"/>
          <p:cNvSpPr/>
          <p:nvPr/>
        </p:nvSpPr>
        <p:spPr>
          <a:xfrm>
            <a:off x="4443983" y="3328416"/>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43983" y="3328416"/>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45151" y="3483864"/>
            <a:ext cx="2852927" cy="256032"/>
          </a:xfrm>
          <a:prstGeom prst="rect">
            <a:avLst/>
          </a:prstGeom>
          <a:noFill/>
        </p:spPr>
        <p:txBody>
          <a:bodyPr wrap="square" lIns="0" rIns="0" tIns="0" bIns="0" anchor="t">
            <a:spAutoFit/>
          </a:bodyPr>
          <a:lstStyle/>
          <a:p>
            <a:pPr algn="l"/>
            <a:r>
              <a:rPr sz="1300" b="1">
                <a:solidFill>
                  <a:srgbClr val="16203F"/>
                </a:solidFill>
                <a:latin typeface="Cambria"/>
              </a:rPr>
              <a:t>Arus Sawit</a:t>
            </a:r>
          </a:p>
        </p:txBody>
      </p:sp>
      <p:sp>
        <p:nvSpPr>
          <p:cNvPr id="34" name="TextBox 33"/>
          <p:cNvSpPr txBox="1"/>
          <p:nvPr/>
        </p:nvSpPr>
        <p:spPr>
          <a:xfrm>
            <a:off x="7187183" y="3465576"/>
            <a:ext cx="731520" cy="274320"/>
          </a:xfrm>
          <a:prstGeom prst="rect">
            <a:avLst/>
          </a:prstGeom>
          <a:noFill/>
        </p:spPr>
        <p:txBody>
          <a:bodyPr wrap="square" lIns="0" rIns="0" tIns="0" bIns="0" anchor="t">
            <a:spAutoFit/>
          </a:bodyPr>
          <a:lstStyle/>
          <a:p>
            <a:pPr algn="r"/>
            <a:r>
              <a:rPr sz="1500" b="1">
                <a:solidFill>
                  <a:srgbClr val="1E2761"/>
                </a:solidFill>
                <a:latin typeface="Cambria"/>
              </a:rPr>
              <a:t>2</a:t>
            </a:r>
          </a:p>
        </p:txBody>
      </p:sp>
      <p:sp>
        <p:nvSpPr>
          <p:cNvPr id="35" name="TextBox 34"/>
          <p:cNvSpPr txBox="1"/>
          <p:nvPr/>
        </p:nvSpPr>
        <p:spPr>
          <a:xfrm>
            <a:off x="4645151" y="3840480"/>
            <a:ext cx="3310127" cy="219456"/>
          </a:xfrm>
          <a:prstGeom prst="rect">
            <a:avLst/>
          </a:prstGeom>
          <a:noFill/>
        </p:spPr>
        <p:txBody>
          <a:bodyPr wrap="square" lIns="0" rIns="0" tIns="0" bIns="0" anchor="t">
            <a:spAutoFit/>
          </a:bodyPr>
          <a:lstStyle/>
          <a:p>
            <a:pPr algn="l"/>
            <a:r>
              <a:rPr sz="1000" b="1">
                <a:solidFill>
                  <a:srgbClr val="16203F"/>
                </a:solidFill>
                <a:latin typeface="Calibri"/>
              </a:rPr>
              <a:t>Asyraf bin Yahya</a:t>
            </a:r>
            <a:r>
              <a:rPr sz="800" b="1">
                <a:solidFill>
                  <a:srgbClr val="F9A825"/>
                </a:solidFill>
                <a:latin typeface="Calibri"/>
              </a:rPr>
              <a:t>  OWNER</a:t>
            </a:r>
          </a:p>
        </p:txBody>
      </p:sp>
      <p:sp>
        <p:nvSpPr>
          <p:cNvPr id="36" name="TextBox 35"/>
          <p:cNvSpPr txBox="1"/>
          <p:nvPr/>
        </p:nvSpPr>
        <p:spPr>
          <a:xfrm>
            <a:off x="4645151" y="4055364"/>
            <a:ext cx="3310127" cy="219456"/>
          </a:xfrm>
          <a:prstGeom prst="rect">
            <a:avLst/>
          </a:prstGeom>
          <a:noFill/>
        </p:spPr>
        <p:txBody>
          <a:bodyPr wrap="square" lIns="0" rIns="0" tIns="0" bIns="0" anchor="t">
            <a:spAutoFit/>
          </a:bodyPr>
          <a:lstStyle/>
          <a:p>
            <a:pPr algn="l"/>
            <a:r>
              <a:rPr sz="1000" b="0">
                <a:solidFill>
                  <a:srgbClr val="3A425C"/>
                </a:solidFill>
                <a:latin typeface="Calibri"/>
              </a:rPr>
              <a:t>Lim Chen Eng</a:t>
            </a:r>
          </a:p>
        </p:txBody>
      </p:sp>
      <p:sp>
        <p:nvSpPr>
          <p:cNvPr id="37" name="Rectangle 36"/>
          <p:cNvSpPr/>
          <p:nvPr/>
        </p:nvSpPr>
        <p:spPr>
          <a:xfrm>
            <a:off x="8321038" y="3328416"/>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21038" y="3328416"/>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22206" y="3483864"/>
            <a:ext cx="2852927" cy="256032"/>
          </a:xfrm>
          <a:prstGeom prst="rect">
            <a:avLst/>
          </a:prstGeom>
          <a:noFill/>
        </p:spPr>
        <p:txBody>
          <a:bodyPr wrap="square" lIns="0" rIns="0" tIns="0" bIns="0" anchor="t">
            <a:spAutoFit/>
          </a:bodyPr>
          <a:lstStyle/>
          <a:p>
            <a:pPr algn="l"/>
            <a:r>
              <a:rPr sz="1300" b="1">
                <a:solidFill>
                  <a:srgbClr val="16203F"/>
                </a:solidFill>
                <a:latin typeface="Cambria"/>
              </a:rPr>
              <a:t>Hotel Grandis</a:t>
            </a:r>
          </a:p>
        </p:txBody>
      </p:sp>
      <p:sp>
        <p:nvSpPr>
          <p:cNvPr id="40" name="TextBox 39"/>
          <p:cNvSpPr txBox="1"/>
          <p:nvPr/>
        </p:nvSpPr>
        <p:spPr>
          <a:xfrm>
            <a:off x="11064238" y="3465576"/>
            <a:ext cx="731520" cy="274320"/>
          </a:xfrm>
          <a:prstGeom prst="rect">
            <a:avLst/>
          </a:prstGeom>
          <a:noFill/>
        </p:spPr>
        <p:txBody>
          <a:bodyPr wrap="square" lIns="0" rIns="0" tIns="0" bIns="0" anchor="t">
            <a:spAutoFit/>
          </a:bodyPr>
          <a:lstStyle/>
          <a:p>
            <a:pPr algn="r"/>
            <a:r>
              <a:rPr sz="1500" b="1">
                <a:solidFill>
                  <a:srgbClr val="1E2761"/>
                </a:solidFill>
                <a:latin typeface="Cambria"/>
              </a:rPr>
              <a:t>1</a:t>
            </a:r>
          </a:p>
        </p:txBody>
      </p:sp>
      <p:sp>
        <p:nvSpPr>
          <p:cNvPr id="41" name="TextBox 40"/>
          <p:cNvSpPr txBox="1"/>
          <p:nvPr/>
        </p:nvSpPr>
        <p:spPr>
          <a:xfrm>
            <a:off x="8522206" y="3840480"/>
            <a:ext cx="3310127" cy="219456"/>
          </a:xfrm>
          <a:prstGeom prst="rect">
            <a:avLst/>
          </a:prstGeom>
          <a:noFill/>
        </p:spPr>
        <p:txBody>
          <a:bodyPr wrap="square" lIns="0" rIns="0" tIns="0" bIns="0" anchor="t">
            <a:spAutoFit/>
          </a:bodyPr>
          <a:lstStyle/>
          <a:p>
            <a:pPr algn="l"/>
            <a:r>
              <a:rPr sz="1000" b="1">
                <a:solidFill>
                  <a:srgbClr val="16203F"/>
                </a:solidFill>
                <a:latin typeface="Calibri"/>
              </a:rPr>
              <a:t>Natasha Beatta Gait</a:t>
            </a:r>
            <a:r>
              <a:rPr sz="800" b="1">
                <a:solidFill>
                  <a:srgbClr val="F9A825"/>
                </a:solidFill>
                <a:latin typeface="Calibri"/>
              </a:rPr>
              <a:t>  OWNER</a:t>
            </a:r>
          </a:p>
        </p:txBody>
      </p:sp>
      <p:sp>
        <p:nvSpPr>
          <p:cNvPr id="42" name="Rectangle 41"/>
          <p:cNvSpPr/>
          <p:nvPr/>
        </p:nvSpPr>
        <p:spPr>
          <a:xfrm>
            <a:off x="566928" y="4937760"/>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66928" y="4937760"/>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5093208"/>
            <a:ext cx="2852927" cy="256032"/>
          </a:xfrm>
          <a:prstGeom prst="rect">
            <a:avLst/>
          </a:prstGeom>
          <a:noFill/>
        </p:spPr>
        <p:txBody>
          <a:bodyPr wrap="square" lIns="0" rIns="0" tIns="0" bIns="0" anchor="t">
            <a:spAutoFit/>
          </a:bodyPr>
          <a:lstStyle/>
          <a:p>
            <a:pPr algn="l"/>
            <a:r>
              <a:rPr sz="1300" b="1">
                <a:solidFill>
                  <a:srgbClr val="16203F"/>
                </a:solidFill>
                <a:latin typeface="Cambria"/>
              </a:rPr>
              <a:t>TP Group</a:t>
            </a:r>
          </a:p>
        </p:txBody>
      </p:sp>
      <p:sp>
        <p:nvSpPr>
          <p:cNvPr id="45" name="TextBox 44"/>
          <p:cNvSpPr txBox="1"/>
          <p:nvPr/>
        </p:nvSpPr>
        <p:spPr>
          <a:xfrm>
            <a:off x="3310128" y="5074920"/>
            <a:ext cx="731520" cy="274320"/>
          </a:xfrm>
          <a:prstGeom prst="rect">
            <a:avLst/>
          </a:prstGeom>
          <a:noFill/>
        </p:spPr>
        <p:txBody>
          <a:bodyPr wrap="square" lIns="0" rIns="0" tIns="0" bIns="0" anchor="t">
            <a:spAutoFit/>
          </a:bodyPr>
          <a:lstStyle/>
          <a:p>
            <a:pPr algn="r"/>
            <a:r>
              <a:rPr sz="1500" b="1">
                <a:solidFill>
                  <a:srgbClr val="1E2761"/>
                </a:solidFill>
                <a:latin typeface="Cambria"/>
              </a:rPr>
              <a:t>1</a:t>
            </a:r>
          </a:p>
        </p:txBody>
      </p:sp>
      <p:sp>
        <p:nvSpPr>
          <p:cNvPr id="46" name="TextBox 45"/>
          <p:cNvSpPr txBox="1"/>
          <p:nvPr/>
        </p:nvSpPr>
        <p:spPr>
          <a:xfrm>
            <a:off x="768096" y="5449824"/>
            <a:ext cx="3310127" cy="219456"/>
          </a:xfrm>
          <a:prstGeom prst="rect">
            <a:avLst/>
          </a:prstGeom>
          <a:noFill/>
        </p:spPr>
        <p:txBody>
          <a:bodyPr wrap="square" lIns="0" rIns="0" tIns="0" bIns="0" anchor="t">
            <a:spAutoFit/>
          </a:bodyPr>
          <a:lstStyle/>
          <a:p>
            <a:pPr algn="l"/>
            <a:r>
              <a:rPr sz="1000" b="1">
                <a:solidFill>
                  <a:srgbClr val="16203F"/>
                </a:solidFill>
                <a:latin typeface="Calibri"/>
              </a:rPr>
              <a:t>Vun Nyet Lan</a:t>
            </a:r>
            <a:r>
              <a:rPr sz="800" b="1">
                <a:solidFill>
                  <a:srgbClr val="F9A825"/>
                </a:solidFill>
                <a:latin typeface="Calibri"/>
              </a:rPr>
              <a:t>  OWNER</a:t>
            </a:r>
          </a:p>
        </p:txBody>
      </p:sp>
      <p:sp>
        <p:nvSpPr>
          <p:cNvPr id="47" name="Rectangle 46"/>
          <p:cNvSpPr/>
          <p:nvPr/>
        </p:nvSpPr>
        <p:spPr>
          <a:xfrm>
            <a:off x="4443983" y="4937760"/>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443983" y="4937760"/>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45151" y="5093208"/>
            <a:ext cx="2852927" cy="256032"/>
          </a:xfrm>
          <a:prstGeom prst="rect">
            <a:avLst/>
          </a:prstGeom>
          <a:noFill/>
        </p:spPr>
        <p:txBody>
          <a:bodyPr wrap="square" lIns="0" rIns="0" tIns="0" bIns="0" anchor="t">
            <a:spAutoFit/>
          </a:bodyPr>
          <a:lstStyle/>
          <a:p>
            <a:pPr algn="l"/>
            <a:r>
              <a:rPr sz="1300" b="1">
                <a:solidFill>
                  <a:srgbClr val="16203F"/>
                </a:solidFill>
                <a:latin typeface="Cambria"/>
              </a:rPr>
              <a:t>AMC</a:t>
            </a:r>
          </a:p>
        </p:txBody>
      </p:sp>
      <p:sp>
        <p:nvSpPr>
          <p:cNvPr id="50" name="TextBox 49"/>
          <p:cNvSpPr txBox="1"/>
          <p:nvPr/>
        </p:nvSpPr>
        <p:spPr>
          <a:xfrm>
            <a:off x="7187183" y="5074920"/>
            <a:ext cx="731520" cy="274320"/>
          </a:xfrm>
          <a:prstGeom prst="rect">
            <a:avLst/>
          </a:prstGeom>
          <a:noFill/>
        </p:spPr>
        <p:txBody>
          <a:bodyPr wrap="square" lIns="0" rIns="0" tIns="0" bIns="0" anchor="t">
            <a:spAutoFit/>
          </a:bodyPr>
          <a:lstStyle/>
          <a:p>
            <a:pPr algn="r"/>
            <a:r>
              <a:rPr sz="1500" b="1">
                <a:solidFill>
                  <a:srgbClr val="1E2761"/>
                </a:solidFill>
                <a:latin typeface="Cambria"/>
              </a:rPr>
              <a:t>1</a:t>
            </a:r>
          </a:p>
        </p:txBody>
      </p:sp>
      <p:sp>
        <p:nvSpPr>
          <p:cNvPr id="51" name="TextBox 50"/>
          <p:cNvSpPr txBox="1"/>
          <p:nvPr/>
        </p:nvSpPr>
        <p:spPr>
          <a:xfrm>
            <a:off x="4645151" y="5449824"/>
            <a:ext cx="3310127" cy="219456"/>
          </a:xfrm>
          <a:prstGeom prst="rect">
            <a:avLst/>
          </a:prstGeom>
          <a:noFill/>
        </p:spPr>
        <p:txBody>
          <a:bodyPr wrap="square" lIns="0" rIns="0" tIns="0" bIns="0" anchor="t">
            <a:spAutoFit/>
          </a:bodyPr>
          <a:lstStyle/>
          <a:p>
            <a:pPr algn="l"/>
            <a:r>
              <a:rPr sz="1000" b="1">
                <a:solidFill>
                  <a:srgbClr val="16203F"/>
                </a:solidFill>
                <a:latin typeface="Calibri"/>
              </a:rPr>
              <a:t>Aqilla Dalinte</a:t>
            </a:r>
            <a:r>
              <a:rPr sz="800" b="1">
                <a:solidFill>
                  <a:srgbClr val="F9A825"/>
                </a:solidFill>
                <a:latin typeface="Calibri"/>
              </a:rPr>
              <a:t>  OWNER</a:t>
            </a:r>
          </a:p>
        </p:txBody>
      </p:sp>
      <p:sp>
        <p:nvSpPr>
          <p:cNvPr id="52" name="TextBox 51"/>
          <p:cNvSpPr txBox="1"/>
          <p:nvPr/>
        </p:nvSpPr>
        <p:spPr>
          <a:xfrm>
            <a:off x="4645151" y="5664708"/>
            <a:ext cx="3310127" cy="219456"/>
          </a:xfrm>
          <a:prstGeom prst="rect">
            <a:avLst/>
          </a:prstGeom>
          <a:noFill/>
        </p:spPr>
        <p:txBody>
          <a:bodyPr wrap="square" lIns="0" rIns="0" tIns="0" bIns="0" anchor="t">
            <a:spAutoFit/>
          </a:bodyPr>
          <a:lstStyle/>
          <a:p>
            <a:pPr algn="l"/>
            <a:r>
              <a:rPr sz="1000" b="0">
                <a:solidFill>
                  <a:srgbClr val="3A425C"/>
                </a:solidFill>
                <a:latin typeface="Calibri"/>
              </a:rPr>
              <a:t>Dr Pan</a:t>
            </a:r>
          </a:p>
        </p:txBody>
      </p:sp>
      <p:sp>
        <p:nvSpPr>
          <p:cNvPr id="53" name="Rectangle 52"/>
          <p:cNvSpPr/>
          <p:nvPr/>
        </p:nvSpPr>
        <p:spPr>
          <a:xfrm>
            <a:off x="8321038" y="4937760"/>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321038" y="4937760"/>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522206" y="5093208"/>
            <a:ext cx="2852927" cy="256032"/>
          </a:xfrm>
          <a:prstGeom prst="rect">
            <a:avLst/>
          </a:prstGeom>
          <a:noFill/>
        </p:spPr>
        <p:txBody>
          <a:bodyPr wrap="square" lIns="0" rIns="0" tIns="0" bIns="0" anchor="t">
            <a:spAutoFit/>
          </a:bodyPr>
          <a:lstStyle/>
          <a:p>
            <a:pPr algn="l"/>
            <a:r>
              <a:rPr sz="1300" b="1">
                <a:solidFill>
                  <a:srgbClr val="16203F"/>
                </a:solidFill>
                <a:latin typeface="Cambria"/>
              </a:rPr>
              <a:t>Likas Square</a:t>
            </a:r>
          </a:p>
        </p:txBody>
      </p:sp>
      <p:sp>
        <p:nvSpPr>
          <p:cNvPr id="56" name="TextBox 55"/>
          <p:cNvSpPr txBox="1"/>
          <p:nvPr/>
        </p:nvSpPr>
        <p:spPr>
          <a:xfrm>
            <a:off x="11064238" y="5074920"/>
            <a:ext cx="731520" cy="274320"/>
          </a:xfrm>
          <a:prstGeom prst="rect">
            <a:avLst/>
          </a:prstGeom>
          <a:noFill/>
        </p:spPr>
        <p:txBody>
          <a:bodyPr wrap="square" lIns="0" rIns="0" tIns="0" bIns="0" anchor="t">
            <a:spAutoFit/>
          </a:bodyPr>
          <a:lstStyle/>
          <a:p>
            <a:pPr algn="r"/>
            <a:r>
              <a:rPr sz="1500" b="1">
                <a:solidFill>
                  <a:srgbClr val="1E2761"/>
                </a:solidFill>
                <a:latin typeface="Cambria"/>
              </a:rPr>
              <a:t>1</a:t>
            </a:r>
          </a:p>
        </p:txBody>
      </p:sp>
      <p:sp>
        <p:nvSpPr>
          <p:cNvPr id="57" name="TextBox 56"/>
          <p:cNvSpPr txBox="1"/>
          <p:nvPr/>
        </p:nvSpPr>
        <p:spPr>
          <a:xfrm>
            <a:off x="8522206" y="5449824"/>
            <a:ext cx="3310127" cy="219456"/>
          </a:xfrm>
          <a:prstGeom prst="rect">
            <a:avLst/>
          </a:prstGeom>
          <a:noFill/>
        </p:spPr>
        <p:txBody>
          <a:bodyPr wrap="square" lIns="0" rIns="0" tIns="0" bIns="0" anchor="t">
            <a:spAutoFit/>
          </a:bodyPr>
          <a:lstStyle/>
          <a:p>
            <a:pPr algn="l"/>
            <a:r>
              <a:rPr sz="1000" b="1">
                <a:solidFill>
                  <a:srgbClr val="16203F"/>
                </a:solidFill>
                <a:latin typeface="Calibri"/>
              </a:rPr>
              <a:t>Fionne Foo Ka Kyun</a:t>
            </a:r>
            <a:r>
              <a:rPr sz="800" b="1">
                <a:solidFill>
                  <a:srgbClr val="F9A825"/>
                </a:solidFill>
                <a:latin typeface="Calibri"/>
              </a:rPr>
              <a:t>  OWNER</a:t>
            </a:r>
          </a:p>
        </p:txBody>
      </p:sp>
      <p:sp>
        <p:nvSpPr>
          <p:cNvPr id="58" name="TextBox 57"/>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Access grants read from the training system on 12 Oct 2026. Whole group = a grant that is not tied to one company; OWNER = the grant marked as that company's owner. The 35 people who can only assign training are a lesser right and are not counted here. Every company in this review holds at least one administrator.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TWO</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Staff Headcount</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Who is on file across the six companies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2 · GROUP SUMMARY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Staff headcount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745 active staff group-wide, and 937 general workers once Arus Sawit is counted.</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745</a:t>
            </a:r>
          </a:p>
        </p:txBody>
      </p:sp>
      <p:sp>
        <p:nvSpPr>
          <p:cNvPr id="11" name="TextBox 10"/>
          <p:cNvSpPr txBox="1"/>
          <p:nvPr/>
        </p:nvSpPr>
        <p:spPr>
          <a:xfrm>
            <a:off x="804672"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Active staff, group-wide</a:t>
            </a:r>
          </a:p>
        </p:txBody>
      </p:sp>
      <p:sp>
        <p:nvSpPr>
          <p:cNvPr id="12" name="TextBox 11"/>
          <p:cNvSpPr txBox="1"/>
          <p:nvPr/>
        </p:nvSpPr>
        <p:spPr>
          <a:xfrm>
            <a:off x="804672"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Everyone in service across the six companies, including the 16 exempt from KPI scoring.</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6996"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4740" y="1810512"/>
            <a:ext cx="2203704" cy="548640"/>
          </a:xfrm>
          <a:prstGeom prst="rect">
            <a:avLst/>
          </a:prstGeom>
          <a:noFill/>
        </p:spPr>
        <p:txBody>
          <a:bodyPr wrap="square" lIns="0" rIns="0" tIns="0" bIns="0" anchor="t">
            <a:spAutoFit/>
          </a:bodyPr>
          <a:lstStyle/>
          <a:p>
            <a:pPr algn="l"/>
            <a:r>
              <a:rPr sz="3400" b="1">
                <a:solidFill>
                  <a:srgbClr val="F9A825"/>
                </a:solidFill>
                <a:latin typeface="Cambria"/>
              </a:rPr>
              <a:t>937</a:t>
            </a:r>
          </a:p>
        </p:txBody>
      </p:sp>
      <p:sp>
        <p:nvSpPr>
          <p:cNvPr id="16" name="TextBox 15"/>
          <p:cNvSpPr txBox="1"/>
          <p:nvPr/>
        </p:nvSpPr>
        <p:spPr>
          <a:xfrm>
            <a:off x="3634740"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General workers</a:t>
            </a:r>
          </a:p>
        </p:txBody>
      </p:sp>
      <p:sp>
        <p:nvSpPr>
          <p:cNvPr id="17" name="TextBox 16"/>
          <p:cNvSpPr txBox="1"/>
          <p:nvPr/>
        </p:nvSpPr>
        <p:spPr>
          <a:xfrm>
            <a:off x="3634740"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352 at Globinaco and 585 at Arus Sawit. September counted Globinaco's only.</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1,682</a:t>
            </a:r>
          </a:p>
        </p:txBody>
      </p:sp>
      <p:sp>
        <p:nvSpPr>
          <p:cNvPr id="21" name="TextBox 20"/>
          <p:cNvSpPr txBox="1"/>
          <p:nvPr/>
        </p:nvSpPr>
        <p:spPr>
          <a:xfrm>
            <a:off x="6464808"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Total workforce on file</a:t>
            </a:r>
          </a:p>
        </p:txBody>
      </p:sp>
      <p:sp>
        <p:nvSpPr>
          <p:cNvPr id="22" name="TextBox 21"/>
          <p:cNvSpPr txBox="1"/>
          <p:nvPr/>
        </p:nvSpPr>
        <p:spPr>
          <a:xfrm>
            <a:off x="6464808"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Staff and general workers combined.</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7132" y="1627632"/>
            <a:ext cx="50292" cy="17830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4876" y="1810512"/>
            <a:ext cx="2203704" cy="548640"/>
          </a:xfrm>
          <a:prstGeom prst="rect">
            <a:avLst/>
          </a:prstGeom>
          <a:noFill/>
        </p:spPr>
        <p:txBody>
          <a:bodyPr wrap="square" lIns="0" rIns="0" tIns="0" bIns="0" anchor="t">
            <a:spAutoFit/>
          </a:bodyPr>
          <a:lstStyle/>
          <a:p>
            <a:pPr algn="l"/>
            <a:r>
              <a:rPr sz="3400" b="1">
                <a:solidFill>
                  <a:srgbClr val="C62828"/>
                </a:solidFill>
                <a:latin typeface="Cambria"/>
              </a:rPr>
              <a:t>585</a:t>
            </a:r>
          </a:p>
        </p:txBody>
      </p:sp>
      <p:sp>
        <p:nvSpPr>
          <p:cNvPr id="26" name="TextBox 25"/>
          <p:cNvSpPr txBox="1"/>
          <p:nvPr/>
        </p:nvSpPr>
        <p:spPr>
          <a:xfrm>
            <a:off x="9294876"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Workers with no activity</a:t>
            </a:r>
          </a:p>
        </p:txBody>
      </p:sp>
      <p:sp>
        <p:nvSpPr>
          <p:cNvPr id="27" name="TextBox 26"/>
          <p:cNvSpPr txBox="1"/>
          <p:nvPr/>
        </p:nvSpPr>
        <p:spPr>
          <a:xfrm>
            <a:off x="9294876"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Arus Sawit's general workers have never recorded attendance.</a:t>
            </a:r>
          </a:p>
        </p:txBody>
      </p:sp>
      <p:sp>
        <p:nvSpPr>
          <p:cNvPr id="28" name="Rectangle 27"/>
          <p:cNvSpPr/>
          <p:nvPr/>
        </p:nvSpPr>
        <p:spPr>
          <a:xfrm>
            <a:off x="566928" y="3703320"/>
            <a:ext cx="110642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776472"/>
            <a:ext cx="3893418" cy="329184"/>
          </a:xfrm>
          <a:prstGeom prst="rect">
            <a:avLst/>
          </a:prstGeom>
          <a:noFill/>
        </p:spPr>
        <p:txBody>
          <a:bodyPr wrap="square" lIns="0" rIns="0" tIns="0" bIns="0" anchor="t">
            <a:spAutoFit/>
          </a:bodyPr>
          <a:lstStyle/>
          <a:p>
            <a:pPr algn="l"/>
            <a:r>
              <a:rPr sz="950" b="1">
                <a:solidFill>
                  <a:srgbClr val="FFFFFF"/>
                </a:solidFill>
                <a:latin typeface="Calibri"/>
              </a:rPr>
              <a:t>Company</a:t>
            </a:r>
          </a:p>
        </p:txBody>
      </p:sp>
      <p:sp>
        <p:nvSpPr>
          <p:cNvPr id="30" name="TextBox 29"/>
          <p:cNvSpPr txBox="1"/>
          <p:nvPr/>
        </p:nvSpPr>
        <p:spPr>
          <a:xfrm>
            <a:off x="4743810" y="3776472"/>
            <a:ext cx="2146433" cy="329184"/>
          </a:xfrm>
          <a:prstGeom prst="rect">
            <a:avLst/>
          </a:prstGeom>
          <a:noFill/>
        </p:spPr>
        <p:txBody>
          <a:bodyPr wrap="square" lIns="0" rIns="0" tIns="0" bIns="0" anchor="t">
            <a:spAutoFit/>
          </a:bodyPr>
          <a:lstStyle/>
          <a:p>
            <a:pPr algn="r"/>
            <a:r>
              <a:rPr sz="950" b="1">
                <a:solidFill>
                  <a:srgbClr val="FFFFFF"/>
                </a:solidFill>
                <a:latin typeface="Calibri"/>
              </a:rPr>
              <a:t>Active staff</a:t>
            </a:r>
          </a:p>
        </p:txBody>
      </p:sp>
      <p:sp>
        <p:nvSpPr>
          <p:cNvPr id="31" name="TextBox 30"/>
          <p:cNvSpPr txBox="1"/>
          <p:nvPr/>
        </p:nvSpPr>
        <p:spPr>
          <a:xfrm>
            <a:off x="7073123" y="3776472"/>
            <a:ext cx="2146433" cy="329184"/>
          </a:xfrm>
          <a:prstGeom prst="rect">
            <a:avLst/>
          </a:prstGeom>
          <a:noFill/>
        </p:spPr>
        <p:txBody>
          <a:bodyPr wrap="square" lIns="0" rIns="0" tIns="0" bIns="0" anchor="t">
            <a:spAutoFit/>
          </a:bodyPr>
          <a:lstStyle/>
          <a:p>
            <a:pPr algn="r"/>
            <a:r>
              <a:rPr sz="950" b="1">
                <a:solidFill>
                  <a:srgbClr val="FFFFFF"/>
                </a:solidFill>
                <a:latin typeface="Calibri"/>
              </a:rPr>
              <a:t>Exempt from KPI</a:t>
            </a:r>
          </a:p>
        </p:txBody>
      </p:sp>
      <p:sp>
        <p:nvSpPr>
          <p:cNvPr id="32" name="TextBox 31"/>
          <p:cNvSpPr txBox="1"/>
          <p:nvPr/>
        </p:nvSpPr>
        <p:spPr>
          <a:xfrm>
            <a:off x="9402436" y="3776472"/>
            <a:ext cx="2146433" cy="329184"/>
          </a:xfrm>
          <a:prstGeom prst="rect">
            <a:avLst/>
          </a:prstGeom>
          <a:noFill/>
        </p:spPr>
        <p:txBody>
          <a:bodyPr wrap="square" lIns="0" rIns="0" tIns="0" bIns="0" anchor="t">
            <a:spAutoFit/>
          </a:bodyPr>
          <a:lstStyle/>
          <a:p>
            <a:pPr algn="r"/>
            <a:r>
              <a:rPr sz="950" b="1">
                <a:solidFill>
                  <a:srgbClr val="FFFFFF"/>
                </a:solidFill>
                <a:latin typeface="Calibri"/>
              </a:rPr>
              <a:t>General workers</a:t>
            </a:r>
          </a:p>
        </p:txBody>
      </p:sp>
      <p:sp>
        <p:nvSpPr>
          <p:cNvPr id="33" name="Rectangle 32"/>
          <p:cNvSpPr/>
          <p:nvPr/>
        </p:nvSpPr>
        <p:spPr>
          <a:xfrm>
            <a:off x="566928" y="4032504"/>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433882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 y="4096512"/>
            <a:ext cx="3893418" cy="306324"/>
          </a:xfrm>
          <a:prstGeom prst="rect">
            <a:avLst/>
          </a:prstGeom>
          <a:noFill/>
        </p:spPr>
        <p:txBody>
          <a:bodyPr wrap="square" lIns="0" rIns="0" tIns="0" bIns="0" anchor="t">
            <a:spAutoFit/>
          </a:bodyPr>
          <a:lstStyle/>
          <a:p>
            <a:pPr algn="l"/>
            <a:r>
              <a:rPr sz="1050" b="1">
                <a:solidFill>
                  <a:srgbClr val="111111"/>
                </a:solidFill>
                <a:latin typeface="Calibri"/>
              </a:rPr>
              <a:t>Globinaco</a:t>
            </a:r>
          </a:p>
        </p:txBody>
      </p:sp>
      <p:sp>
        <p:nvSpPr>
          <p:cNvPr id="36" name="TextBox 35"/>
          <p:cNvSpPr txBox="1"/>
          <p:nvPr/>
        </p:nvSpPr>
        <p:spPr>
          <a:xfrm>
            <a:off x="4743810" y="4096512"/>
            <a:ext cx="2146433" cy="306324"/>
          </a:xfrm>
          <a:prstGeom prst="rect">
            <a:avLst/>
          </a:prstGeom>
          <a:noFill/>
        </p:spPr>
        <p:txBody>
          <a:bodyPr wrap="square" lIns="0" rIns="0" tIns="0" bIns="0" anchor="t">
            <a:spAutoFit/>
          </a:bodyPr>
          <a:lstStyle/>
          <a:p>
            <a:pPr algn="r"/>
            <a:r>
              <a:rPr sz="1050" b="0">
                <a:solidFill>
                  <a:srgbClr val="111111"/>
                </a:solidFill>
                <a:latin typeface="Calibri"/>
              </a:rPr>
              <a:t>342</a:t>
            </a:r>
          </a:p>
        </p:txBody>
      </p:sp>
      <p:sp>
        <p:nvSpPr>
          <p:cNvPr id="37" name="TextBox 36"/>
          <p:cNvSpPr txBox="1"/>
          <p:nvPr/>
        </p:nvSpPr>
        <p:spPr>
          <a:xfrm>
            <a:off x="7073123" y="4096512"/>
            <a:ext cx="2146433" cy="306324"/>
          </a:xfrm>
          <a:prstGeom prst="rect">
            <a:avLst/>
          </a:prstGeom>
          <a:noFill/>
        </p:spPr>
        <p:txBody>
          <a:bodyPr wrap="square" lIns="0" rIns="0" tIns="0" bIns="0" anchor="t">
            <a:spAutoFit/>
          </a:bodyPr>
          <a:lstStyle/>
          <a:p>
            <a:pPr algn="r"/>
            <a:r>
              <a:rPr sz="1050" b="0">
                <a:solidFill>
                  <a:srgbClr val="111111"/>
                </a:solidFill>
                <a:latin typeface="Calibri"/>
              </a:rPr>
              <a:t>6</a:t>
            </a:r>
          </a:p>
        </p:txBody>
      </p:sp>
      <p:sp>
        <p:nvSpPr>
          <p:cNvPr id="38" name="TextBox 37"/>
          <p:cNvSpPr txBox="1"/>
          <p:nvPr/>
        </p:nvSpPr>
        <p:spPr>
          <a:xfrm>
            <a:off x="9402436" y="4096512"/>
            <a:ext cx="2146433" cy="306324"/>
          </a:xfrm>
          <a:prstGeom prst="rect">
            <a:avLst/>
          </a:prstGeom>
          <a:noFill/>
        </p:spPr>
        <p:txBody>
          <a:bodyPr wrap="square" lIns="0" rIns="0" tIns="0" bIns="0" anchor="t">
            <a:spAutoFit/>
          </a:bodyPr>
          <a:lstStyle/>
          <a:p>
            <a:pPr algn="r"/>
            <a:r>
              <a:rPr sz="1050" b="0">
                <a:solidFill>
                  <a:srgbClr val="111111"/>
                </a:solidFill>
                <a:latin typeface="Calibri"/>
              </a:rPr>
              <a:t>352</a:t>
            </a:r>
          </a:p>
        </p:txBody>
      </p:sp>
      <p:sp>
        <p:nvSpPr>
          <p:cNvPr id="39" name="Rectangle 38"/>
          <p:cNvSpPr/>
          <p:nvPr/>
        </p:nvSpPr>
        <p:spPr>
          <a:xfrm>
            <a:off x="566928" y="4338828"/>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464515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 y="4402836"/>
            <a:ext cx="3893418" cy="306324"/>
          </a:xfrm>
          <a:prstGeom prst="rect">
            <a:avLst/>
          </a:prstGeom>
          <a:noFill/>
        </p:spPr>
        <p:txBody>
          <a:bodyPr wrap="square" lIns="0" rIns="0" tIns="0" bIns="0" anchor="t">
            <a:spAutoFit/>
          </a:bodyPr>
          <a:lstStyle/>
          <a:p>
            <a:pPr algn="l"/>
            <a:r>
              <a:rPr sz="1050" b="1">
                <a:solidFill>
                  <a:srgbClr val="111111"/>
                </a:solidFill>
                <a:latin typeface="Calibri"/>
              </a:rPr>
              <a:t>Grandis</a:t>
            </a:r>
          </a:p>
        </p:txBody>
      </p:sp>
      <p:sp>
        <p:nvSpPr>
          <p:cNvPr id="42" name="TextBox 41"/>
          <p:cNvSpPr txBox="1"/>
          <p:nvPr/>
        </p:nvSpPr>
        <p:spPr>
          <a:xfrm>
            <a:off x="4743810" y="4402836"/>
            <a:ext cx="2146433" cy="306324"/>
          </a:xfrm>
          <a:prstGeom prst="rect">
            <a:avLst/>
          </a:prstGeom>
          <a:noFill/>
        </p:spPr>
        <p:txBody>
          <a:bodyPr wrap="square" lIns="0" rIns="0" tIns="0" bIns="0" anchor="t">
            <a:spAutoFit/>
          </a:bodyPr>
          <a:lstStyle/>
          <a:p>
            <a:pPr algn="r"/>
            <a:r>
              <a:rPr sz="1050" b="0">
                <a:solidFill>
                  <a:srgbClr val="111111"/>
                </a:solidFill>
                <a:latin typeface="Calibri"/>
              </a:rPr>
              <a:t>150</a:t>
            </a:r>
          </a:p>
        </p:txBody>
      </p:sp>
      <p:sp>
        <p:nvSpPr>
          <p:cNvPr id="43" name="TextBox 42"/>
          <p:cNvSpPr txBox="1"/>
          <p:nvPr/>
        </p:nvSpPr>
        <p:spPr>
          <a:xfrm>
            <a:off x="7073123" y="4402836"/>
            <a:ext cx="2146433"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44" name="TextBox 43"/>
          <p:cNvSpPr txBox="1"/>
          <p:nvPr/>
        </p:nvSpPr>
        <p:spPr>
          <a:xfrm>
            <a:off x="9402436" y="4402836"/>
            <a:ext cx="2146433"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45" name="Rectangle 44"/>
          <p:cNvSpPr/>
          <p:nvPr/>
        </p:nvSpPr>
        <p:spPr>
          <a:xfrm>
            <a:off x="566928" y="4645152"/>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66928" y="495147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 y="4709160"/>
            <a:ext cx="3893418" cy="306324"/>
          </a:xfrm>
          <a:prstGeom prst="rect">
            <a:avLst/>
          </a:prstGeom>
          <a:noFill/>
        </p:spPr>
        <p:txBody>
          <a:bodyPr wrap="square" lIns="0" rIns="0" tIns="0" bIns="0" anchor="t">
            <a:spAutoFit/>
          </a:bodyPr>
          <a:lstStyle/>
          <a:p>
            <a:pPr algn="l"/>
            <a:r>
              <a:rPr sz="1050" b="1">
                <a:solidFill>
                  <a:srgbClr val="111111"/>
                </a:solidFill>
                <a:latin typeface="Calibri"/>
              </a:rPr>
              <a:t>Arus Sawit</a:t>
            </a:r>
          </a:p>
        </p:txBody>
      </p:sp>
      <p:sp>
        <p:nvSpPr>
          <p:cNvPr id="48" name="TextBox 47"/>
          <p:cNvSpPr txBox="1"/>
          <p:nvPr/>
        </p:nvSpPr>
        <p:spPr>
          <a:xfrm>
            <a:off x="4743810" y="4709160"/>
            <a:ext cx="2146433" cy="306324"/>
          </a:xfrm>
          <a:prstGeom prst="rect">
            <a:avLst/>
          </a:prstGeom>
          <a:noFill/>
        </p:spPr>
        <p:txBody>
          <a:bodyPr wrap="square" lIns="0" rIns="0" tIns="0" bIns="0" anchor="t">
            <a:spAutoFit/>
          </a:bodyPr>
          <a:lstStyle/>
          <a:p>
            <a:pPr algn="r"/>
            <a:r>
              <a:rPr sz="1050" b="0">
                <a:solidFill>
                  <a:srgbClr val="111111"/>
                </a:solidFill>
                <a:latin typeface="Calibri"/>
              </a:rPr>
              <a:t>73</a:t>
            </a:r>
          </a:p>
        </p:txBody>
      </p:sp>
      <p:sp>
        <p:nvSpPr>
          <p:cNvPr id="49" name="TextBox 48"/>
          <p:cNvSpPr txBox="1"/>
          <p:nvPr/>
        </p:nvSpPr>
        <p:spPr>
          <a:xfrm>
            <a:off x="7073123" y="4709160"/>
            <a:ext cx="2146433"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50" name="TextBox 49"/>
          <p:cNvSpPr txBox="1"/>
          <p:nvPr/>
        </p:nvSpPr>
        <p:spPr>
          <a:xfrm>
            <a:off x="9402436" y="4709160"/>
            <a:ext cx="2146433" cy="306324"/>
          </a:xfrm>
          <a:prstGeom prst="rect">
            <a:avLst/>
          </a:prstGeom>
          <a:noFill/>
        </p:spPr>
        <p:txBody>
          <a:bodyPr wrap="square" lIns="0" rIns="0" tIns="0" bIns="0" anchor="t">
            <a:spAutoFit/>
          </a:bodyPr>
          <a:lstStyle/>
          <a:p>
            <a:pPr algn="r"/>
            <a:r>
              <a:rPr sz="1050" b="0">
                <a:solidFill>
                  <a:srgbClr val="111111"/>
                </a:solidFill>
                <a:latin typeface="Calibri"/>
              </a:rPr>
              <a:t>585</a:t>
            </a:r>
          </a:p>
        </p:txBody>
      </p:sp>
      <p:sp>
        <p:nvSpPr>
          <p:cNvPr id="51" name="Rectangle 50"/>
          <p:cNvSpPr/>
          <p:nvPr/>
        </p:nvSpPr>
        <p:spPr>
          <a:xfrm>
            <a:off x="566928" y="4951476"/>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66928" y="52578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512" y="5015484"/>
            <a:ext cx="3893418" cy="306324"/>
          </a:xfrm>
          <a:prstGeom prst="rect">
            <a:avLst/>
          </a:prstGeom>
          <a:noFill/>
        </p:spPr>
        <p:txBody>
          <a:bodyPr wrap="square" lIns="0" rIns="0" tIns="0" bIns="0" anchor="t">
            <a:spAutoFit/>
          </a:bodyPr>
          <a:lstStyle/>
          <a:p>
            <a:pPr algn="l"/>
            <a:r>
              <a:rPr sz="1050" b="1">
                <a:solidFill>
                  <a:srgbClr val="111111"/>
                </a:solidFill>
                <a:latin typeface="Calibri"/>
              </a:rPr>
              <a:t>AMC</a:t>
            </a:r>
          </a:p>
        </p:txBody>
      </p:sp>
      <p:sp>
        <p:nvSpPr>
          <p:cNvPr id="54" name="TextBox 53"/>
          <p:cNvSpPr txBox="1"/>
          <p:nvPr/>
        </p:nvSpPr>
        <p:spPr>
          <a:xfrm>
            <a:off x="4743810" y="5015484"/>
            <a:ext cx="2146433" cy="306324"/>
          </a:xfrm>
          <a:prstGeom prst="rect">
            <a:avLst/>
          </a:prstGeom>
          <a:noFill/>
        </p:spPr>
        <p:txBody>
          <a:bodyPr wrap="square" lIns="0" rIns="0" tIns="0" bIns="0" anchor="t">
            <a:spAutoFit/>
          </a:bodyPr>
          <a:lstStyle/>
          <a:p>
            <a:pPr algn="r"/>
            <a:r>
              <a:rPr sz="1050" b="0">
                <a:solidFill>
                  <a:srgbClr val="111111"/>
                </a:solidFill>
                <a:latin typeface="Calibri"/>
              </a:rPr>
              <a:t>62</a:t>
            </a:r>
          </a:p>
        </p:txBody>
      </p:sp>
      <p:sp>
        <p:nvSpPr>
          <p:cNvPr id="55" name="TextBox 54"/>
          <p:cNvSpPr txBox="1"/>
          <p:nvPr/>
        </p:nvSpPr>
        <p:spPr>
          <a:xfrm>
            <a:off x="7073123" y="5015484"/>
            <a:ext cx="2146433"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56" name="TextBox 55"/>
          <p:cNvSpPr txBox="1"/>
          <p:nvPr/>
        </p:nvSpPr>
        <p:spPr>
          <a:xfrm>
            <a:off x="9402436" y="5015484"/>
            <a:ext cx="2146433"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57" name="Rectangle 56"/>
          <p:cNvSpPr/>
          <p:nvPr/>
        </p:nvSpPr>
        <p:spPr>
          <a:xfrm>
            <a:off x="566928" y="5257800"/>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66928" y="556412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7512" y="5321808"/>
            <a:ext cx="3893418" cy="306324"/>
          </a:xfrm>
          <a:prstGeom prst="rect">
            <a:avLst/>
          </a:prstGeom>
          <a:noFill/>
        </p:spPr>
        <p:txBody>
          <a:bodyPr wrap="square" lIns="0" rIns="0" tIns="0" bIns="0" anchor="t">
            <a:spAutoFit/>
          </a:bodyPr>
          <a:lstStyle/>
          <a:p>
            <a:pPr algn="l"/>
            <a:r>
              <a:rPr sz="1050" b="1">
                <a:solidFill>
                  <a:srgbClr val="111111"/>
                </a:solidFill>
                <a:latin typeface="Calibri"/>
              </a:rPr>
              <a:t>Likas Square</a:t>
            </a:r>
          </a:p>
        </p:txBody>
      </p:sp>
      <p:sp>
        <p:nvSpPr>
          <p:cNvPr id="60" name="TextBox 59"/>
          <p:cNvSpPr txBox="1"/>
          <p:nvPr/>
        </p:nvSpPr>
        <p:spPr>
          <a:xfrm>
            <a:off x="4743810" y="5321808"/>
            <a:ext cx="2146433" cy="306324"/>
          </a:xfrm>
          <a:prstGeom prst="rect">
            <a:avLst/>
          </a:prstGeom>
          <a:noFill/>
        </p:spPr>
        <p:txBody>
          <a:bodyPr wrap="square" lIns="0" rIns="0" tIns="0" bIns="0" anchor="t">
            <a:spAutoFit/>
          </a:bodyPr>
          <a:lstStyle/>
          <a:p>
            <a:pPr algn="r"/>
            <a:r>
              <a:rPr sz="1050" b="0">
                <a:solidFill>
                  <a:srgbClr val="111111"/>
                </a:solidFill>
                <a:latin typeface="Calibri"/>
              </a:rPr>
              <a:t>51</a:t>
            </a:r>
          </a:p>
        </p:txBody>
      </p:sp>
      <p:sp>
        <p:nvSpPr>
          <p:cNvPr id="61" name="TextBox 60"/>
          <p:cNvSpPr txBox="1"/>
          <p:nvPr/>
        </p:nvSpPr>
        <p:spPr>
          <a:xfrm>
            <a:off x="7073123" y="5321808"/>
            <a:ext cx="2146433"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62" name="TextBox 61"/>
          <p:cNvSpPr txBox="1"/>
          <p:nvPr/>
        </p:nvSpPr>
        <p:spPr>
          <a:xfrm>
            <a:off x="9402436" y="5321808"/>
            <a:ext cx="2146433"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63" name="Rectangle 62"/>
          <p:cNvSpPr/>
          <p:nvPr/>
        </p:nvSpPr>
        <p:spPr>
          <a:xfrm>
            <a:off x="566928" y="5564124"/>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566928" y="587044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7512" y="5628132"/>
            <a:ext cx="3893418" cy="306324"/>
          </a:xfrm>
          <a:prstGeom prst="rect">
            <a:avLst/>
          </a:prstGeom>
          <a:noFill/>
        </p:spPr>
        <p:txBody>
          <a:bodyPr wrap="square" lIns="0" rIns="0" tIns="0" bIns="0" anchor="t">
            <a:spAutoFit/>
          </a:bodyPr>
          <a:lstStyle/>
          <a:p>
            <a:pPr algn="l"/>
            <a:r>
              <a:rPr sz="1050" b="1">
                <a:solidFill>
                  <a:srgbClr val="111111"/>
                </a:solidFill>
                <a:latin typeface="Calibri"/>
              </a:rPr>
              <a:t>TP Group</a:t>
            </a:r>
          </a:p>
        </p:txBody>
      </p:sp>
      <p:sp>
        <p:nvSpPr>
          <p:cNvPr id="66" name="TextBox 65"/>
          <p:cNvSpPr txBox="1"/>
          <p:nvPr/>
        </p:nvSpPr>
        <p:spPr>
          <a:xfrm>
            <a:off x="4743810" y="5628132"/>
            <a:ext cx="2146433" cy="306324"/>
          </a:xfrm>
          <a:prstGeom prst="rect">
            <a:avLst/>
          </a:prstGeom>
          <a:noFill/>
        </p:spPr>
        <p:txBody>
          <a:bodyPr wrap="square" lIns="0" rIns="0" tIns="0" bIns="0" anchor="t">
            <a:spAutoFit/>
          </a:bodyPr>
          <a:lstStyle/>
          <a:p>
            <a:pPr algn="r"/>
            <a:r>
              <a:rPr sz="1050" b="0">
                <a:solidFill>
                  <a:srgbClr val="111111"/>
                </a:solidFill>
                <a:latin typeface="Calibri"/>
              </a:rPr>
              <a:t>67</a:t>
            </a:r>
          </a:p>
        </p:txBody>
      </p:sp>
      <p:sp>
        <p:nvSpPr>
          <p:cNvPr id="67" name="TextBox 66"/>
          <p:cNvSpPr txBox="1"/>
          <p:nvPr/>
        </p:nvSpPr>
        <p:spPr>
          <a:xfrm>
            <a:off x="7073123" y="5628132"/>
            <a:ext cx="2146433" cy="306324"/>
          </a:xfrm>
          <a:prstGeom prst="rect">
            <a:avLst/>
          </a:prstGeom>
          <a:noFill/>
        </p:spPr>
        <p:txBody>
          <a:bodyPr wrap="square" lIns="0" rIns="0" tIns="0" bIns="0" anchor="t">
            <a:spAutoFit/>
          </a:bodyPr>
          <a:lstStyle/>
          <a:p>
            <a:pPr algn="r"/>
            <a:r>
              <a:rPr sz="1050" b="0">
                <a:solidFill>
                  <a:srgbClr val="111111"/>
                </a:solidFill>
                <a:latin typeface="Calibri"/>
              </a:rPr>
              <a:t>6</a:t>
            </a:r>
          </a:p>
        </p:txBody>
      </p:sp>
      <p:sp>
        <p:nvSpPr>
          <p:cNvPr id="68" name="TextBox 67"/>
          <p:cNvSpPr txBox="1"/>
          <p:nvPr/>
        </p:nvSpPr>
        <p:spPr>
          <a:xfrm>
            <a:off x="9402436" y="5628132"/>
            <a:ext cx="2146433"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69" name="Rectangle 68"/>
          <p:cNvSpPr/>
          <p:nvPr/>
        </p:nvSpPr>
        <p:spPr>
          <a:xfrm>
            <a:off x="566928" y="5870448"/>
            <a:ext cx="110642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66928" y="617677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67512" y="5934456"/>
            <a:ext cx="3893418" cy="306324"/>
          </a:xfrm>
          <a:prstGeom prst="rect">
            <a:avLst/>
          </a:prstGeom>
          <a:noFill/>
        </p:spPr>
        <p:txBody>
          <a:bodyPr wrap="square" lIns="0" rIns="0" tIns="0" bIns="0" anchor="t">
            <a:spAutoFit/>
          </a:bodyPr>
          <a:lstStyle/>
          <a:p>
            <a:pPr algn="l"/>
            <a:r>
              <a:rPr sz="1050" b="1">
                <a:solidFill>
                  <a:srgbClr val="1E2761"/>
                </a:solidFill>
                <a:latin typeface="Calibri"/>
              </a:rPr>
              <a:t>Total</a:t>
            </a:r>
          </a:p>
        </p:txBody>
      </p:sp>
      <p:sp>
        <p:nvSpPr>
          <p:cNvPr id="72" name="TextBox 71"/>
          <p:cNvSpPr txBox="1"/>
          <p:nvPr/>
        </p:nvSpPr>
        <p:spPr>
          <a:xfrm>
            <a:off x="4743810" y="5934456"/>
            <a:ext cx="2146433" cy="306324"/>
          </a:xfrm>
          <a:prstGeom prst="rect">
            <a:avLst/>
          </a:prstGeom>
          <a:noFill/>
        </p:spPr>
        <p:txBody>
          <a:bodyPr wrap="square" lIns="0" rIns="0" tIns="0" bIns="0" anchor="t">
            <a:spAutoFit/>
          </a:bodyPr>
          <a:lstStyle/>
          <a:p>
            <a:pPr algn="r"/>
            <a:r>
              <a:rPr sz="1050" b="1">
                <a:solidFill>
                  <a:srgbClr val="1E2761"/>
                </a:solidFill>
                <a:latin typeface="Calibri"/>
              </a:rPr>
              <a:t>745</a:t>
            </a:r>
          </a:p>
        </p:txBody>
      </p:sp>
      <p:sp>
        <p:nvSpPr>
          <p:cNvPr id="73" name="TextBox 72"/>
          <p:cNvSpPr txBox="1"/>
          <p:nvPr/>
        </p:nvSpPr>
        <p:spPr>
          <a:xfrm>
            <a:off x="7073123" y="5934456"/>
            <a:ext cx="2146433" cy="306324"/>
          </a:xfrm>
          <a:prstGeom prst="rect">
            <a:avLst/>
          </a:prstGeom>
          <a:noFill/>
        </p:spPr>
        <p:txBody>
          <a:bodyPr wrap="square" lIns="0" rIns="0" tIns="0" bIns="0" anchor="t">
            <a:spAutoFit/>
          </a:bodyPr>
          <a:lstStyle/>
          <a:p>
            <a:pPr algn="r"/>
            <a:r>
              <a:rPr sz="1050" b="1">
                <a:solidFill>
                  <a:srgbClr val="1E2761"/>
                </a:solidFill>
                <a:latin typeface="Calibri"/>
              </a:rPr>
              <a:t>16</a:t>
            </a:r>
          </a:p>
        </p:txBody>
      </p:sp>
      <p:sp>
        <p:nvSpPr>
          <p:cNvPr id="74" name="TextBox 73"/>
          <p:cNvSpPr txBox="1"/>
          <p:nvPr/>
        </p:nvSpPr>
        <p:spPr>
          <a:xfrm>
            <a:off x="9402436" y="5934456"/>
            <a:ext cx="2146433" cy="306324"/>
          </a:xfrm>
          <a:prstGeom prst="rect">
            <a:avLst/>
          </a:prstGeom>
          <a:noFill/>
        </p:spPr>
        <p:txBody>
          <a:bodyPr wrap="square" lIns="0" rIns="0" tIns="0" bIns="0" anchor="t">
            <a:spAutoFit/>
          </a:bodyPr>
          <a:lstStyle/>
          <a:p>
            <a:pPr algn="r"/>
            <a:r>
              <a:rPr sz="1050" b="1">
                <a:solidFill>
                  <a:srgbClr val="1E2761"/>
                </a:solidFill>
                <a:latin typeface="Calibri"/>
              </a:rPr>
              <a:t>937</a:t>
            </a:r>
          </a:p>
        </p:txBody>
      </p:sp>
      <p:sp>
        <p:nvSpPr>
          <p:cNvPr id="75" name="TextBox 74"/>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Staff counted as everyone in service who is not a general worker or a test account. The 16 exempt from KPI scoring are inside that total and shown separately; the scorecard review counts only the 729 in scope. General workers are the live scorecard population. The MK Command app itself only ever displays Globinaco's general workers, which is why Arus Sawit's did not appear in earlier reviews. General workers are counted one per worker code, as the Scorecard Coverage report counts them. The six companies and the staff rule both follow the scorecard review. The MK Command staff overview applies a wider rule and would show 774 group-wide.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2 · BY COMPANY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Staff headcount — by company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People on file at each company, staff and general workers together.</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3675887" cy="411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Globinaco</a:t>
            </a:r>
          </a:p>
        </p:txBody>
      </p:sp>
      <p:sp>
        <p:nvSpPr>
          <p:cNvPr id="11" name="TextBox 10"/>
          <p:cNvSpPr txBox="1"/>
          <p:nvPr/>
        </p:nvSpPr>
        <p:spPr>
          <a:xfrm>
            <a:off x="768096" y="2084832"/>
            <a:ext cx="1737360" cy="502920"/>
          </a:xfrm>
          <a:prstGeom prst="rect">
            <a:avLst/>
          </a:prstGeom>
          <a:noFill/>
        </p:spPr>
        <p:txBody>
          <a:bodyPr wrap="square" lIns="0" rIns="0" tIns="0" bIns="0" anchor="t">
            <a:spAutoFit/>
          </a:bodyPr>
          <a:lstStyle/>
          <a:p>
            <a:pPr algn="l"/>
            <a:r>
              <a:rPr sz="2700" b="1">
                <a:solidFill>
                  <a:srgbClr val="F9A825"/>
                </a:solidFill>
                <a:latin typeface="Cambria"/>
              </a:rPr>
              <a:t>694</a:t>
            </a:r>
          </a:p>
        </p:txBody>
      </p:sp>
      <p:sp>
        <p:nvSpPr>
          <p:cNvPr id="12" name="TextBox 11"/>
          <p:cNvSpPr txBox="1"/>
          <p:nvPr/>
        </p:nvSpPr>
        <p:spPr>
          <a:xfrm>
            <a:off x="768096"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PEOPLE ON FILE</a:t>
            </a:r>
          </a:p>
        </p:txBody>
      </p:sp>
      <p:sp>
        <p:nvSpPr>
          <p:cNvPr id="13" name="TextBox 12"/>
          <p:cNvSpPr txBox="1"/>
          <p:nvPr/>
        </p:nvSpPr>
        <p:spPr>
          <a:xfrm>
            <a:off x="2542032"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Active staff</a:t>
            </a:r>
          </a:p>
        </p:txBody>
      </p:sp>
      <p:sp>
        <p:nvSpPr>
          <p:cNvPr id="14" name="TextBox 13"/>
          <p:cNvSpPr txBox="1"/>
          <p:nvPr/>
        </p:nvSpPr>
        <p:spPr>
          <a:xfrm>
            <a:off x="3566160" y="2084832"/>
            <a:ext cx="512064" cy="219456"/>
          </a:xfrm>
          <a:prstGeom prst="rect">
            <a:avLst/>
          </a:prstGeom>
          <a:noFill/>
        </p:spPr>
        <p:txBody>
          <a:bodyPr wrap="square" lIns="0" rIns="0" tIns="0" bIns="0" anchor="t">
            <a:spAutoFit/>
          </a:bodyPr>
          <a:lstStyle/>
          <a:p>
            <a:pPr algn="r"/>
            <a:r>
              <a:rPr sz="1050" b="1">
                <a:solidFill>
                  <a:srgbClr val="16203F"/>
                </a:solidFill>
                <a:latin typeface="Calibri"/>
              </a:rPr>
              <a:t>342</a:t>
            </a:r>
          </a:p>
        </p:txBody>
      </p:sp>
      <p:sp>
        <p:nvSpPr>
          <p:cNvPr id="15" name="TextBox 14"/>
          <p:cNvSpPr txBox="1"/>
          <p:nvPr/>
        </p:nvSpPr>
        <p:spPr>
          <a:xfrm>
            <a:off x="2542032"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16" name="TextBox 15"/>
          <p:cNvSpPr txBox="1"/>
          <p:nvPr/>
        </p:nvSpPr>
        <p:spPr>
          <a:xfrm>
            <a:off x="3566160" y="2299716"/>
            <a:ext cx="512064" cy="219456"/>
          </a:xfrm>
          <a:prstGeom prst="rect">
            <a:avLst/>
          </a:prstGeom>
          <a:noFill/>
        </p:spPr>
        <p:txBody>
          <a:bodyPr wrap="square" lIns="0" rIns="0" tIns="0" bIns="0" anchor="t">
            <a:spAutoFit/>
          </a:bodyPr>
          <a:lstStyle/>
          <a:p>
            <a:pPr algn="r"/>
            <a:r>
              <a:rPr sz="1050" b="1">
                <a:solidFill>
                  <a:srgbClr val="16203F"/>
                </a:solidFill>
                <a:latin typeface="Calibri"/>
              </a:rPr>
              <a:t>352</a:t>
            </a:r>
          </a:p>
        </p:txBody>
      </p:sp>
      <p:sp>
        <p:nvSpPr>
          <p:cNvPr id="17" name="TextBox 16"/>
          <p:cNvSpPr txBox="1"/>
          <p:nvPr/>
        </p:nvSpPr>
        <p:spPr>
          <a:xfrm>
            <a:off x="2542032"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18" name="TextBox 17"/>
          <p:cNvSpPr txBox="1"/>
          <p:nvPr/>
        </p:nvSpPr>
        <p:spPr>
          <a:xfrm>
            <a:off x="3566160" y="2514600"/>
            <a:ext cx="512064" cy="219456"/>
          </a:xfrm>
          <a:prstGeom prst="rect">
            <a:avLst/>
          </a:prstGeom>
          <a:noFill/>
        </p:spPr>
        <p:txBody>
          <a:bodyPr wrap="square" lIns="0" rIns="0" tIns="0" bIns="0" anchor="t">
            <a:spAutoFit/>
          </a:bodyPr>
          <a:lstStyle/>
          <a:p>
            <a:pPr algn="r"/>
            <a:r>
              <a:rPr sz="1050" b="1">
                <a:solidFill>
                  <a:srgbClr val="5A6478"/>
                </a:solidFill>
                <a:latin typeface="Calibri"/>
              </a:rPr>
              <a:t>41%</a:t>
            </a:r>
          </a:p>
        </p:txBody>
      </p:sp>
      <p:sp>
        <p:nvSpPr>
          <p:cNvPr id="19" name="Rectangle 18"/>
          <p:cNvSpPr/>
          <p:nvPr/>
        </p:nvSpPr>
        <p:spPr>
          <a:xfrm>
            <a:off x="76809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342 staff and 352 general workers — 41% of everyone on file. 343 of its workers punched in during October.</a:t>
            </a:r>
          </a:p>
        </p:txBody>
      </p:sp>
      <p:sp>
        <p:nvSpPr>
          <p:cNvPr id="21" name="Rectangle 20"/>
          <p:cNvSpPr/>
          <p:nvPr/>
        </p:nvSpPr>
        <p:spPr>
          <a:xfrm>
            <a:off x="4443983"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43983" y="1627632"/>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45151"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Grandis</a:t>
            </a:r>
          </a:p>
        </p:txBody>
      </p:sp>
      <p:sp>
        <p:nvSpPr>
          <p:cNvPr id="24" name="TextBox 23"/>
          <p:cNvSpPr txBox="1"/>
          <p:nvPr/>
        </p:nvSpPr>
        <p:spPr>
          <a:xfrm>
            <a:off x="4645151" y="2084832"/>
            <a:ext cx="1737360" cy="502920"/>
          </a:xfrm>
          <a:prstGeom prst="rect">
            <a:avLst/>
          </a:prstGeom>
          <a:noFill/>
        </p:spPr>
        <p:txBody>
          <a:bodyPr wrap="square" lIns="0" rIns="0" tIns="0" bIns="0" anchor="t">
            <a:spAutoFit/>
          </a:bodyPr>
          <a:lstStyle/>
          <a:p>
            <a:pPr algn="l"/>
            <a:r>
              <a:rPr sz="2700" b="1">
                <a:solidFill>
                  <a:srgbClr val="1E2761"/>
                </a:solidFill>
                <a:latin typeface="Cambria"/>
              </a:rPr>
              <a:t>150</a:t>
            </a:r>
          </a:p>
        </p:txBody>
      </p:sp>
      <p:sp>
        <p:nvSpPr>
          <p:cNvPr id="25" name="TextBox 24"/>
          <p:cNvSpPr txBox="1"/>
          <p:nvPr/>
        </p:nvSpPr>
        <p:spPr>
          <a:xfrm>
            <a:off x="4645151"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PEOPLE ON FILE</a:t>
            </a:r>
          </a:p>
        </p:txBody>
      </p:sp>
      <p:sp>
        <p:nvSpPr>
          <p:cNvPr id="26" name="TextBox 25"/>
          <p:cNvSpPr txBox="1"/>
          <p:nvPr/>
        </p:nvSpPr>
        <p:spPr>
          <a:xfrm>
            <a:off x="6419087"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Active staff</a:t>
            </a:r>
          </a:p>
        </p:txBody>
      </p:sp>
      <p:sp>
        <p:nvSpPr>
          <p:cNvPr id="27" name="TextBox 26"/>
          <p:cNvSpPr txBox="1"/>
          <p:nvPr/>
        </p:nvSpPr>
        <p:spPr>
          <a:xfrm>
            <a:off x="7443215" y="2084832"/>
            <a:ext cx="512064" cy="219456"/>
          </a:xfrm>
          <a:prstGeom prst="rect">
            <a:avLst/>
          </a:prstGeom>
          <a:noFill/>
        </p:spPr>
        <p:txBody>
          <a:bodyPr wrap="square" lIns="0" rIns="0" tIns="0" bIns="0" anchor="t">
            <a:spAutoFit/>
          </a:bodyPr>
          <a:lstStyle/>
          <a:p>
            <a:pPr algn="r"/>
            <a:r>
              <a:rPr sz="1050" b="1">
                <a:solidFill>
                  <a:srgbClr val="16203F"/>
                </a:solidFill>
                <a:latin typeface="Calibri"/>
              </a:rPr>
              <a:t>150</a:t>
            </a:r>
          </a:p>
        </p:txBody>
      </p:sp>
      <p:sp>
        <p:nvSpPr>
          <p:cNvPr id="28" name="TextBox 27"/>
          <p:cNvSpPr txBox="1"/>
          <p:nvPr/>
        </p:nvSpPr>
        <p:spPr>
          <a:xfrm>
            <a:off x="6419087"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29" name="TextBox 28"/>
          <p:cNvSpPr txBox="1"/>
          <p:nvPr/>
        </p:nvSpPr>
        <p:spPr>
          <a:xfrm>
            <a:off x="7443215" y="2299716"/>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30" name="TextBox 29"/>
          <p:cNvSpPr txBox="1"/>
          <p:nvPr/>
        </p:nvSpPr>
        <p:spPr>
          <a:xfrm>
            <a:off x="6419087"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31" name="TextBox 30"/>
          <p:cNvSpPr txBox="1"/>
          <p:nvPr/>
        </p:nvSpPr>
        <p:spPr>
          <a:xfrm>
            <a:off x="7443215" y="2514600"/>
            <a:ext cx="512064" cy="219456"/>
          </a:xfrm>
          <a:prstGeom prst="rect">
            <a:avLst/>
          </a:prstGeom>
          <a:noFill/>
        </p:spPr>
        <p:txBody>
          <a:bodyPr wrap="square" lIns="0" rIns="0" tIns="0" bIns="0" anchor="t">
            <a:spAutoFit/>
          </a:bodyPr>
          <a:lstStyle/>
          <a:p>
            <a:pPr algn="r"/>
            <a:r>
              <a:rPr sz="1050" b="1">
                <a:solidFill>
                  <a:srgbClr val="5A6478"/>
                </a:solidFill>
                <a:latin typeface="Calibri"/>
              </a:rPr>
              <a:t>9%</a:t>
            </a:r>
          </a:p>
        </p:txBody>
      </p:sp>
      <p:sp>
        <p:nvSpPr>
          <p:cNvPr id="32" name="Rectangle 31"/>
          <p:cNvSpPr/>
          <p:nvPr/>
        </p:nvSpPr>
        <p:spPr>
          <a:xfrm>
            <a:off x="4645151"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45151"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149 staff, no general workers. Second-largest staff base and the heaviest user of the tools.</a:t>
            </a:r>
          </a:p>
        </p:txBody>
      </p:sp>
      <p:sp>
        <p:nvSpPr>
          <p:cNvPr id="34" name="Rectangle 33"/>
          <p:cNvSpPr/>
          <p:nvPr/>
        </p:nvSpPr>
        <p:spPr>
          <a:xfrm>
            <a:off x="832103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21038" y="1627632"/>
            <a:ext cx="3675887"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22206"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Arus Sawit</a:t>
            </a:r>
          </a:p>
        </p:txBody>
      </p:sp>
      <p:sp>
        <p:nvSpPr>
          <p:cNvPr id="37" name="TextBox 36"/>
          <p:cNvSpPr txBox="1"/>
          <p:nvPr/>
        </p:nvSpPr>
        <p:spPr>
          <a:xfrm>
            <a:off x="8522206" y="2084832"/>
            <a:ext cx="1737360" cy="502920"/>
          </a:xfrm>
          <a:prstGeom prst="rect">
            <a:avLst/>
          </a:prstGeom>
          <a:noFill/>
        </p:spPr>
        <p:txBody>
          <a:bodyPr wrap="square" lIns="0" rIns="0" tIns="0" bIns="0" anchor="t">
            <a:spAutoFit/>
          </a:bodyPr>
          <a:lstStyle/>
          <a:p>
            <a:pPr algn="l"/>
            <a:r>
              <a:rPr sz="2700" b="1">
                <a:solidFill>
                  <a:srgbClr val="C62828"/>
                </a:solidFill>
                <a:latin typeface="Cambria"/>
              </a:rPr>
              <a:t>658</a:t>
            </a:r>
          </a:p>
        </p:txBody>
      </p:sp>
      <p:sp>
        <p:nvSpPr>
          <p:cNvPr id="38" name="TextBox 37"/>
          <p:cNvSpPr txBox="1"/>
          <p:nvPr/>
        </p:nvSpPr>
        <p:spPr>
          <a:xfrm>
            <a:off x="8522206"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PEOPLE ON FILE</a:t>
            </a:r>
          </a:p>
        </p:txBody>
      </p:sp>
      <p:sp>
        <p:nvSpPr>
          <p:cNvPr id="39" name="TextBox 38"/>
          <p:cNvSpPr txBox="1"/>
          <p:nvPr/>
        </p:nvSpPr>
        <p:spPr>
          <a:xfrm>
            <a:off x="10296142"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Active staff</a:t>
            </a:r>
          </a:p>
        </p:txBody>
      </p:sp>
      <p:sp>
        <p:nvSpPr>
          <p:cNvPr id="40" name="TextBox 39"/>
          <p:cNvSpPr txBox="1"/>
          <p:nvPr/>
        </p:nvSpPr>
        <p:spPr>
          <a:xfrm>
            <a:off x="11320270" y="2084832"/>
            <a:ext cx="512064" cy="219456"/>
          </a:xfrm>
          <a:prstGeom prst="rect">
            <a:avLst/>
          </a:prstGeom>
          <a:noFill/>
        </p:spPr>
        <p:txBody>
          <a:bodyPr wrap="square" lIns="0" rIns="0" tIns="0" bIns="0" anchor="t">
            <a:spAutoFit/>
          </a:bodyPr>
          <a:lstStyle/>
          <a:p>
            <a:pPr algn="r"/>
            <a:r>
              <a:rPr sz="1050" b="1">
                <a:solidFill>
                  <a:srgbClr val="16203F"/>
                </a:solidFill>
                <a:latin typeface="Calibri"/>
              </a:rPr>
              <a:t>73</a:t>
            </a:r>
          </a:p>
        </p:txBody>
      </p:sp>
      <p:sp>
        <p:nvSpPr>
          <p:cNvPr id="41" name="TextBox 40"/>
          <p:cNvSpPr txBox="1"/>
          <p:nvPr/>
        </p:nvSpPr>
        <p:spPr>
          <a:xfrm>
            <a:off x="10296142"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42" name="TextBox 41"/>
          <p:cNvSpPr txBox="1"/>
          <p:nvPr/>
        </p:nvSpPr>
        <p:spPr>
          <a:xfrm>
            <a:off x="11320270" y="2299716"/>
            <a:ext cx="512064" cy="219456"/>
          </a:xfrm>
          <a:prstGeom prst="rect">
            <a:avLst/>
          </a:prstGeom>
          <a:noFill/>
        </p:spPr>
        <p:txBody>
          <a:bodyPr wrap="square" lIns="0" rIns="0" tIns="0" bIns="0" anchor="t">
            <a:spAutoFit/>
          </a:bodyPr>
          <a:lstStyle/>
          <a:p>
            <a:pPr algn="r"/>
            <a:r>
              <a:rPr sz="1050" b="1">
                <a:solidFill>
                  <a:srgbClr val="C62828"/>
                </a:solidFill>
                <a:latin typeface="Calibri"/>
              </a:rPr>
              <a:t>585</a:t>
            </a:r>
          </a:p>
        </p:txBody>
      </p:sp>
      <p:sp>
        <p:nvSpPr>
          <p:cNvPr id="43" name="TextBox 42"/>
          <p:cNvSpPr txBox="1"/>
          <p:nvPr/>
        </p:nvSpPr>
        <p:spPr>
          <a:xfrm>
            <a:off x="10296142"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44" name="TextBox 43"/>
          <p:cNvSpPr txBox="1"/>
          <p:nvPr/>
        </p:nvSpPr>
        <p:spPr>
          <a:xfrm>
            <a:off x="11320270" y="2514600"/>
            <a:ext cx="512064" cy="219456"/>
          </a:xfrm>
          <a:prstGeom prst="rect">
            <a:avLst/>
          </a:prstGeom>
          <a:noFill/>
        </p:spPr>
        <p:txBody>
          <a:bodyPr wrap="square" lIns="0" rIns="0" tIns="0" bIns="0" anchor="t">
            <a:spAutoFit/>
          </a:bodyPr>
          <a:lstStyle/>
          <a:p>
            <a:pPr algn="r"/>
            <a:r>
              <a:rPr sz="1050" b="1">
                <a:solidFill>
                  <a:srgbClr val="5A6478"/>
                </a:solidFill>
                <a:latin typeface="Calibri"/>
              </a:rPr>
              <a:t>39%</a:t>
            </a:r>
          </a:p>
        </p:txBody>
      </p:sp>
      <p:sp>
        <p:nvSpPr>
          <p:cNvPr id="45" name="Rectangle 44"/>
          <p:cNvSpPr/>
          <p:nvPr/>
        </p:nvSpPr>
        <p:spPr>
          <a:xfrm>
            <a:off x="852220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22206"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585 general workers against 72 staff, yet not one attendance record or job spec exists for them.</a:t>
            </a:r>
          </a:p>
        </p:txBody>
      </p:sp>
      <p:sp>
        <p:nvSpPr>
          <p:cNvPr id="47" name="Rectangle 46"/>
          <p:cNvSpPr/>
          <p:nvPr/>
        </p:nvSpPr>
        <p:spPr>
          <a:xfrm>
            <a:off x="56692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6928" y="4041648"/>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8096"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AMC</a:t>
            </a:r>
          </a:p>
        </p:txBody>
      </p:sp>
      <p:sp>
        <p:nvSpPr>
          <p:cNvPr id="50" name="TextBox 49"/>
          <p:cNvSpPr txBox="1"/>
          <p:nvPr/>
        </p:nvSpPr>
        <p:spPr>
          <a:xfrm>
            <a:off x="768096" y="4498848"/>
            <a:ext cx="1737360" cy="502920"/>
          </a:xfrm>
          <a:prstGeom prst="rect">
            <a:avLst/>
          </a:prstGeom>
          <a:noFill/>
        </p:spPr>
        <p:txBody>
          <a:bodyPr wrap="square" lIns="0" rIns="0" tIns="0" bIns="0" anchor="t">
            <a:spAutoFit/>
          </a:bodyPr>
          <a:lstStyle/>
          <a:p>
            <a:pPr algn="l"/>
            <a:r>
              <a:rPr sz="2700" b="1">
                <a:solidFill>
                  <a:srgbClr val="1E2761"/>
                </a:solidFill>
                <a:latin typeface="Cambria"/>
              </a:rPr>
              <a:t>62</a:t>
            </a:r>
          </a:p>
        </p:txBody>
      </p:sp>
      <p:sp>
        <p:nvSpPr>
          <p:cNvPr id="51" name="TextBox 50"/>
          <p:cNvSpPr txBox="1"/>
          <p:nvPr/>
        </p:nvSpPr>
        <p:spPr>
          <a:xfrm>
            <a:off x="768096"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PEOPLE ON FILE</a:t>
            </a:r>
          </a:p>
        </p:txBody>
      </p:sp>
      <p:sp>
        <p:nvSpPr>
          <p:cNvPr id="52" name="TextBox 51"/>
          <p:cNvSpPr txBox="1"/>
          <p:nvPr/>
        </p:nvSpPr>
        <p:spPr>
          <a:xfrm>
            <a:off x="2542032"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Active staff</a:t>
            </a:r>
          </a:p>
        </p:txBody>
      </p:sp>
      <p:sp>
        <p:nvSpPr>
          <p:cNvPr id="53" name="TextBox 52"/>
          <p:cNvSpPr txBox="1"/>
          <p:nvPr/>
        </p:nvSpPr>
        <p:spPr>
          <a:xfrm>
            <a:off x="3566160" y="4498848"/>
            <a:ext cx="512064" cy="219456"/>
          </a:xfrm>
          <a:prstGeom prst="rect">
            <a:avLst/>
          </a:prstGeom>
          <a:noFill/>
        </p:spPr>
        <p:txBody>
          <a:bodyPr wrap="square" lIns="0" rIns="0" tIns="0" bIns="0" anchor="t">
            <a:spAutoFit/>
          </a:bodyPr>
          <a:lstStyle/>
          <a:p>
            <a:pPr algn="r"/>
            <a:r>
              <a:rPr sz="1050" b="1">
                <a:solidFill>
                  <a:srgbClr val="16203F"/>
                </a:solidFill>
                <a:latin typeface="Calibri"/>
              </a:rPr>
              <a:t>62</a:t>
            </a:r>
          </a:p>
        </p:txBody>
      </p:sp>
      <p:sp>
        <p:nvSpPr>
          <p:cNvPr id="54" name="TextBox 53"/>
          <p:cNvSpPr txBox="1"/>
          <p:nvPr/>
        </p:nvSpPr>
        <p:spPr>
          <a:xfrm>
            <a:off x="2542032"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55" name="TextBox 54"/>
          <p:cNvSpPr txBox="1"/>
          <p:nvPr/>
        </p:nvSpPr>
        <p:spPr>
          <a:xfrm>
            <a:off x="3566160" y="4713732"/>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56" name="TextBox 55"/>
          <p:cNvSpPr txBox="1"/>
          <p:nvPr/>
        </p:nvSpPr>
        <p:spPr>
          <a:xfrm>
            <a:off x="2542032"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57" name="TextBox 56"/>
          <p:cNvSpPr txBox="1"/>
          <p:nvPr/>
        </p:nvSpPr>
        <p:spPr>
          <a:xfrm>
            <a:off x="3566160" y="4928616"/>
            <a:ext cx="512064" cy="219456"/>
          </a:xfrm>
          <a:prstGeom prst="rect">
            <a:avLst/>
          </a:prstGeom>
          <a:noFill/>
        </p:spPr>
        <p:txBody>
          <a:bodyPr wrap="square" lIns="0" rIns="0" tIns="0" bIns="0" anchor="t">
            <a:spAutoFit/>
          </a:bodyPr>
          <a:lstStyle/>
          <a:p>
            <a:pPr algn="r"/>
            <a:r>
              <a:rPr sz="1050" b="1">
                <a:solidFill>
                  <a:srgbClr val="5A6478"/>
                </a:solidFill>
                <a:latin typeface="Calibri"/>
              </a:rPr>
              <a:t>4%</a:t>
            </a:r>
          </a:p>
        </p:txBody>
      </p:sp>
      <p:sp>
        <p:nvSpPr>
          <p:cNvPr id="58" name="Rectangle 57"/>
          <p:cNvSpPr/>
          <p:nvPr/>
        </p:nvSpPr>
        <p:spPr>
          <a:xfrm>
            <a:off x="76809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68096"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61 staff. No general workers, no job specs and no merit/demerit activity on file.</a:t>
            </a:r>
          </a:p>
        </p:txBody>
      </p:sp>
      <p:sp>
        <p:nvSpPr>
          <p:cNvPr id="60" name="Rectangle 59"/>
          <p:cNvSpPr/>
          <p:nvPr/>
        </p:nvSpPr>
        <p:spPr>
          <a:xfrm>
            <a:off x="4443983"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443983" y="4041648"/>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645151"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Likas Square</a:t>
            </a:r>
          </a:p>
        </p:txBody>
      </p:sp>
      <p:sp>
        <p:nvSpPr>
          <p:cNvPr id="63" name="TextBox 62"/>
          <p:cNvSpPr txBox="1"/>
          <p:nvPr/>
        </p:nvSpPr>
        <p:spPr>
          <a:xfrm>
            <a:off x="4645151" y="4498848"/>
            <a:ext cx="1737360" cy="502920"/>
          </a:xfrm>
          <a:prstGeom prst="rect">
            <a:avLst/>
          </a:prstGeom>
          <a:noFill/>
        </p:spPr>
        <p:txBody>
          <a:bodyPr wrap="square" lIns="0" rIns="0" tIns="0" bIns="0" anchor="t">
            <a:spAutoFit/>
          </a:bodyPr>
          <a:lstStyle/>
          <a:p>
            <a:pPr algn="l"/>
            <a:r>
              <a:rPr sz="2700" b="1">
                <a:solidFill>
                  <a:srgbClr val="1E2761"/>
                </a:solidFill>
                <a:latin typeface="Cambria"/>
              </a:rPr>
              <a:t>51</a:t>
            </a:r>
          </a:p>
        </p:txBody>
      </p:sp>
      <p:sp>
        <p:nvSpPr>
          <p:cNvPr id="64" name="TextBox 63"/>
          <p:cNvSpPr txBox="1"/>
          <p:nvPr/>
        </p:nvSpPr>
        <p:spPr>
          <a:xfrm>
            <a:off x="4645151"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PEOPLE ON FILE</a:t>
            </a:r>
          </a:p>
        </p:txBody>
      </p:sp>
      <p:sp>
        <p:nvSpPr>
          <p:cNvPr id="65" name="TextBox 64"/>
          <p:cNvSpPr txBox="1"/>
          <p:nvPr/>
        </p:nvSpPr>
        <p:spPr>
          <a:xfrm>
            <a:off x="6419087"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Active staff</a:t>
            </a:r>
          </a:p>
        </p:txBody>
      </p:sp>
      <p:sp>
        <p:nvSpPr>
          <p:cNvPr id="66" name="TextBox 65"/>
          <p:cNvSpPr txBox="1"/>
          <p:nvPr/>
        </p:nvSpPr>
        <p:spPr>
          <a:xfrm>
            <a:off x="7443215" y="4498848"/>
            <a:ext cx="512064" cy="219456"/>
          </a:xfrm>
          <a:prstGeom prst="rect">
            <a:avLst/>
          </a:prstGeom>
          <a:noFill/>
        </p:spPr>
        <p:txBody>
          <a:bodyPr wrap="square" lIns="0" rIns="0" tIns="0" bIns="0" anchor="t">
            <a:spAutoFit/>
          </a:bodyPr>
          <a:lstStyle/>
          <a:p>
            <a:pPr algn="r"/>
            <a:r>
              <a:rPr sz="1050" b="1">
                <a:solidFill>
                  <a:srgbClr val="16203F"/>
                </a:solidFill>
                <a:latin typeface="Calibri"/>
              </a:rPr>
              <a:t>51</a:t>
            </a:r>
          </a:p>
        </p:txBody>
      </p:sp>
      <p:sp>
        <p:nvSpPr>
          <p:cNvPr id="67" name="TextBox 66"/>
          <p:cNvSpPr txBox="1"/>
          <p:nvPr/>
        </p:nvSpPr>
        <p:spPr>
          <a:xfrm>
            <a:off x="6419087"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68" name="TextBox 67"/>
          <p:cNvSpPr txBox="1"/>
          <p:nvPr/>
        </p:nvSpPr>
        <p:spPr>
          <a:xfrm>
            <a:off x="7443215" y="4713732"/>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69" name="TextBox 68"/>
          <p:cNvSpPr txBox="1"/>
          <p:nvPr/>
        </p:nvSpPr>
        <p:spPr>
          <a:xfrm>
            <a:off x="6419087"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70" name="TextBox 69"/>
          <p:cNvSpPr txBox="1"/>
          <p:nvPr/>
        </p:nvSpPr>
        <p:spPr>
          <a:xfrm>
            <a:off x="7443215" y="4928616"/>
            <a:ext cx="512064" cy="219456"/>
          </a:xfrm>
          <a:prstGeom prst="rect">
            <a:avLst/>
          </a:prstGeom>
          <a:noFill/>
        </p:spPr>
        <p:txBody>
          <a:bodyPr wrap="square" lIns="0" rIns="0" tIns="0" bIns="0" anchor="t">
            <a:spAutoFit/>
          </a:bodyPr>
          <a:lstStyle/>
          <a:p>
            <a:pPr algn="r"/>
            <a:r>
              <a:rPr sz="1050" b="1">
                <a:solidFill>
                  <a:srgbClr val="5A6478"/>
                </a:solidFill>
                <a:latin typeface="Calibri"/>
              </a:rPr>
              <a:t>3%</a:t>
            </a:r>
          </a:p>
        </p:txBody>
      </p:sp>
      <p:sp>
        <p:nvSpPr>
          <p:cNvPr id="71" name="Rectangle 70"/>
          <p:cNvSpPr/>
          <p:nvPr/>
        </p:nvSpPr>
        <p:spPr>
          <a:xfrm>
            <a:off x="4645151"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645151"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50 staff. Job specs started this cycle but only one is approved so far.</a:t>
            </a:r>
          </a:p>
        </p:txBody>
      </p:sp>
      <p:sp>
        <p:nvSpPr>
          <p:cNvPr id="73" name="Rectangle 72"/>
          <p:cNvSpPr/>
          <p:nvPr/>
        </p:nvSpPr>
        <p:spPr>
          <a:xfrm>
            <a:off x="832103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321038" y="4041648"/>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522206"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TP Group</a:t>
            </a:r>
          </a:p>
        </p:txBody>
      </p:sp>
      <p:sp>
        <p:nvSpPr>
          <p:cNvPr id="76" name="TextBox 75"/>
          <p:cNvSpPr txBox="1"/>
          <p:nvPr/>
        </p:nvSpPr>
        <p:spPr>
          <a:xfrm>
            <a:off x="8522206" y="4498848"/>
            <a:ext cx="1737360" cy="502920"/>
          </a:xfrm>
          <a:prstGeom prst="rect">
            <a:avLst/>
          </a:prstGeom>
          <a:noFill/>
        </p:spPr>
        <p:txBody>
          <a:bodyPr wrap="square" lIns="0" rIns="0" tIns="0" bIns="0" anchor="t">
            <a:spAutoFit/>
          </a:bodyPr>
          <a:lstStyle/>
          <a:p>
            <a:pPr algn="l"/>
            <a:r>
              <a:rPr sz="2700" b="1">
                <a:solidFill>
                  <a:srgbClr val="1E2761"/>
                </a:solidFill>
                <a:latin typeface="Cambria"/>
              </a:rPr>
              <a:t>67</a:t>
            </a:r>
          </a:p>
        </p:txBody>
      </p:sp>
      <p:sp>
        <p:nvSpPr>
          <p:cNvPr id="77" name="TextBox 76"/>
          <p:cNvSpPr txBox="1"/>
          <p:nvPr/>
        </p:nvSpPr>
        <p:spPr>
          <a:xfrm>
            <a:off x="8522206"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PEOPLE ON FILE</a:t>
            </a:r>
          </a:p>
        </p:txBody>
      </p:sp>
      <p:sp>
        <p:nvSpPr>
          <p:cNvPr id="78" name="TextBox 77"/>
          <p:cNvSpPr txBox="1"/>
          <p:nvPr/>
        </p:nvSpPr>
        <p:spPr>
          <a:xfrm>
            <a:off x="10296142"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Active staff</a:t>
            </a:r>
          </a:p>
        </p:txBody>
      </p:sp>
      <p:sp>
        <p:nvSpPr>
          <p:cNvPr id="79" name="TextBox 78"/>
          <p:cNvSpPr txBox="1"/>
          <p:nvPr/>
        </p:nvSpPr>
        <p:spPr>
          <a:xfrm>
            <a:off x="11320270" y="4498848"/>
            <a:ext cx="512064" cy="219456"/>
          </a:xfrm>
          <a:prstGeom prst="rect">
            <a:avLst/>
          </a:prstGeom>
          <a:noFill/>
        </p:spPr>
        <p:txBody>
          <a:bodyPr wrap="square" lIns="0" rIns="0" tIns="0" bIns="0" anchor="t">
            <a:spAutoFit/>
          </a:bodyPr>
          <a:lstStyle/>
          <a:p>
            <a:pPr algn="r"/>
            <a:r>
              <a:rPr sz="1050" b="1">
                <a:solidFill>
                  <a:srgbClr val="16203F"/>
                </a:solidFill>
                <a:latin typeface="Calibri"/>
              </a:rPr>
              <a:t>67</a:t>
            </a:r>
          </a:p>
        </p:txBody>
      </p:sp>
      <p:sp>
        <p:nvSpPr>
          <p:cNvPr id="80" name="TextBox 79"/>
          <p:cNvSpPr txBox="1"/>
          <p:nvPr/>
        </p:nvSpPr>
        <p:spPr>
          <a:xfrm>
            <a:off x="10296142"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81" name="TextBox 80"/>
          <p:cNvSpPr txBox="1"/>
          <p:nvPr/>
        </p:nvSpPr>
        <p:spPr>
          <a:xfrm>
            <a:off x="11320270" y="4713732"/>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82" name="TextBox 81"/>
          <p:cNvSpPr txBox="1"/>
          <p:nvPr/>
        </p:nvSpPr>
        <p:spPr>
          <a:xfrm>
            <a:off x="10296142"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83" name="TextBox 82"/>
          <p:cNvSpPr txBox="1"/>
          <p:nvPr/>
        </p:nvSpPr>
        <p:spPr>
          <a:xfrm>
            <a:off x="11320270" y="4928616"/>
            <a:ext cx="512064" cy="219456"/>
          </a:xfrm>
          <a:prstGeom prst="rect">
            <a:avLst/>
          </a:prstGeom>
          <a:noFill/>
        </p:spPr>
        <p:txBody>
          <a:bodyPr wrap="square" lIns="0" rIns="0" tIns="0" bIns="0" anchor="t">
            <a:spAutoFit/>
          </a:bodyPr>
          <a:lstStyle/>
          <a:p>
            <a:pPr algn="r"/>
            <a:r>
              <a:rPr sz="1050" b="1">
                <a:solidFill>
                  <a:srgbClr val="5A6478"/>
                </a:solidFill>
                <a:latin typeface="Calibri"/>
              </a:rPr>
              <a:t>4%</a:t>
            </a:r>
          </a:p>
        </p:txBody>
      </p:sp>
      <p:sp>
        <p:nvSpPr>
          <p:cNvPr id="84" name="Rectangle 83"/>
          <p:cNvSpPr/>
          <p:nvPr/>
        </p:nvSpPr>
        <p:spPr>
          <a:xfrm>
            <a:off x="852220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522206"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61 staff and no general workers. Newly in scope for this review.</a:t>
            </a:r>
          </a:p>
        </p:txBody>
      </p:sp>
      <p:sp>
        <p:nvSpPr>
          <p:cNvPr id="86" name="TextBox 85"/>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Same staff basis as the scorecard review. Share of group is of the 1,682 people on file, staff and general workers combined. The manpower report counts a wider staff basis because it does not apply the MK Command exclusion flag.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THREE</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Job Spec Approval</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Where the approval backlog sits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3 · GROUP SUMMARY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Job spec approvals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941 versions on file and 259 approved (28%). The backlog is 668 pending, and half of it is general worker specs at one company.</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941</a:t>
            </a:r>
          </a:p>
        </p:txBody>
      </p:sp>
      <p:sp>
        <p:nvSpPr>
          <p:cNvPr id="11" name="TextBox 10"/>
          <p:cNvSpPr txBox="1"/>
          <p:nvPr/>
        </p:nvSpPr>
        <p:spPr>
          <a:xfrm>
            <a:off x="804672"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Versions on file</a:t>
            </a:r>
          </a:p>
        </p:txBody>
      </p:sp>
      <p:sp>
        <p:nvSpPr>
          <p:cNvPr id="12" name="TextBox 11"/>
          <p:cNvSpPr txBox="1"/>
          <p:nvPr/>
        </p:nvSpPr>
        <p:spPr>
          <a:xfrm>
            <a:off x="804672"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605 for staff and 336 for general workers.</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6996"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4740" y="1810512"/>
            <a:ext cx="2203704" cy="548640"/>
          </a:xfrm>
          <a:prstGeom prst="rect">
            <a:avLst/>
          </a:prstGeom>
          <a:noFill/>
        </p:spPr>
        <p:txBody>
          <a:bodyPr wrap="square" lIns="0" rIns="0" tIns="0" bIns="0" anchor="t">
            <a:spAutoFit/>
          </a:bodyPr>
          <a:lstStyle/>
          <a:p>
            <a:pPr algn="l"/>
            <a:r>
              <a:rPr sz="3400" b="1">
                <a:solidFill>
                  <a:srgbClr val="F9A825"/>
                </a:solidFill>
                <a:latin typeface="Cambria"/>
              </a:rPr>
              <a:t>28%</a:t>
            </a:r>
          </a:p>
        </p:txBody>
      </p:sp>
      <p:sp>
        <p:nvSpPr>
          <p:cNvPr id="16" name="TextBox 15"/>
          <p:cNvSpPr txBox="1"/>
          <p:nvPr/>
        </p:nvSpPr>
        <p:spPr>
          <a:xfrm>
            <a:off x="3634740"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Approved</a:t>
            </a:r>
          </a:p>
        </p:txBody>
      </p:sp>
      <p:sp>
        <p:nvSpPr>
          <p:cNvPr id="17" name="TextBox 16"/>
          <p:cNvSpPr txBox="1"/>
          <p:nvPr/>
        </p:nvSpPr>
        <p:spPr>
          <a:xfrm>
            <a:off x="3634740"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259 of 941. Was 25% at the September review.</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1627632"/>
            <a:ext cx="50292" cy="17830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810512"/>
            <a:ext cx="2203704" cy="548640"/>
          </a:xfrm>
          <a:prstGeom prst="rect">
            <a:avLst/>
          </a:prstGeom>
          <a:noFill/>
        </p:spPr>
        <p:txBody>
          <a:bodyPr wrap="square" lIns="0" rIns="0" tIns="0" bIns="0" anchor="t">
            <a:spAutoFit/>
          </a:bodyPr>
          <a:lstStyle/>
          <a:p>
            <a:pPr algn="l"/>
            <a:r>
              <a:rPr sz="3400" b="1">
                <a:solidFill>
                  <a:srgbClr val="C62828"/>
                </a:solidFill>
                <a:latin typeface="Cambria"/>
              </a:rPr>
              <a:t>668</a:t>
            </a:r>
          </a:p>
        </p:txBody>
      </p:sp>
      <p:sp>
        <p:nvSpPr>
          <p:cNvPr id="21" name="TextBox 20"/>
          <p:cNvSpPr txBox="1"/>
          <p:nvPr/>
        </p:nvSpPr>
        <p:spPr>
          <a:xfrm>
            <a:off x="6464808"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Still pending</a:t>
            </a:r>
          </a:p>
        </p:txBody>
      </p:sp>
      <p:sp>
        <p:nvSpPr>
          <p:cNvPr id="22" name="TextBox 21"/>
          <p:cNvSpPr txBox="1"/>
          <p:nvPr/>
        </p:nvSpPr>
        <p:spPr>
          <a:xfrm>
            <a:off x="6464808"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A further 14 were rejected and need reworking.</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7132" y="1627632"/>
            <a:ext cx="50292" cy="17830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4876" y="1810512"/>
            <a:ext cx="2203704" cy="548640"/>
          </a:xfrm>
          <a:prstGeom prst="rect">
            <a:avLst/>
          </a:prstGeom>
          <a:noFill/>
        </p:spPr>
        <p:txBody>
          <a:bodyPr wrap="square" lIns="0" rIns="0" tIns="0" bIns="0" anchor="t">
            <a:spAutoFit/>
          </a:bodyPr>
          <a:lstStyle/>
          <a:p>
            <a:pPr algn="l"/>
            <a:r>
              <a:rPr sz="3400" b="1">
                <a:solidFill>
                  <a:srgbClr val="C62828"/>
                </a:solidFill>
                <a:latin typeface="Cambria"/>
              </a:rPr>
              <a:t>335</a:t>
            </a:r>
          </a:p>
        </p:txBody>
      </p:sp>
      <p:sp>
        <p:nvSpPr>
          <p:cNvPr id="26" name="TextBox 25"/>
          <p:cNvSpPr txBox="1"/>
          <p:nvPr/>
        </p:nvSpPr>
        <p:spPr>
          <a:xfrm>
            <a:off x="9294876"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Pending GW specs</a:t>
            </a:r>
          </a:p>
        </p:txBody>
      </p:sp>
      <p:sp>
        <p:nvSpPr>
          <p:cNvPr id="27" name="TextBox 26"/>
          <p:cNvSpPr txBox="1"/>
          <p:nvPr/>
        </p:nvSpPr>
        <p:spPr>
          <a:xfrm>
            <a:off x="9294876"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All at Globinaco — 50% of the group's entire backlog.</a:t>
            </a:r>
          </a:p>
        </p:txBody>
      </p:sp>
      <p:sp>
        <p:nvSpPr>
          <p:cNvPr id="28" name="Rectangle 27"/>
          <p:cNvSpPr/>
          <p:nvPr/>
        </p:nvSpPr>
        <p:spPr>
          <a:xfrm>
            <a:off x="566928" y="3703320"/>
            <a:ext cx="110642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776472"/>
            <a:ext cx="2141540" cy="329184"/>
          </a:xfrm>
          <a:prstGeom prst="rect">
            <a:avLst/>
          </a:prstGeom>
          <a:noFill/>
        </p:spPr>
        <p:txBody>
          <a:bodyPr wrap="square" lIns="0" rIns="0" tIns="0" bIns="0" anchor="t">
            <a:spAutoFit/>
          </a:bodyPr>
          <a:lstStyle/>
          <a:p>
            <a:pPr algn="l"/>
            <a:r>
              <a:rPr sz="950" b="1">
                <a:solidFill>
                  <a:srgbClr val="FFFFFF"/>
                </a:solidFill>
                <a:latin typeface="Calibri"/>
              </a:rPr>
              <a:t>Company</a:t>
            </a:r>
          </a:p>
        </p:txBody>
      </p:sp>
      <p:sp>
        <p:nvSpPr>
          <p:cNvPr id="30" name="TextBox 29"/>
          <p:cNvSpPr txBox="1"/>
          <p:nvPr/>
        </p:nvSpPr>
        <p:spPr>
          <a:xfrm>
            <a:off x="2991932" y="3776472"/>
            <a:ext cx="932841" cy="329184"/>
          </a:xfrm>
          <a:prstGeom prst="rect">
            <a:avLst/>
          </a:prstGeom>
          <a:noFill/>
        </p:spPr>
        <p:txBody>
          <a:bodyPr wrap="square" lIns="0" rIns="0" tIns="0" bIns="0" anchor="t">
            <a:spAutoFit/>
          </a:bodyPr>
          <a:lstStyle/>
          <a:p>
            <a:pPr algn="r"/>
            <a:r>
              <a:rPr sz="950" b="1">
                <a:solidFill>
                  <a:srgbClr val="FFFFFF"/>
                </a:solidFill>
                <a:latin typeface="Calibri"/>
              </a:rPr>
              <a:t>Staff</a:t>
            </a:r>
          </a:p>
        </p:txBody>
      </p:sp>
      <p:sp>
        <p:nvSpPr>
          <p:cNvPr id="31" name="TextBox 30"/>
          <p:cNvSpPr txBox="1"/>
          <p:nvPr/>
        </p:nvSpPr>
        <p:spPr>
          <a:xfrm>
            <a:off x="4107653" y="3776472"/>
            <a:ext cx="932841" cy="329184"/>
          </a:xfrm>
          <a:prstGeom prst="rect">
            <a:avLst/>
          </a:prstGeom>
          <a:noFill/>
        </p:spPr>
        <p:txBody>
          <a:bodyPr wrap="square" lIns="0" rIns="0" tIns="0" bIns="0" anchor="t">
            <a:spAutoFit/>
          </a:bodyPr>
          <a:lstStyle/>
          <a:p>
            <a:pPr algn="r"/>
            <a:r>
              <a:rPr sz="950" b="1">
                <a:solidFill>
                  <a:srgbClr val="FFFFFF"/>
                </a:solidFill>
                <a:latin typeface="Calibri"/>
              </a:rPr>
              <a:t>GW</a:t>
            </a:r>
          </a:p>
        </p:txBody>
      </p:sp>
      <p:sp>
        <p:nvSpPr>
          <p:cNvPr id="32" name="TextBox 31"/>
          <p:cNvSpPr txBox="1"/>
          <p:nvPr/>
        </p:nvSpPr>
        <p:spPr>
          <a:xfrm>
            <a:off x="5223374" y="3776472"/>
            <a:ext cx="1118795" cy="329184"/>
          </a:xfrm>
          <a:prstGeom prst="rect">
            <a:avLst/>
          </a:prstGeom>
          <a:noFill/>
        </p:spPr>
        <p:txBody>
          <a:bodyPr wrap="square" lIns="0" rIns="0" tIns="0" bIns="0" anchor="t">
            <a:spAutoFit/>
          </a:bodyPr>
          <a:lstStyle/>
          <a:p>
            <a:pPr algn="r"/>
            <a:r>
              <a:rPr sz="950" b="1">
                <a:solidFill>
                  <a:srgbClr val="FFFFFF"/>
                </a:solidFill>
                <a:latin typeface="Calibri"/>
              </a:rPr>
              <a:t>Job specs</a:t>
            </a:r>
          </a:p>
        </p:txBody>
      </p:sp>
      <p:sp>
        <p:nvSpPr>
          <p:cNvPr id="33" name="TextBox 32"/>
          <p:cNvSpPr txBox="1"/>
          <p:nvPr/>
        </p:nvSpPr>
        <p:spPr>
          <a:xfrm>
            <a:off x="6525049" y="3776472"/>
            <a:ext cx="1072306" cy="329184"/>
          </a:xfrm>
          <a:prstGeom prst="rect">
            <a:avLst/>
          </a:prstGeom>
          <a:noFill/>
        </p:spPr>
        <p:txBody>
          <a:bodyPr wrap="square" lIns="0" rIns="0" tIns="0" bIns="0" anchor="t">
            <a:spAutoFit/>
          </a:bodyPr>
          <a:lstStyle/>
          <a:p>
            <a:pPr algn="r"/>
            <a:r>
              <a:rPr sz="950" b="1">
                <a:solidFill>
                  <a:srgbClr val="FFFFFF"/>
                </a:solidFill>
                <a:latin typeface="Calibri"/>
              </a:rPr>
              <a:t>Approved</a:t>
            </a:r>
          </a:p>
        </p:txBody>
      </p:sp>
      <p:sp>
        <p:nvSpPr>
          <p:cNvPr id="34" name="TextBox 33"/>
          <p:cNvSpPr txBox="1"/>
          <p:nvPr/>
        </p:nvSpPr>
        <p:spPr>
          <a:xfrm>
            <a:off x="7780235" y="3776472"/>
            <a:ext cx="1072306" cy="329184"/>
          </a:xfrm>
          <a:prstGeom prst="rect">
            <a:avLst/>
          </a:prstGeom>
          <a:noFill/>
        </p:spPr>
        <p:txBody>
          <a:bodyPr wrap="square" lIns="0" rIns="0" tIns="0" bIns="0" anchor="t">
            <a:spAutoFit/>
          </a:bodyPr>
          <a:lstStyle/>
          <a:p>
            <a:pPr algn="r"/>
            <a:r>
              <a:rPr sz="950" b="1">
                <a:solidFill>
                  <a:srgbClr val="FFFFFF"/>
                </a:solidFill>
                <a:latin typeface="Calibri"/>
              </a:rPr>
              <a:t>Pending</a:t>
            </a:r>
          </a:p>
        </p:txBody>
      </p:sp>
      <p:sp>
        <p:nvSpPr>
          <p:cNvPr id="35" name="TextBox 34"/>
          <p:cNvSpPr txBox="1"/>
          <p:nvPr/>
        </p:nvSpPr>
        <p:spPr>
          <a:xfrm>
            <a:off x="9035421" y="3776472"/>
            <a:ext cx="1025818" cy="329184"/>
          </a:xfrm>
          <a:prstGeom prst="rect">
            <a:avLst/>
          </a:prstGeom>
          <a:noFill/>
        </p:spPr>
        <p:txBody>
          <a:bodyPr wrap="square" lIns="0" rIns="0" tIns="0" bIns="0" anchor="t">
            <a:spAutoFit/>
          </a:bodyPr>
          <a:lstStyle/>
          <a:p>
            <a:pPr algn="r"/>
            <a:r>
              <a:rPr sz="950" b="1">
                <a:solidFill>
                  <a:srgbClr val="FFFFFF"/>
                </a:solidFill>
                <a:latin typeface="Calibri"/>
              </a:rPr>
              <a:t>Rejected</a:t>
            </a:r>
          </a:p>
        </p:txBody>
      </p:sp>
      <p:sp>
        <p:nvSpPr>
          <p:cNvPr id="36" name="TextBox 35"/>
          <p:cNvSpPr txBox="1"/>
          <p:nvPr/>
        </p:nvSpPr>
        <p:spPr>
          <a:xfrm>
            <a:off x="10244119" y="3776472"/>
            <a:ext cx="1304748" cy="329184"/>
          </a:xfrm>
          <a:prstGeom prst="rect">
            <a:avLst/>
          </a:prstGeom>
          <a:noFill/>
        </p:spPr>
        <p:txBody>
          <a:bodyPr wrap="square" lIns="0" rIns="0" tIns="0" bIns="0" anchor="t">
            <a:spAutoFit/>
          </a:bodyPr>
          <a:lstStyle/>
          <a:p>
            <a:pPr algn="r"/>
            <a:r>
              <a:rPr sz="950" b="1">
                <a:solidFill>
                  <a:srgbClr val="FFFFFF"/>
                </a:solidFill>
                <a:latin typeface="Calibri"/>
              </a:rPr>
              <a:t>Approved %</a:t>
            </a:r>
          </a:p>
        </p:txBody>
      </p:sp>
      <p:sp>
        <p:nvSpPr>
          <p:cNvPr id="37" name="Rectangle 36"/>
          <p:cNvSpPr/>
          <p:nvPr/>
        </p:nvSpPr>
        <p:spPr>
          <a:xfrm>
            <a:off x="566928" y="4032504"/>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433882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512" y="4096512"/>
            <a:ext cx="2141540" cy="306324"/>
          </a:xfrm>
          <a:prstGeom prst="rect">
            <a:avLst/>
          </a:prstGeom>
          <a:noFill/>
        </p:spPr>
        <p:txBody>
          <a:bodyPr wrap="square" lIns="0" rIns="0" tIns="0" bIns="0" anchor="t">
            <a:spAutoFit/>
          </a:bodyPr>
          <a:lstStyle/>
          <a:p>
            <a:pPr algn="l"/>
            <a:r>
              <a:rPr sz="1050" b="1">
                <a:solidFill>
                  <a:srgbClr val="111111"/>
                </a:solidFill>
                <a:latin typeface="Calibri"/>
              </a:rPr>
              <a:t>Globinaco</a:t>
            </a:r>
          </a:p>
        </p:txBody>
      </p:sp>
      <p:sp>
        <p:nvSpPr>
          <p:cNvPr id="40" name="TextBox 39"/>
          <p:cNvSpPr txBox="1"/>
          <p:nvPr/>
        </p:nvSpPr>
        <p:spPr>
          <a:xfrm>
            <a:off x="2991932" y="4096512"/>
            <a:ext cx="932841" cy="306324"/>
          </a:xfrm>
          <a:prstGeom prst="rect">
            <a:avLst/>
          </a:prstGeom>
          <a:noFill/>
        </p:spPr>
        <p:txBody>
          <a:bodyPr wrap="square" lIns="0" rIns="0" tIns="0" bIns="0" anchor="t">
            <a:spAutoFit/>
          </a:bodyPr>
          <a:lstStyle/>
          <a:p>
            <a:pPr algn="r"/>
            <a:r>
              <a:rPr sz="1050" b="0">
                <a:solidFill>
                  <a:srgbClr val="111111"/>
                </a:solidFill>
                <a:latin typeface="Calibri"/>
              </a:rPr>
              <a:t>342</a:t>
            </a:r>
          </a:p>
        </p:txBody>
      </p:sp>
      <p:sp>
        <p:nvSpPr>
          <p:cNvPr id="41" name="TextBox 40"/>
          <p:cNvSpPr txBox="1"/>
          <p:nvPr/>
        </p:nvSpPr>
        <p:spPr>
          <a:xfrm>
            <a:off x="4107653" y="4096512"/>
            <a:ext cx="932841" cy="306324"/>
          </a:xfrm>
          <a:prstGeom prst="rect">
            <a:avLst/>
          </a:prstGeom>
          <a:noFill/>
        </p:spPr>
        <p:txBody>
          <a:bodyPr wrap="square" lIns="0" rIns="0" tIns="0" bIns="0" anchor="t">
            <a:spAutoFit/>
          </a:bodyPr>
          <a:lstStyle/>
          <a:p>
            <a:pPr algn="r"/>
            <a:r>
              <a:rPr sz="1050" b="0">
                <a:solidFill>
                  <a:srgbClr val="111111"/>
                </a:solidFill>
                <a:latin typeface="Calibri"/>
              </a:rPr>
              <a:t>352</a:t>
            </a:r>
          </a:p>
        </p:txBody>
      </p:sp>
      <p:sp>
        <p:nvSpPr>
          <p:cNvPr id="42" name="TextBox 41"/>
          <p:cNvSpPr txBox="1"/>
          <p:nvPr/>
        </p:nvSpPr>
        <p:spPr>
          <a:xfrm>
            <a:off x="5223374" y="4096512"/>
            <a:ext cx="1118795" cy="306324"/>
          </a:xfrm>
          <a:prstGeom prst="rect">
            <a:avLst/>
          </a:prstGeom>
          <a:noFill/>
        </p:spPr>
        <p:txBody>
          <a:bodyPr wrap="square" lIns="0" rIns="0" tIns="0" bIns="0" anchor="t">
            <a:spAutoFit/>
          </a:bodyPr>
          <a:lstStyle/>
          <a:p>
            <a:pPr algn="r"/>
            <a:r>
              <a:rPr sz="1050" b="0">
                <a:solidFill>
                  <a:srgbClr val="111111"/>
                </a:solidFill>
                <a:latin typeface="Calibri"/>
              </a:rPr>
              <a:t>680</a:t>
            </a:r>
          </a:p>
        </p:txBody>
      </p:sp>
      <p:sp>
        <p:nvSpPr>
          <p:cNvPr id="43" name="TextBox 42"/>
          <p:cNvSpPr txBox="1"/>
          <p:nvPr/>
        </p:nvSpPr>
        <p:spPr>
          <a:xfrm>
            <a:off x="6525049" y="4096512"/>
            <a:ext cx="1072306" cy="306324"/>
          </a:xfrm>
          <a:prstGeom prst="rect">
            <a:avLst/>
          </a:prstGeom>
          <a:noFill/>
        </p:spPr>
        <p:txBody>
          <a:bodyPr wrap="square" lIns="0" rIns="0" tIns="0" bIns="0" anchor="t">
            <a:spAutoFit/>
          </a:bodyPr>
          <a:lstStyle/>
          <a:p>
            <a:pPr algn="r"/>
            <a:r>
              <a:rPr sz="1050" b="0">
                <a:solidFill>
                  <a:srgbClr val="111111"/>
                </a:solidFill>
                <a:latin typeface="Calibri"/>
              </a:rPr>
              <a:t>139</a:t>
            </a:r>
          </a:p>
        </p:txBody>
      </p:sp>
      <p:sp>
        <p:nvSpPr>
          <p:cNvPr id="44" name="TextBox 43"/>
          <p:cNvSpPr txBox="1"/>
          <p:nvPr/>
        </p:nvSpPr>
        <p:spPr>
          <a:xfrm>
            <a:off x="7780235" y="4096512"/>
            <a:ext cx="1072306" cy="306324"/>
          </a:xfrm>
          <a:prstGeom prst="rect">
            <a:avLst/>
          </a:prstGeom>
          <a:noFill/>
        </p:spPr>
        <p:txBody>
          <a:bodyPr wrap="square" lIns="0" rIns="0" tIns="0" bIns="0" anchor="t">
            <a:spAutoFit/>
          </a:bodyPr>
          <a:lstStyle/>
          <a:p>
            <a:pPr algn="r"/>
            <a:r>
              <a:rPr sz="1050" b="0">
                <a:solidFill>
                  <a:srgbClr val="111111"/>
                </a:solidFill>
                <a:latin typeface="Calibri"/>
              </a:rPr>
              <a:t>527</a:t>
            </a:r>
          </a:p>
        </p:txBody>
      </p:sp>
      <p:sp>
        <p:nvSpPr>
          <p:cNvPr id="45" name="TextBox 44"/>
          <p:cNvSpPr txBox="1"/>
          <p:nvPr/>
        </p:nvSpPr>
        <p:spPr>
          <a:xfrm>
            <a:off x="9035421" y="4096512"/>
            <a:ext cx="1025818" cy="306324"/>
          </a:xfrm>
          <a:prstGeom prst="rect">
            <a:avLst/>
          </a:prstGeom>
          <a:noFill/>
        </p:spPr>
        <p:txBody>
          <a:bodyPr wrap="square" lIns="0" rIns="0" tIns="0" bIns="0" anchor="t">
            <a:spAutoFit/>
          </a:bodyPr>
          <a:lstStyle/>
          <a:p>
            <a:pPr algn="r"/>
            <a:r>
              <a:rPr sz="1050" b="0">
                <a:solidFill>
                  <a:srgbClr val="111111"/>
                </a:solidFill>
                <a:latin typeface="Calibri"/>
              </a:rPr>
              <a:t>14</a:t>
            </a:r>
          </a:p>
        </p:txBody>
      </p:sp>
      <p:sp>
        <p:nvSpPr>
          <p:cNvPr id="46" name="TextBox 45"/>
          <p:cNvSpPr txBox="1"/>
          <p:nvPr/>
        </p:nvSpPr>
        <p:spPr>
          <a:xfrm>
            <a:off x="10244119" y="4096512"/>
            <a:ext cx="1304748" cy="306324"/>
          </a:xfrm>
          <a:prstGeom prst="rect">
            <a:avLst/>
          </a:prstGeom>
          <a:noFill/>
        </p:spPr>
        <p:txBody>
          <a:bodyPr wrap="square" lIns="0" rIns="0" tIns="0" bIns="0" anchor="t">
            <a:spAutoFit/>
          </a:bodyPr>
          <a:lstStyle/>
          <a:p>
            <a:pPr algn="r"/>
            <a:r>
              <a:rPr sz="1050" b="0">
                <a:solidFill>
                  <a:srgbClr val="111111"/>
                </a:solidFill>
                <a:latin typeface="Calibri"/>
              </a:rPr>
              <a:t>20%</a:t>
            </a:r>
          </a:p>
        </p:txBody>
      </p:sp>
      <p:sp>
        <p:nvSpPr>
          <p:cNvPr id="47" name="Rectangle 46"/>
          <p:cNvSpPr/>
          <p:nvPr/>
        </p:nvSpPr>
        <p:spPr>
          <a:xfrm>
            <a:off x="566928" y="4338828"/>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6928" y="464515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7512" y="4402836"/>
            <a:ext cx="2141540" cy="306324"/>
          </a:xfrm>
          <a:prstGeom prst="rect">
            <a:avLst/>
          </a:prstGeom>
          <a:noFill/>
        </p:spPr>
        <p:txBody>
          <a:bodyPr wrap="square" lIns="0" rIns="0" tIns="0" bIns="0" anchor="t">
            <a:spAutoFit/>
          </a:bodyPr>
          <a:lstStyle/>
          <a:p>
            <a:pPr algn="l"/>
            <a:r>
              <a:rPr sz="1050" b="1">
                <a:solidFill>
                  <a:srgbClr val="111111"/>
                </a:solidFill>
                <a:latin typeface="Calibri"/>
              </a:rPr>
              <a:t>Grandis</a:t>
            </a:r>
          </a:p>
        </p:txBody>
      </p:sp>
      <p:sp>
        <p:nvSpPr>
          <p:cNvPr id="50" name="TextBox 49"/>
          <p:cNvSpPr txBox="1"/>
          <p:nvPr/>
        </p:nvSpPr>
        <p:spPr>
          <a:xfrm>
            <a:off x="2991932" y="4402836"/>
            <a:ext cx="932841" cy="306324"/>
          </a:xfrm>
          <a:prstGeom prst="rect">
            <a:avLst/>
          </a:prstGeom>
          <a:noFill/>
        </p:spPr>
        <p:txBody>
          <a:bodyPr wrap="square" lIns="0" rIns="0" tIns="0" bIns="0" anchor="t">
            <a:spAutoFit/>
          </a:bodyPr>
          <a:lstStyle/>
          <a:p>
            <a:pPr algn="r"/>
            <a:r>
              <a:rPr sz="1050" b="0">
                <a:solidFill>
                  <a:srgbClr val="111111"/>
                </a:solidFill>
                <a:latin typeface="Calibri"/>
              </a:rPr>
              <a:t>150</a:t>
            </a:r>
          </a:p>
        </p:txBody>
      </p:sp>
      <p:sp>
        <p:nvSpPr>
          <p:cNvPr id="51" name="TextBox 50"/>
          <p:cNvSpPr txBox="1"/>
          <p:nvPr/>
        </p:nvSpPr>
        <p:spPr>
          <a:xfrm>
            <a:off x="4107653" y="4402836"/>
            <a:ext cx="932841"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52" name="TextBox 51"/>
          <p:cNvSpPr txBox="1"/>
          <p:nvPr/>
        </p:nvSpPr>
        <p:spPr>
          <a:xfrm>
            <a:off x="5223374" y="4402836"/>
            <a:ext cx="1118795" cy="306324"/>
          </a:xfrm>
          <a:prstGeom prst="rect">
            <a:avLst/>
          </a:prstGeom>
          <a:noFill/>
        </p:spPr>
        <p:txBody>
          <a:bodyPr wrap="square" lIns="0" rIns="0" tIns="0" bIns="0" anchor="t">
            <a:spAutoFit/>
          </a:bodyPr>
          <a:lstStyle/>
          <a:p>
            <a:pPr algn="r"/>
            <a:r>
              <a:rPr sz="1050" b="0">
                <a:solidFill>
                  <a:srgbClr val="111111"/>
                </a:solidFill>
                <a:latin typeface="Calibri"/>
              </a:rPr>
              <a:t>147</a:t>
            </a:r>
          </a:p>
        </p:txBody>
      </p:sp>
      <p:sp>
        <p:nvSpPr>
          <p:cNvPr id="53" name="TextBox 52"/>
          <p:cNvSpPr txBox="1"/>
          <p:nvPr/>
        </p:nvSpPr>
        <p:spPr>
          <a:xfrm>
            <a:off x="6525049" y="4402836"/>
            <a:ext cx="1072306" cy="306324"/>
          </a:xfrm>
          <a:prstGeom prst="rect">
            <a:avLst/>
          </a:prstGeom>
          <a:noFill/>
        </p:spPr>
        <p:txBody>
          <a:bodyPr wrap="square" lIns="0" rIns="0" tIns="0" bIns="0" anchor="t">
            <a:spAutoFit/>
          </a:bodyPr>
          <a:lstStyle/>
          <a:p>
            <a:pPr algn="r"/>
            <a:r>
              <a:rPr sz="1050" b="0">
                <a:solidFill>
                  <a:srgbClr val="111111"/>
                </a:solidFill>
                <a:latin typeface="Calibri"/>
              </a:rPr>
              <a:t>61</a:t>
            </a:r>
          </a:p>
        </p:txBody>
      </p:sp>
      <p:sp>
        <p:nvSpPr>
          <p:cNvPr id="54" name="TextBox 53"/>
          <p:cNvSpPr txBox="1"/>
          <p:nvPr/>
        </p:nvSpPr>
        <p:spPr>
          <a:xfrm>
            <a:off x="7780235" y="4402836"/>
            <a:ext cx="1072306" cy="306324"/>
          </a:xfrm>
          <a:prstGeom prst="rect">
            <a:avLst/>
          </a:prstGeom>
          <a:noFill/>
        </p:spPr>
        <p:txBody>
          <a:bodyPr wrap="square" lIns="0" rIns="0" tIns="0" bIns="0" anchor="t">
            <a:spAutoFit/>
          </a:bodyPr>
          <a:lstStyle/>
          <a:p>
            <a:pPr algn="r"/>
            <a:r>
              <a:rPr sz="1050" b="0">
                <a:solidFill>
                  <a:srgbClr val="111111"/>
                </a:solidFill>
                <a:latin typeface="Calibri"/>
              </a:rPr>
              <a:t>86</a:t>
            </a:r>
          </a:p>
        </p:txBody>
      </p:sp>
      <p:sp>
        <p:nvSpPr>
          <p:cNvPr id="55" name="TextBox 54"/>
          <p:cNvSpPr txBox="1"/>
          <p:nvPr/>
        </p:nvSpPr>
        <p:spPr>
          <a:xfrm>
            <a:off x="9035421" y="4402836"/>
            <a:ext cx="1025818"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56" name="TextBox 55"/>
          <p:cNvSpPr txBox="1"/>
          <p:nvPr/>
        </p:nvSpPr>
        <p:spPr>
          <a:xfrm>
            <a:off x="10244119" y="4402836"/>
            <a:ext cx="1304748" cy="306324"/>
          </a:xfrm>
          <a:prstGeom prst="rect">
            <a:avLst/>
          </a:prstGeom>
          <a:noFill/>
        </p:spPr>
        <p:txBody>
          <a:bodyPr wrap="square" lIns="0" rIns="0" tIns="0" bIns="0" anchor="t">
            <a:spAutoFit/>
          </a:bodyPr>
          <a:lstStyle/>
          <a:p>
            <a:pPr algn="r"/>
            <a:r>
              <a:rPr sz="1050" b="0">
                <a:solidFill>
                  <a:srgbClr val="111111"/>
                </a:solidFill>
                <a:latin typeface="Calibri"/>
              </a:rPr>
              <a:t>41%</a:t>
            </a:r>
          </a:p>
        </p:txBody>
      </p:sp>
      <p:sp>
        <p:nvSpPr>
          <p:cNvPr id="57" name="Rectangle 56"/>
          <p:cNvSpPr/>
          <p:nvPr/>
        </p:nvSpPr>
        <p:spPr>
          <a:xfrm>
            <a:off x="566928" y="4645152"/>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66928" y="495147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7512" y="4709160"/>
            <a:ext cx="2141540" cy="306324"/>
          </a:xfrm>
          <a:prstGeom prst="rect">
            <a:avLst/>
          </a:prstGeom>
          <a:noFill/>
        </p:spPr>
        <p:txBody>
          <a:bodyPr wrap="square" lIns="0" rIns="0" tIns="0" bIns="0" anchor="t">
            <a:spAutoFit/>
          </a:bodyPr>
          <a:lstStyle/>
          <a:p>
            <a:pPr algn="l"/>
            <a:r>
              <a:rPr sz="1050" b="1">
                <a:solidFill>
                  <a:srgbClr val="111111"/>
                </a:solidFill>
                <a:latin typeface="Calibri"/>
              </a:rPr>
              <a:t>Arus Sawit</a:t>
            </a:r>
          </a:p>
        </p:txBody>
      </p:sp>
      <p:sp>
        <p:nvSpPr>
          <p:cNvPr id="60" name="TextBox 59"/>
          <p:cNvSpPr txBox="1"/>
          <p:nvPr/>
        </p:nvSpPr>
        <p:spPr>
          <a:xfrm>
            <a:off x="2991932" y="4709160"/>
            <a:ext cx="932841" cy="306324"/>
          </a:xfrm>
          <a:prstGeom prst="rect">
            <a:avLst/>
          </a:prstGeom>
          <a:noFill/>
        </p:spPr>
        <p:txBody>
          <a:bodyPr wrap="square" lIns="0" rIns="0" tIns="0" bIns="0" anchor="t">
            <a:spAutoFit/>
          </a:bodyPr>
          <a:lstStyle/>
          <a:p>
            <a:pPr algn="r"/>
            <a:r>
              <a:rPr sz="1050" b="0">
                <a:solidFill>
                  <a:srgbClr val="111111"/>
                </a:solidFill>
                <a:latin typeface="Calibri"/>
              </a:rPr>
              <a:t>73</a:t>
            </a:r>
          </a:p>
        </p:txBody>
      </p:sp>
      <p:sp>
        <p:nvSpPr>
          <p:cNvPr id="61" name="TextBox 60"/>
          <p:cNvSpPr txBox="1"/>
          <p:nvPr/>
        </p:nvSpPr>
        <p:spPr>
          <a:xfrm>
            <a:off x="4107653" y="4709160"/>
            <a:ext cx="932841" cy="306324"/>
          </a:xfrm>
          <a:prstGeom prst="rect">
            <a:avLst/>
          </a:prstGeom>
          <a:noFill/>
        </p:spPr>
        <p:txBody>
          <a:bodyPr wrap="square" lIns="0" rIns="0" tIns="0" bIns="0" anchor="t">
            <a:spAutoFit/>
          </a:bodyPr>
          <a:lstStyle/>
          <a:p>
            <a:pPr algn="r"/>
            <a:r>
              <a:rPr sz="1050" b="0">
                <a:solidFill>
                  <a:srgbClr val="111111"/>
                </a:solidFill>
                <a:latin typeface="Calibri"/>
              </a:rPr>
              <a:t>585</a:t>
            </a:r>
          </a:p>
        </p:txBody>
      </p:sp>
      <p:sp>
        <p:nvSpPr>
          <p:cNvPr id="62" name="TextBox 61"/>
          <p:cNvSpPr txBox="1"/>
          <p:nvPr/>
        </p:nvSpPr>
        <p:spPr>
          <a:xfrm>
            <a:off x="5223374" y="4709160"/>
            <a:ext cx="1118795" cy="306324"/>
          </a:xfrm>
          <a:prstGeom prst="rect">
            <a:avLst/>
          </a:prstGeom>
          <a:noFill/>
        </p:spPr>
        <p:txBody>
          <a:bodyPr wrap="square" lIns="0" rIns="0" tIns="0" bIns="0" anchor="t">
            <a:spAutoFit/>
          </a:bodyPr>
          <a:lstStyle/>
          <a:p>
            <a:pPr algn="r"/>
            <a:r>
              <a:rPr sz="1050" b="0">
                <a:solidFill>
                  <a:srgbClr val="111111"/>
                </a:solidFill>
                <a:latin typeface="Calibri"/>
              </a:rPr>
              <a:t>72</a:t>
            </a:r>
          </a:p>
        </p:txBody>
      </p:sp>
      <p:sp>
        <p:nvSpPr>
          <p:cNvPr id="63" name="TextBox 62"/>
          <p:cNvSpPr txBox="1"/>
          <p:nvPr/>
        </p:nvSpPr>
        <p:spPr>
          <a:xfrm>
            <a:off x="6525049" y="4709160"/>
            <a:ext cx="1072306" cy="306324"/>
          </a:xfrm>
          <a:prstGeom prst="rect">
            <a:avLst/>
          </a:prstGeom>
          <a:noFill/>
        </p:spPr>
        <p:txBody>
          <a:bodyPr wrap="square" lIns="0" rIns="0" tIns="0" bIns="0" anchor="t">
            <a:spAutoFit/>
          </a:bodyPr>
          <a:lstStyle/>
          <a:p>
            <a:pPr algn="r"/>
            <a:r>
              <a:rPr sz="1050" b="0">
                <a:solidFill>
                  <a:srgbClr val="111111"/>
                </a:solidFill>
                <a:latin typeface="Calibri"/>
              </a:rPr>
              <a:t>58</a:t>
            </a:r>
          </a:p>
        </p:txBody>
      </p:sp>
      <p:sp>
        <p:nvSpPr>
          <p:cNvPr id="64" name="TextBox 63"/>
          <p:cNvSpPr txBox="1"/>
          <p:nvPr/>
        </p:nvSpPr>
        <p:spPr>
          <a:xfrm>
            <a:off x="7780235" y="4709160"/>
            <a:ext cx="1072306" cy="306324"/>
          </a:xfrm>
          <a:prstGeom prst="rect">
            <a:avLst/>
          </a:prstGeom>
          <a:noFill/>
        </p:spPr>
        <p:txBody>
          <a:bodyPr wrap="square" lIns="0" rIns="0" tIns="0" bIns="0" anchor="t">
            <a:spAutoFit/>
          </a:bodyPr>
          <a:lstStyle/>
          <a:p>
            <a:pPr algn="r"/>
            <a:r>
              <a:rPr sz="1050" b="0">
                <a:solidFill>
                  <a:srgbClr val="111111"/>
                </a:solidFill>
                <a:latin typeface="Calibri"/>
              </a:rPr>
              <a:t>14</a:t>
            </a:r>
          </a:p>
        </p:txBody>
      </p:sp>
      <p:sp>
        <p:nvSpPr>
          <p:cNvPr id="65" name="TextBox 64"/>
          <p:cNvSpPr txBox="1"/>
          <p:nvPr/>
        </p:nvSpPr>
        <p:spPr>
          <a:xfrm>
            <a:off x="9035421" y="4709160"/>
            <a:ext cx="1025818"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66" name="TextBox 65"/>
          <p:cNvSpPr txBox="1"/>
          <p:nvPr/>
        </p:nvSpPr>
        <p:spPr>
          <a:xfrm>
            <a:off x="10244119" y="4709160"/>
            <a:ext cx="1304748" cy="306324"/>
          </a:xfrm>
          <a:prstGeom prst="rect">
            <a:avLst/>
          </a:prstGeom>
          <a:noFill/>
        </p:spPr>
        <p:txBody>
          <a:bodyPr wrap="square" lIns="0" rIns="0" tIns="0" bIns="0" anchor="t">
            <a:spAutoFit/>
          </a:bodyPr>
          <a:lstStyle/>
          <a:p>
            <a:pPr algn="r"/>
            <a:r>
              <a:rPr sz="1050" b="0">
                <a:solidFill>
                  <a:srgbClr val="111111"/>
                </a:solidFill>
                <a:latin typeface="Calibri"/>
              </a:rPr>
              <a:t>81%</a:t>
            </a:r>
          </a:p>
        </p:txBody>
      </p:sp>
      <p:sp>
        <p:nvSpPr>
          <p:cNvPr id="67" name="Rectangle 66"/>
          <p:cNvSpPr/>
          <p:nvPr/>
        </p:nvSpPr>
        <p:spPr>
          <a:xfrm>
            <a:off x="566928" y="4951476"/>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66928" y="52578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67512" y="5015484"/>
            <a:ext cx="2141540" cy="306324"/>
          </a:xfrm>
          <a:prstGeom prst="rect">
            <a:avLst/>
          </a:prstGeom>
          <a:noFill/>
        </p:spPr>
        <p:txBody>
          <a:bodyPr wrap="square" lIns="0" rIns="0" tIns="0" bIns="0" anchor="t">
            <a:spAutoFit/>
          </a:bodyPr>
          <a:lstStyle/>
          <a:p>
            <a:pPr algn="l"/>
            <a:r>
              <a:rPr sz="1050" b="1">
                <a:solidFill>
                  <a:srgbClr val="111111"/>
                </a:solidFill>
                <a:latin typeface="Calibri"/>
              </a:rPr>
              <a:t>AMC</a:t>
            </a:r>
          </a:p>
        </p:txBody>
      </p:sp>
      <p:sp>
        <p:nvSpPr>
          <p:cNvPr id="70" name="TextBox 69"/>
          <p:cNvSpPr txBox="1"/>
          <p:nvPr/>
        </p:nvSpPr>
        <p:spPr>
          <a:xfrm>
            <a:off x="2991932" y="5015484"/>
            <a:ext cx="932841" cy="306324"/>
          </a:xfrm>
          <a:prstGeom prst="rect">
            <a:avLst/>
          </a:prstGeom>
          <a:noFill/>
        </p:spPr>
        <p:txBody>
          <a:bodyPr wrap="square" lIns="0" rIns="0" tIns="0" bIns="0" anchor="t">
            <a:spAutoFit/>
          </a:bodyPr>
          <a:lstStyle/>
          <a:p>
            <a:pPr algn="r"/>
            <a:r>
              <a:rPr sz="1050" b="0">
                <a:solidFill>
                  <a:srgbClr val="111111"/>
                </a:solidFill>
                <a:latin typeface="Calibri"/>
              </a:rPr>
              <a:t>62</a:t>
            </a:r>
          </a:p>
        </p:txBody>
      </p:sp>
      <p:sp>
        <p:nvSpPr>
          <p:cNvPr id="71" name="TextBox 70"/>
          <p:cNvSpPr txBox="1"/>
          <p:nvPr/>
        </p:nvSpPr>
        <p:spPr>
          <a:xfrm>
            <a:off x="4107653" y="5015484"/>
            <a:ext cx="932841"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72" name="TextBox 71"/>
          <p:cNvSpPr txBox="1"/>
          <p:nvPr/>
        </p:nvSpPr>
        <p:spPr>
          <a:xfrm>
            <a:off x="5223374" y="5015484"/>
            <a:ext cx="1118795"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73" name="TextBox 72"/>
          <p:cNvSpPr txBox="1"/>
          <p:nvPr/>
        </p:nvSpPr>
        <p:spPr>
          <a:xfrm>
            <a:off x="6525049" y="5015484"/>
            <a:ext cx="1072306"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74" name="TextBox 73"/>
          <p:cNvSpPr txBox="1"/>
          <p:nvPr/>
        </p:nvSpPr>
        <p:spPr>
          <a:xfrm>
            <a:off x="7780235" y="5015484"/>
            <a:ext cx="1072306"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75" name="TextBox 74"/>
          <p:cNvSpPr txBox="1"/>
          <p:nvPr/>
        </p:nvSpPr>
        <p:spPr>
          <a:xfrm>
            <a:off x="9035421" y="5015484"/>
            <a:ext cx="1025818"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76" name="TextBox 75"/>
          <p:cNvSpPr txBox="1"/>
          <p:nvPr/>
        </p:nvSpPr>
        <p:spPr>
          <a:xfrm>
            <a:off x="10244119" y="5015484"/>
            <a:ext cx="1304748"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77" name="Rectangle 76"/>
          <p:cNvSpPr/>
          <p:nvPr/>
        </p:nvSpPr>
        <p:spPr>
          <a:xfrm>
            <a:off x="566928" y="5257800"/>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566928" y="556412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67512" y="5321808"/>
            <a:ext cx="2141540" cy="306324"/>
          </a:xfrm>
          <a:prstGeom prst="rect">
            <a:avLst/>
          </a:prstGeom>
          <a:noFill/>
        </p:spPr>
        <p:txBody>
          <a:bodyPr wrap="square" lIns="0" rIns="0" tIns="0" bIns="0" anchor="t">
            <a:spAutoFit/>
          </a:bodyPr>
          <a:lstStyle/>
          <a:p>
            <a:pPr algn="l"/>
            <a:r>
              <a:rPr sz="1050" b="1">
                <a:solidFill>
                  <a:srgbClr val="111111"/>
                </a:solidFill>
                <a:latin typeface="Calibri"/>
              </a:rPr>
              <a:t>Likas Square</a:t>
            </a:r>
          </a:p>
        </p:txBody>
      </p:sp>
      <p:sp>
        <p:nvSpPr>
          <p:cNvPr id="80" name="TextBox 79"/>
          <p:cNvSpPr txBox="1"/>
          <p:nvPr/>
        </p:nvSpPr>
        <p:spPr>
          <a:xfrm>
            <a:off x="2991932" y="5321808"/>
            <a:ext cx="932841" cy="306324"/>
          </a:xfrm>
          <a:prstGeom prst="rect">
            <a:avLst/>
          </a:prstGeom>
          <a:noFill/>
        </p:spPr>
        <p:txBody>
          <a:bodyPr wrap="square" lIns="0" rIns="0" tIns="0" bIns="0" anchor="t">
            <a:spAutoFit/>
          </a:bodyPr>
          <a:lstStyle/>
          <a:p>
            <a:pPr algn="r"/>
            <a:r>
              <a:rPr sz="1050" b="0">
                <a:solidFill>
                  <a:srgbClr val="111111"/>
                </a:solidFill>
                <a:latin typeface="Calibri"/>
              </a:rPr>
              <a:t>51</a:t>
            </a:r>
          </a:p>
        </p:txBody>
      </p:sp>
      <p:sp>
        <p:nvSpPr>
          <p:cNvPr id="81" name="TextBox 80"/>
          <p:cNvSpPr txBox="1"/>
          <p:nvPr/>
        </p:nvSpPr>
        <p:spPr>
          <a:xfrm>
            <a:off x="4107653" y="5321808"/>
            <a:ext cx="932841"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82" name="TextBox 81"/>
          <p:cNvSpPr txBox="1"/>
          <p:nvPr/>
        </p:nvSpPr>
        <p:spPr>
          <a:xfrm>
            <a:off x="5223374" y="5321808"/>
            <a:ext cx="1118795" cy="306324"/>
          </a:xfrm>
          <a:prstGeom prst="rect">
            <a:avLst/>
          </a:prstGeom>
          <a:noFill/>
        </p:spPr>
        <p:txBody>
          <a:bodyPr wrap="square" lIns="0" rIns="0" tIns="0" bIns="0" anchor="t">
            <a:spAutoFit/>
          </a:bodyPr>
          <a:lstStyle/>
          <a:p>
            <a:pPr algn="r"/>
            <a:r>
              <a:rPr sz="1050" b="0">
                <a:solidFill>
                  <a:srgbClr val="111111"/>
                </a:solidFill>
                <a:latin typeface="Calibri"/>
              </a:rPr>
              <a:t>42</a:t>
            </a:r>
          </a:p>
        </p:txBody>
      </p:sp>
      <p:sp>
        <p:nvSpPr>
          <p:cNvPr id="83" name="TextBox 82"/>
          <p:cNvSpPr txBox="1"/>
          <p:nvPr/>
        </p:nvSpPr>
        <p:spPr>
          <a:xfrm>
            <a:off x="6525049" y="5321808"/>
            <a:ext cx="1072306"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84" name="TextBox 83"/>
          <p:cNvSpPr txBox="1"/>
          <p:nvPr/>
        </p:nvSpPr>
        <p:spPr>
          <a:xfrm>
            <a:off x="7780235" y="5321808"/>
            <a:ext cx="1072306" cy="306324"/>
          </a:xfrm>
          <a:prstGeom prst="rect">
            <a:avLst/>
          </a:prstGeom>
          <a:noFill/>
        </p:spPr>
        <p:txBody>
          <a:bodyPr wrap="square" lIns="0" rIns="0" tIns="0" bIns="0" anchor="t">
            <a:spAutoFit/>
          </a:bodyPr>
          <a:lstStyle/>
          <a:p>
            <a:pPr algn="r"/>
            <a:r>
              <a:rPr sz="1050" b="0">
                <a:solidFill>
                  <a:srgbClr val="111111"/>
                </a:solidFill>
                <a:latin typeface="Calibri"/>
              </a:rPr>
              <a:t>41</a:t>
            </a:r>
          </a:p>
        </p:txBody>
      </p:sp>
      <p:sp>
        <p:nvSpPr>
          <p:cNvPr id="85" name="TextBox 84"/>
          <p:cNvSpPr txBox="1"/>
          <p:nvPr/>
        </p:nvSpPr>
        <p:spPr>
          <a:xfrm>
            <a:off x="9035421" y="5321808"/>
            <a:ext cx="1025818"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86" name="TextBox 85"/>
          <p:cNvSpPr txBox="1"/>
          <p:nvPr/>
        </p:nvSpPr>
        <p:spPr>
          <a:xfrm>
            <a:off x="10244119" y="5321808"/>
            <a:ext cx="1304748" cy="306324"/>
          </a:xfrm>
          <a:prstGeom prst="rect">
            <a:avLst/>
          </a:prstGeom>
          <a:noFill/>
        </p:spPr>
        <p:txBody>
          <a:bodyPr wrap="square" lIns="0" rIns="0" tIns="0" bIns="0" anchor="t">
            <a:spAutoFit/>
          </a:bodyPr>
          <a:lstStyle/>
          <a:p>
            <a:pPr algn="r"/>
            <a:r>
              <a:rPr sz="1050" b="0">
                <a:solidFill>
                  <a:srgbClr val="111111"/>
                </a:solidFill>
                <a:latin typeface="Calibri"/>
              </a:rPr>
              <a:t>2%</a:t>
            </a:r>
          </a:p>
        </p:txBody>
      </p:sp>
      <p:sp>
        <p:nvSpPr>
          <p:cNvPr id="87" name="Rectangle 86"/>
          <p:cNvSpPr/>
          <p:nvPr/>
        </p:nvSpPr>
        <p:spPr>
          <a:xfrm>
            <a:off x="566928" y="5564124"/>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66928" y="587044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67512" y="5628132"/>
            <a:ext cx="2141540" cy="306324"/>
          </a:xfrm>
          <a:prstGeom prst="rect">
            <a:avLst/>
          </a:prstGeom>
          <a:noFill/>
        </p:spPr>
        <p:txBody>
          <a:bodyPr wrap="square" lIns="0" rIns="0" tIns="0" bIns="0" anchor="t">
            <a:spAutoFit/>
          </a:bodyPr>
          <a:lstStyle/>
          <a:p>
            <a:pPr algn="l"/>
            <a:r>
              <a:rPr sz="1050" b="1">
                <a:solidFill>
                  <a:srgbClr val="111111"/>
                </a:solidFill>
                <a:latin typeface="Calibri"/>
              </a:rPr>
              <a:t>TP Group</a:t>
            </a:r>
          </a:p>
        </p:txBody>
      </p:sp>
      <p:sp>
        <p:nvSpPr>
          <p:cNvPr id="90" name="TextBox 89"/>
          <p:cNvSpPr txBox="1"/>
          <p:nvPr/>
        </p:nvSpPr>
        <p:spPr>
          <a:xfrm>
            <a:off x="2991932" y="5628132"/>
            <a:ext cx="932841" cy="306324"/>
          </a:xfrm>
          <a:prstGeom prst="rect">
            <a:avLst/>
          </a:prstGeom>
          <a:noFill/>
        </p:spPr>
        <p:txBody>
          <a:bodyPr wrap="square" lIns="0" rIns="0" tIns="0" bIns="0" anchor="t">
            <a:spAutoFit/>
          </a:bodyPr>
          <a:lstStyle/>
          <a:p>
            <a:pPr algn="r"/>
            <a:r>
              <a:rPr sz="1050" b="0">
                <a:solidFill>
                  <a:srgbClr val="111111"/>
                </a:solidFill>
                <a:latin typeface="Calibri"/>
              </a:rPr>
              <a:t>67</a:t>
            </a:r>
          </a:p>
        </p:txBody>
      </p:sp>
      <p:sp>
        <p:nvSpPr>
          <p:cNvPr id="91" name="TextBox 90"/>
          <p:cNvSpPr txBox="1"/>
          <p:nvPr/>
        </p:nvSpPr>
        <p:spPr>
          <a:xfrm>
            <a:off x="4107653" y="5628132"/>
            <a:ext cx="932841"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92" name="TextBox 91"/>
          <p:cNvSpPr txBox="1"/>
          <p:nvPr/>
        </p:nvSpPr>
        <p:spPr>
          <a:xfrm>
            <a:off x="5223374" y="5628132"/>
            <a:ext cx="1118795"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93" name="TextBox 92"/>
          <p:cNvSpPr txBox="1"/>
          <p:nvPr/>
        </p:nvSpPr>
        <p:spPr>
          <a:xfrm>
            <a:off x="6525049" y="5628132"/>
            <a:ext cx="1072306"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94" name="TextBox 93"/>
          <p:cNvSpPr txBox="1"/>
          <p:nvPr/>
        </p:nvSpPr>
        <p:spPr>
          <a:xfrm>
            <a:off x="7780235" y="5628132"/>
            <a:ext cx="1072306"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95" name="TextBox 94"/>
          <p:cNvSpPr txBox="1"/>
          <p:nvPr/>
        </p:nvSpPr>
        <p:spPr>
          <a:xfrm>
            <a:off x="9035421" y="5628132"/>
            <a:ext cx="1025818"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96" name="TextBox 95"/>
          <p:cNvSpPr txBox="1"/>
          <p:nvPr/>
        </p:nvSpPr>
        <p:spPr>
          <a:xfrm>
            <a:off x="10244119" y="5628132"/>
            <a:ext cx="1304748" cy="306324"/>
          </a:xfrm>
          <a:prstGeom prst="rect">
            <a:avLst/>
          </a:prstGeom>
          <a:noFill/>
        </p:spPr>
        <p:txBody>
          <a:bodyPr wrap="square" lIns="0" rIns="0" tIns="0" bIns="0" anchor="t">
            <a:spAutoFit/>
          </a:bodyPr>
          <a:lstStyle/>
          <a:p>
            <a:pPr algn="r"/>
            <a:r>
              <a:rPr sz="1050" b="0">
                <a:solidFill>
                  <a:srgbClr val="111111"/>
                </a:solidFill>
                <a:latin typeface="Calibri"/>
              </a:rPr>
              <a:t>—</a:t>
            </a:r>
          </a:p>
        </p:txBody>
      </p:sp>
      <p:sp>
        <p:nvSpPr>
          <p:cNvPr id="97" name="Rectangle 96"/>
          <p:cNvSpPr/>
          <p:nvPr/>
        </p:nvSpPr>
        <p:spPr>
          <a:xfrm>
            <a:off x="566928" y="5870448"/>
            <a:ext cx="110642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66928" y="617677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67512" y="5934456"/>
            <a:ext cx="2141540" cy="306324"/>
          </a:xfrm>
          <a:prstGeom prst="rect">
            <a:avLst/>
          </a:prstGeom>
          <a:noFill/>
        </p:spPr>
        <p:txBody>
          <a:bodyPr wrap="square" lIns="0" rIns="0" tIns="0" bIns="0" anchor="t">
            <a:spAutoFit/>
          </a:bodyPr>
          <a:lstStyle/>
          <a:p>
            <a:pPr algn="l"/>
            <a:r>
              <a:rPr sz="1050" b="1">
                <a:solidFill>
                  <a:srgbClr val="1E2761"/>
                </a:solidFill>
                <a:latin typeface="Calibri"/>
              </a:rPr>
              <a:t>Total</a:t>
            </a:r>
          </a:p>
        </p:txBody>
      </p:sp>
      <p:sp>
        <p:nvSpPr>
          <p:cNvPr id="100" name="TextBox 99"/>
          <p:cNvSpPr txBox="1"/>
          <p:nvPr/>
        </p:nvSpPr>
        <p:spPr>
          <a:xfrm>
            <a:off x="2991932" y="5934456"/>
            <a:ext cx="932841" cy="306324"/>
          </a:xfrm>
          <a:prstGeom prst="rect">
            <a:avLst/>
          </a:prstGeom>
          <a:noFill/>
        </p:spPr>
        <p:txBody>
          <a:bodyPr wrap="square" lIns="0" rIns="0" tIns="0" bIns="0" anchor="t">
            <a:spAutoFit/>
          </a:bodyPr>
          <a:lstStyle/>
          <a:p>
            <a:pPr algn="r"/>
            <a:r>
              <a:rPr sz="1050" b="1">
                <a:solidFill>
                  <a:srgbClr val="1E2761"/>
                </a:solidFill>
                <a:latin typeface="Calibri"/>
              </a:rPr>
              <a:t>745</a:t>
            </a:r>
          </a:p>
        </p:txBody>
      </p:sp>
      <p:sp>
        <p:nvSpPr>
          <p:cNvPr id="101" name="TextBox 100"/>
          <p:cNvSpPr txBox="1"/>
          <p:nvPr/>
        </p:nvSpPr>
        <p:spPr>
          <a:xfrm>
            <a:off x="4107653" y="5934456"/>
            <a:ext cx="932841" cy="306324"/>
          </a:xfrm>
          <a:prstGeom prst="rect">
            <a:avLst/>
          </a:prstGeom>
          <a:noFill/>
        </p:spPr>
        <p:txBody>
          <a:bodyPr wrap="square" lIns="0" rIns="0" tIns="0" bIns="0" anchor="t">
            <a:spAutoFit/>
          </a:bodyPr>
          <a:lstStyle/>
          <a:p>
            <a:pPr algn="r"/>
            <a:r>
              <a:rPr sz="1050" b="1">
                <a:solidFill>
                  <a:srgbClr val="1E2761"/>
                </a:solidFill>
                <a:latin typeface="Calibri"/>
              </a:rPr>
              <a:t>937</a:t>
            </a:r>
          </a:p>
        </p:txBody>
      </p:sp>
      <p:sp>
        <p:nvSpPr>
          <p:cNvPr id="102" name="TextBox 101"/>
          <p:cNvSpPr txBox="1"/>
          <p:nvPr/>
        </p:nvSpPr>
        <p:spPr>
          <a:xfrm>
            <a:off x="5223374" y="5934456"/>
            <a:ext cx="1118795" cy="306324"/>
          </a:xfrm>
          <a:prstGeom prst="rect">
            <a:avLst/>
          </a:prstGeom>
          <a:noFill/>
        </p:spPr>
        <p:txBody>
          <a:bodyPr wrap="square" lIns="0" rIns="0" tIns="0" bIns="0" anchor="t">
            <a:spAutoFit/>
          </a:bodyPr>
          <a:lstStyle/>
          <a:p>
            <a:pPr algn="r"/>
            <a:r>
              <a:rPr sz="1050" b="1">
                <a:solidFill>
                  <a:srgbClr val="1E2761"/>
                </a:solidFill>
                <a:latin typeface="Calibri"/>
              </a:rPr>
              <a:t>941</a:t>
            </a:r>
          </a:p>
        </p:txBody>
      </p:sp>
      <p:sp>
        <p:nvSpPr>
          <p:cNvPr id="103" name="TextBox 102"/>
          <p:cNvSpPr txBox="1"/>
          <p:nvPr/>
        </p:nvSpPr>
        <p:spPr>
          <a:xfrm>
            <a:off x="6525049" y="5934456"/>
            <a:ext cx="1072306" cy="306324"/>
          </a:xfrm>
          <a:prstGeom prst="rect">
            <a:avLst/>
          </a:prstGeom>
          <a:noFill/>
        </p:spPr>
        <p:txBody>
          <a:bodyPr wrap="square" lIns="0" rIns="0" tIns="0" bIns="0" anchor="t">
            <a:spAutoFit/>
          </a:bodyPr>
          <a:lstStyle/>
          <a:p>
            <a:pPr algn="r"/>
            <a:r>
              <a:rPr sz="1050" b="1">
                <a:solidFill>
                  <a:srgbClr val="1E2761"/>
                </a:solidFill>
                <a:latin typeface="Calibri"/>
              </a:rPr>
              <a:t>259</a:t>
            </a:r>
          </a:p>
        </p:txBody>
      </p:sp>
      <p:sp>
        <p:nvSpPr>
          <p:cNvPr id="104" name="TextBox 103"/>
          <p:cNvSpPr txBox="1"/>
          <p:nvPr/>
        </p:nvSpPr>
        <p:spPr>
          <a:xfrm>
            <a:off x="7780235" y="5934456"/>
            <a:ext cx="1072306" cy="306324"/>
          </a:xfrm>
          <a:prstGeom prst="rect">
            <a:avLst/>
          </a:prstGeom>
          <a:noFill/>
        </p:spPr>
        <p:txBody>
          <a:bodyPr wrap="square" lIns="0" rIns="0" tIns="0" bIns="0" anchor="t">
            <a:spAutoFit/>
          </a:bodyPr>
          <a:lstStyle/>
          <a:p>
            <a:pPr algn="r"/>
            <a:r>
              <a:rPr sz="1050" b="1">
                <a:solidFill>
                  <a:srgbClr val="1E2761"/>
                </a:solidFill>
                <a:latin typeface="Calibri"/>
              </a:rPr>
              <a:t>668</a:t>
            </a:r>
          </a:p>
        </p:txBody>
      </p:sp>
      <p:sp>
        <p:nvSpPr>
          <p:cNvPr id="105" name="TextBox 104"/>
          <p:cNvSpPr txBox="1"/>
          <p:nvPr/>
        </p:nvSpPr>
        <p:spPr>
          <a:xfrm>
            <a:off x="9035421" y="5934456"/>
            <a:ext cx="1025818" cy="306324"/>
          </a:xfrm>
          <a:prstGeom prst="rect">
            <a:avLst/>
          </a:prstGeom>
          <a:noFill/>
        </p:spPr>
        <p:txBody>
          <a:bodyPr wrap="square" lIns="0" rIns="0" tIns="0" bIns="0" anchor="t">
            <a:spAutoFit/>
          </a:bodyPr>
          <a:lstStyle/>
          <a:p>
            <a:pPr algn="r"/>
            <a:r>
              <a:rPr sz="1050" b="1">
                <a:solidFill>
                  <a:srgbClr val="1E2761"/>
                </a:solidFill>
                <a:latin typeface="Calibri"/>
              </a:rPr>
              <a:t>14</a:t>
            </a:r>
          </a:p>
        </p:txBody>
      </p:sp>
      <p:sp>
        <p:nvSpPr>
          <p:cNvPr id="106" name="TextBox 105"/>
          <p:cNvSpPr txBox="1"/>
          <p:nvPr/>
        </p:nvSpPr>
        <p:spPr>
          <a:xfrm>
            <a:off x="10244119" y="5934456"/>
            <a:ext cx="1304748" cy="306324"/>
          </a:xfrm>
          <a:prstGeom prst="rect">
            <a:avLst/>
          </a:prstGeom>
          <a:noFill/>
        </p:spPr>
        <p:txBody>
          <a:bodyPr wrap="square" lIns="0" rIns="0" tIns="0" bIns="0" anchor="t">
            <a:spAutoFit/>
          </a:bodyPr>
          <a:lstStyle/>
          <a:p>
            <a:pPr algn="r"/>
            <a:r>
              <a:rPr sz="1050" b="1">
                <a:solidFill>
                  <a:srgbClr val="1E2761"/>
                </a:solidFill>
                <a:latin typeface="Calibri"/>
              </a:rPr>
              <a:t>28%</a:t>
            </a:r>
          </a:p>
        </p:txBody>
      </p:sp>
      <p:sp>
        <p:nvSpPr>
          <p:cNvPr id="107" name="TextBox 106"/>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Same basis as the application's own job spec approval report: general worker versions counted only for workers still in the live scorecard population. Staff and general workers are listed separately because a job spec is held by either, and the staff figure includes the 16 exempt from KPI scoring. AMC and TP Group have no versions on file at all, so they have no approval rate to show. Approved %% is of all versions on file at that company.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3 · BY COMPANY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Job spec approvals — by company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941 versions on file, 259 approved (28%). Approvals moved by 31 this cycle; Globinaco still holds the backlog.</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3675887" cy="411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Globinaco</a:t>
            </a:r>
          </a:p>
        </p:txBody>
      </p:sp>
      <p:sp>
        <p:nvSpPr>
          <p:cNvPr id="11" name="TextBox 10"/>
          <p:cNvSpPr txBox="1"/>
          <p:nvPr/>
        </p:nvSpPr>
        <p:spPr>
          <a:xfrm>
            <a:off x="768096" y="2084832"/>
            <a:ext cx="1737360" cy="502920"/>
          </a:xfrm>
          <a:prstGeom prst="rect">
            <a:avLst/>
          </a:prstGeom>
          <a:noFill/>
        </p:spPr>
        <p:txBody>
          <a:bodyPr wrap="square" lIns="0" rIns="0" tIns="0" bIns="0" anchor="t">
            <a:spAutoFit/>
          </a:bodyPr>
          <a:lstStyle/>
          <a:p>
            <a:pPr algn="l"/>
            <a:r>
              <a:rPr sz="2700" b="1">
                <a:solidFill>
                  <a:srgbClr val="F9A825"/>
                </a:solidFill>
                <a:latin typeface="Cambria"/>
              </a:rPr>
              <a:t>20%</a:t>
            </a:r>
          </a:p>
        </p:txBody>
      </p:sp>
      <p:sp>
        <p:nvSpPr>
          <p:cNvPr id="12" name="TextBox 11"/>
          <p:cNvSpPr txBox="1"/>
          <p:nvPr/>
        </p:nvSpPr>
        <p:spPr>
          <a:xfrm>
            <a:off x="768096"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APPROVED</a:t>
            </a:r>
          </a:p>
        </p:txBody>
      </p:sp>
      <p:sp>
        <p:nvSpPr>
          <p:cNvPr id="13" name="TextBox 12"/>
          <p:cNvSpPr txBox="1"/>
          <p:nvPr/>
        </p:nvSpPr>
        <p:spPr>
          <a:xfrm>
            <a:off x="2542032"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Total versions</a:t>
            </a:r>
          </a:p>
        </p:txBody>
      </p:sp>
      <p:sp>
        <p:nvSpPr>
          <p:cNvPr id="14" name="TextBox 13"/>
          <p:cNvSpPr txBox="1"/>
          <p:nvPr/>
        </p:nvSpPr>
        <p:spPr>
          <a:xfrm>
            <a:off x="3566160" y="2084832"/>
            <a:ext cx="512064" cy="219456"/>
          </a:xfrm>
          <a:prstGeom prst="rect">
            <a:avLst/>
          </a:prstGeom>
          <a:noFill/>
        </p:spPr>
        <p:txBody>
          <a:bodyPr wrap="square" lIns="0" rIns="0" tIns="0" bIns="0" anchor="t">
            <a:spAutoFit/>
          </a:bodyPr>
          <a:lstStyle/>
          <a:p>
            <a:pPr algn="r"/>
            <a:r>
              <a:rPr sz="1050" b="1">
                <a:solidFill>
                  <a:srgbClr val="16203F"/>
                </a:solidFill>
                <a:latin typeface="Calibri"/>
              </a:rPr>
              <a:t>680</a:t>
            </a:r>
          </a:p>
        </p:txBody>
      </p:sp>
      <p:sp>
        <p:nvSpPr>
          <p:cNvPr id="15" name="TextBox 14"/>
          <p:cNvSpPr txBox="1"/>
          <p:nvPr/>
        </p:nvSpPr>
        <p:spPr>
          <a:xfrm>
            <a:off x="2542032"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16" name="TextBox 15"/>
          <p:cNvSpPr txBox="1"/>
          <p:nvPr/>
        </p:nvSpPr>
        <p:spPr>
          <a:xfrm>
            <a:off x="3566160" y="2299716"/>
            <a:ext cx="512064" cy="219456"/>
          </a:xfrm>
          <a:prstGeom prst="rect">
            <a:avLst/>
          </a:prstGeom>
          <a:noFill/>
        </p:spPr>
        <p:txBody>
          <a:bodyPr wrap="square" lIns="0" rIns="0" tIns="0" bIns="0" anchor="t">
            <a:spAutoFit/>
          </a:bodyPr>
          <a:lstStyle/>
          <a:p>
            <a:pPr algn="r"/>
            <a:r>
              <a:rPr sz="1050" b="1">
                <a:solidFill>
                  <a:srgbClr val="2E7D32"/>
                </a:solidFill>
                <a:latin typeface="Calibri"/>
              </a:rPr>
              <a:t>139</a:t>
            </a:r>
          </a:p>
        </p:txBody>
      </p:sp>
      <p:sp>
        <p:nvSpPr>
          <p:cNvPr id="17" name="TextBox 16"/>
          <p:cNvSpPr txBox="1"/>
          <p:nvPr/>
        </p:nvSpPr>
        <p:spPr>
          <a:xfrm>
            <a:off x="2542032"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18" name="TextBox 17"/>
          <p:cNvSpPr txBox="1"/>
          <p:nvPr/>
        </p:nvSpPr>
        <p:spPr>
          <a:xfrm>
            <a:off x="3566160" y="2514600"/>
            <a:ext cx="512064" cy="219456"/>
          </a:xfrm>
          <a:prstGeom prst="rect">
            <a:avLst/>
          </a:prstGeom>
          <a:noFill/>
        </p:spPr>
        <p:txBody>
          <a:bodyPr wrap="square" lIns="0" rIns="0" tIns="0" bIns="0" anchor="t">
            <a:spAutoFit/>
          </a:bodyPr>
          <a:lstStyle/>
          <a:p>
            <a:pPr algn="r"/>
            <a:r>
              <a:rPr sz="1050" b="1">
                <a:solidFill>
                  <a:srgbClr val="C62828"/>
                </a:solidFill>
                <a:latin typeface="Calibri"/>
              </a:rPr>
              <a:t>527</a:t>
            </a:r>
          </a:p>
        </p:txBody>
      </p:sp>
      <p:sp>
        <p:nvSpPr>
          <p:cNvPr id="19" name="Rectangle 18"/>
          <p:cNvSpPr/>
          <p:nvPr/>
        </p:nvSpPr>
        <p:spPr>
          <a:xfrm>
            <a:off x="76809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680 versions, 139 approved. 335 pending general worker specs are the single biggest block in the group.</a:t>
            </a:r>
          </a:p>
        </p:txBody>
      </p:sp>
      <p:sp>
        <p:nvSpPr>
          <p:cNvPr id="21" name="Rectangle 20"/>
          <p:cNvSpPr/>
          <p:nvPr/>
        </p:nvSpPr>
        <p:spPr>
          <a:xfrm>
            <a:off x="4443983"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43983" y="1627632"/>
            <a:ext cx="3675887" cy="411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45151"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Grandis</a:t>
            </a:r>
          </a:p>
        </p:txBody>
      </p:sp>
      <p:sp>
        <p:nvSpPr>
          <p:cNvPr id="24" name="TextBox 23"/>
          <p:cNvSpPr txBox="1"/>
          <p:nvPr/>
        </p:nvSpPr>
        <p:spPr>
          <a:xfrm>
            <a:off x="4645151" y="2084832"/>
            <a:ext cx="1737360" cy="502920"/>
          </a:xfrm>
          <a:prstGeom prst="rect">
            <a:avLst/>
          </a:prstGeom>
          <a:noFill/>
        </p:spPr>
        <p:txBody>
          <a:bodyPr wrap="square" lIns="0" rIns="0" tIns="0" bIns="0" anchor="t">
            <a:spAutoFit/>
          </a:bodyPr>
          <a:lstStyle/>
          <a:p>
            <a:pPr algn="l"/>
            <a:r>
              <a:rPr sz="2700" b="1">
                <a:solidFill>
                  <a:srgbClr val="F9A825"/>
                </a:solidFill>
                <a:latin typeface="Cambria"/>
              </a:rPr>
              <a:t>41%</a:t>
            </a:r>
          </a:p>
        </p:txBody>
      </p:sp>
      <p:sp>
        <p:nvSpPr>
          <p:cNvPr id="25" name="TextBox 24"/>
          <p:cNvSpPr txBox="1"/>
          <p:nvPr/>
        </p:nvSpPr>
        <p:spPr>
          <a:xfrm>
            <a:off x="4645151"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APPROVED</a:t>
            </a:r>
          </a:p>
        </p:txBody>
      </p:sp>
      <p:sp>
        <p:nvSpPr>
          <p:cNvPr id="26" name="TextBox 25"/>
          <p:cNvSpPr txBox="1"/>
          <p:nvPr/>
        </p:nvSpPr>
        <p:spPr>
          <a:xfrm>
            <a:off x="6419087"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Total versions</a:t>
            </a:r>
          </a:p>
        </p:txBody>
      </p:sp>
      <p:sp>
        <p:nvSpPr>
          <p:cNvPr id="27" name="TextBox 26"/>
          <p:cNvSpPr txBox="1"/>
          <p:nvPr/>
        </p:nvSpPr>
        <p:spPr>
          <a:xfrm>
            <a:off x="7443215" y="2084832"/>
            <a:ext cx="512064" cy="219456"/>
          </a:xfrm>
          <a:prstGeom prst="rect">
            <a:avLst/>
          </a:prstGeom>
          <a:noFill/>
        </p:spPr>
        <p:txBody>
          <a:bodyPr wrap="square" lIns="0" rIns="0" tIns="0" bIns="0" anchor="t">
            <a:spAutoFit/>
          </a:bodyPr>
          <a:lstStyle/>
          <a:p>
            <a:pPr algn="r"/>
            <a:r>
              <a:rPr sz="1050" b="1">
                <a:solidFill>
                  <a:srgbClr val="16203F"/>
                </a:solidFill>
                <a:latin typeface="Calibri"/>
              </a:rPr>
              <a:t>147</a:t>
            </a:r>
          </a:p>
        </p:txBody>
      </p:sp>
      <p:sp>
        <p:nvSpPr>
          <p:cNvPr id="28" name="TextBox 27"/>
          <p:cNvSpPr txBox="1"/>
          <p:nvPr/>
        </p:nvSpPr>
        <p:spPr>
          <a:xfrm>
            <a:off x="6419087"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29" name="TextBox 28"/>
          <p:cNvSpPr txBox="1"/>
          <p:nvPr/>
        </p:nvSpPr>
        <p:spPr>
          <a:xfrm>
            <a:off x="7443215" y="2299716"/>
            <a:ext cx="512064" cy="219456"/>
          </a:xfrm>
          <a:prstGeom prst="rect">
            <a:avLst/>
          </a:prstGeom>
          <a:noFill/>
        </p:spPr>
        <p:txBody>
          <a:bodyPr wrap="square" lIns="0" rIns="0" tIns="0" bIns="0" anchor="t">
            <a:spAutoFit/>
          </a:bodyPr>
          <a:lstStyle/>
          <a:p>
            <a:pPr algn="r"/>
            <a:r>
              <a:rPr sz="1050" b="1">
                <a:solidFill>
                  <a:srgbClr val="2E7D32"/>
                </a:solidFill>
                <a:latin typeface="Calibri"/>
              </a:rPr>
              <a:t>61</a:t>
            </a:r>
          </a:p>
        </p:txBody>
      </p:sp>
      <p:sp>
        <p:nvSpPr>
          <p:cNvPr id="30" name="TextBox 29"/>
          <p:cNvSpPr txBox="1"/>
          <p:nvPr/>
        </p:nvSpPr>
        <p:spPr>
          <a:xfrm>
            <a:off x="6419087"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31" name="TextBox 30"/>
          <p:cNvSpPr txBox="1"/>
          <p:nvPr/>
        </p:nvSpPr>
        <p:spPr>
          <a:xfrm>
            <a:off x="7443215" y="2514600"/>
            <a:ext cx="512064" cy="219456"/>
          </a:xfrm>
          <a:prstGeom prst="rect">
            <a:avLst/>
          </a:prstGeom>
          <a:noFill/>
        </p:spPr>
        <p:txBody>
          <a:bodyPr wrap="square" lIns="0" rIns="0" tIns="0" bIns="0" anchor="t">
            <a:spAutoFit/>
          </a:bodyPr>
          <a:lstStyle/>
          <a:p>
            <a:pPr algn="r"/>
            <a:r>
              <a:rPr sz="1050" b="1">
                <a:solidFill>
                  <a:srgbClr val="16203F"/>
                </a:solidFill>
                <a:latin typeface="Calibri"/>
              </a:rPr>
              <a:t>86</a:t>
            </a:r>
          </a:p>
        </p:txBody>
      </p:sp>
      <p:sp>
        <p:nvSpPr>
          <p:cNvPr id="32" name="Rectangle 31"/>
          <p:cNvSpPr/>
          <p:nvPr/>
        </p:nvSpPr>
        <p:spPr>
          <a:xfrm>
            <a:off x="4645151"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45151"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147 versions, 61 approved. Steady progress since coming online in August.</a:t>
            </a:r>
          </a:p>
        </p:txBody>
      </p:sp>
      <p:sp>
        <p:nvSpPr>
          <p:cNvPr id="34" name="Rectangle 33"/>
          <p:cNvSpPr/>
          <p:nvPr/>
        </p:nvSpPr>
        <p:spPr>
          <a:xfrm>
            <a:off x="832103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21038" y="1627632"/>
            <a:ext cx="3675887"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22206"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Arus Sawit</a:t>
            </a:r>
          </a:p>
        </p:txBody>
      </p:sp>
      <p:sp>
        <p:nvSpPr>
          <p:cNvPr id="37" name="TextBox 36"/>
          <p:cNvSpPr txBox="1"/>
          <p:nvPr/>
        </p:nvSpPr>
        <p:spPr>
          <a:xfrm>
            <a:off x="8522206" y="2084832"/>
            <a:ext cx="1737360" cy="502920"/>
          </a:xfrm>
          <a:prstGeom prst="rect">
            <a:avLst/>
          </a:prstGeom>
          <a:noFill/>
        </p:spPr>
        <p:txBody>
          <a:bodyPr wrap="square" lIns="0" rIns="0" tIns="0" bIns="0" anchor="t">
            <a:spAutoFit/>
          </a:bodyPr>
          <a:lstStyle/>
          <a:p>
            <a:pPr algn="l"/>
            <a:r>
              <a:rPr sz="2700" b="1">
                <a:solidFill>
                  <a:srgbClr val="2E7D32"/>
                </a:solidFill>
                <a:latin typeface="Cambria"/>
              </a:rPr>
              <a:t>81%</a:t>
            </a:r>
          </a:p>
        </p:txBody>
      </p:sp>
      <p:sp>
        <p:nvSpPr>
          <p:cNvPr id="38" name="TextBox 37"/>
          <p:cNvSpPr txBox="1"/>
          <p:nvPr/>
        </p:nvSpPr>
        <p:spPr>
          <a:xfrm>
            <a:off x="8522206"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APPROVED</a:t>
            </a:r>
          </a:p>
        </p:txBody>
      </p:sp>
      <p:sp>
        <p:nvSpPr>
          <p:cNvPr id="39" name="TextBox 38"/>
          <p:cNvSpPr txBox="1"/>
          <p:nvPr/>
        </p:nvSpPr>
        <p:spPr>
          <a:xfrm>
            <a:off x="10296142"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Total versions</a:t>
            </a:r>
          </a:p>
        </p:txBody>
      </p:sp>
      <p:sp>
        <p:nvSpPr>
          <p:cNvPr id="40" name="TextBox 39"/>
          <p:cNvSpPr txBox="1"/>
          <p:nvPr/>
        </p:nvSpPr>
        <p:spPr>
          <a:xfrm>
            <a:off x="11320270" y="2084832"/>
            <a:ext cx="512064" cy="219456"/>
          </a:xfrm>
          <a:prstGeom prst="rect">
            <a:avLst/>
          </a:prstGeom>
          <a:noFill/>
        </p:spPr>
        <p:txBody>
          <a:bodyPr wrap="square" lIns="0" rIns="0" tIns="0" bIns="0" anchor="t">
            <a:spAutoFit/>
          </a:bodyPr>
          <a:lstStyle/>
          <a:p>
            <a:pPr algn="r"/>
            <a:r>
              <a:rPr sz="1050" b="1">
                <a:solidFill>
                  <a:srgbClr val="16203F"/>
                </a:solidFill>
                <a:latin typeface="Calibri"/>
              </a:rPr>
              <a:t>72</a:t>
            </a:r>
          </a:p>
        </p:txBody>
      </p:sp>
      <p:sp>
        <p:nvSpPr>
          <p:cNvPr id="41" name="TextBox 40"/>
          <p:cNvSpPr txBox="1"/>
          <p:nvPr/>
        </p:nvSpPr>
        <p:spPr>
          <a:xfrm>
            <a:off x="10296142"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42" name="TextBox 41"/>
          <p:cNvSpPr txBox="1"/>
          <p:nvPr/>
        </p:nvSpPr>
        <p:spPr>
          <a:xfrm>
            <a:off x="11320270" y="2299716"/>
            <a:ext cx="512064" cy="219456"/>
          </a:xfrm>
          <a:prstGeom prst="rect">
            <a:avLst/>
          </a:prstGeom>
          <a:noFill/>
        </p:spPr>
        <p:txBody>
          <a:bodyPr wrap="square" lIns="0" rIns="0" tIns="0" bIns="0" anchor="t">
            <a:spAutoFit/>
          </a:bodyPr>
          <a:lstStyle/>
          <a:p>
            <a:pPr algn="r"/>
            <a:r>
              <a:rPr sz="1050" b="1">
                <a:solidFill>
                  <a:srgbClr val="2E7D32"/>
                </a:solidFill>
                <a:latin typeface="Calibri"/>
              </a:rPr>
              <a:t>58</a:t>
            </a:r>
          </a:p>
        </p:txBody>
      </p:sp>
      <p:sp>
        <p:nvSpPr>
          <p:cNvPr id="43" name="TextBox 42"/>
          <p:cNvSpPr txBox="1"/>
          <p:nvPr/>
        </p:nvSpPr>
        <p:spPr>
          <a:xfrm>
            <a:off x="10296142"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44" name="TextBox 43"/>
          <p:cNvSpPr txBox="1"/>
          <p:nvPr/>
        </p:nvSpPr>
        <p:spPr>
          <a:xfrm>
            <a:off x="11320270" y="2514600"/>
            <a:ext cx="512064" cy="219456"/>
          </a:xfrm>
          <a:prstGeom prst="rect">
            <a:avLst/>
          </a:prstGeom>
          <a:noFill/>
        </p:spPr>
        <p:txBody>
          <a:bodyPr wrap="square" lIns="0" rIns="0" tIns="0" bIns="0" anchor="t">
            <a:spAutoFit/>
          </a:bodyPr>
          <a:lstStyle/>
          <a:p>
            <a:pPr algn="r"/>
            <a:r>
              <a:rPr sz="1050" b="1">
                <a:solidFill>
                  <a:srgbClr val="16203F"/>
                </a:solidFill>
                <a:latin typeface="Calibri"/>
              </a:rPr>
              <a:t>14</a:t>
            </a:r>
          </a:p>
        </p:txBody>
      </p:sp>
      <p:sp>
        <p:nvSpPr>
          <p:cNvPr id="45" name="Rectangle 44"/>
          <p:cNvSpPr/>
          <p:nvPr/>
        </p:nvSpPr>
        <p:spPr>
          <a:xfrm>
            <a:off x="852220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22206"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72 versions and 58 approved — the highest approval rate in the group, all for staff.</a:t>
            </a:r>
          </a:p>
        </p:txBody>
      </p:sp>
      <p:sp>
        <p:nvSpPr>
          <p:cNvPr id="47" name="Rectangle 46"/>
          <p:cNvSpPr/>
          <p:nvPr/>
        </p:nvSpPr>
        <p:spPr>
          <a:xfrm>
            <a:off x="56692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6928" y="4041648"/>
            <a:ext cx="3675887"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8096"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AMC</a:t>
            </a:r>
          </a:p>
        </p:txBody>
      </p:sp>
      <p:sp>
        <p:nvSpPr>
          <p:cNvPr id="50" name="TextBox 49"/>
          <p:cNvSpPr txBox="1"/>
          <p:nvPr/>
        </p:nvSpPr>
        <p:spPr>
          <a:xfrm>
            <a:off x="768096" y="4498848"/>
            <a:ext cx="1737360" cy="502920"/>
          </a:xfrm>
          <a:prstGeom prst="rect">
            <a:avLst/>
          </a:prstGeom>
          <a:noFill/>
        </p:spPr>
        <p:txBody>
          <a:bodyPr wrap="square" lIns="0" rIns="0" tIns="0" bIns="0" anchor="t">
            <a:spAutoFit/>
          </a:bodyPr>
          <a:lstStyle/>
          <a:p>
            <a:pPr algn="l"/>
            <a:r>
              <a:rPr sz="2700" b="1">
                <a:solidFill>
                  <a:srgbClr val="C62828"/>
                </a:solidFill>
                <a:latin typeface="Cambria"/>
              </a:rPr>
              <a:t>—</a:t>
            </a:r>
          </a:p>
        </p:txBody>
      </p:sp>
      <p:sp>
        <p:nvSpPr>
          <p:cNvPr id="51" name="TextBox 50"/>
          <p:cNvSpPr txBox="1"/>
          <p:nvPr/>
        </p:nvSpPr>
        <p:spPr>
          <a:xfrm>
            <a:off x="768096"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APPROVED</a:t>
            </a:r>
          </a:p>
        </p:txBody>
      </p:sp>
      <p:sp>
        <p:nvSpPr>
          <p:cNvPr id="52" name="TextBox 51"/>
          <p:cNvSpPr txBox="1"/>
          <p:nvPr/>
        </p:nvSpPr>
        <p:spPr>
          <a:xfrm>
            <a:off x="2542032"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Total versions</a:t>
            </a:r>
          </a:p>
        </p:txBody>
      </p:sp>
      <p:sp>
        <p:nvSpPr>
          <p:cNvPr id="53" name="TextBox 52"/>
          <p:cNvSpPr txBox="1"/>
          <p:nvPr/>
        </p:nvSpPr>
        <p:spPr>
          <a:xfrm>
            <a:off x="3566160" y="4498848"/>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54" name="TextBox 53"/>
          <p:cNvSpPr txBox="1"/>
          <p:nvPr/>
        </p:nvSpPr>
        <p:spPr>
          <a:xfrm>
            <a:off x="2542032"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55" name="TextBox 54"/>
          <p:cNvSpPr txBox="1"/>
          <p:nvPr/>
        </p:nvSpPr>
        <p:spPr>
          <a:xfrm>
            <a:off x="3566160" y="4713732"/>
            <a:ext cx="512064" cy="219456"/>
          </a:xfrm>
          <a:prstGeom prst="rect">
            <a:avLst/>
          </a:prstGeom>
          <a:noFill/>
        </p:spPr>
        <p:txBody>
          <a:bodyPr wrap="square" lIns="0" rIns="0" tIns="0" bIns="0" anchor="t">
            <a:spAutoFit/>
          </a:bodyPr>
          <a:lstStyle/>
          <a:p>
            <a:pPr algn="r"/>
            <a:r>
              <a:rPr sz="1050" b="1">
                <a:solidFill>
                  <a:srgbClr val="5A6478"/>
                </a:solidFill>
                <a:latin typeface="Calibri"/>
              </a:rPr>
              <a:t>—</a:t>
            </a:r>
          </a:p>
        </p:txBody>
      </p:sp>
      <p:sp>
        <p:nvSpPr>
          <p:cNvPr id="56" name="TextBox 55"/>
          <p:cNvSpPr txBox="1"/>
          <p:nvPr/>
        </p:nvSpPr>
        <p:spPr>
          <a:xfrm>
            <a:off x="2542032"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57" name="TextBox 56"/>
          <p:cNvSpPr txBox="1"/>
          <p:nvPr/>
        </p:nvSpPr>
        <p:spPr>
          <a:xfrm>
            <a:off x="3566160" y="4928616"/>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58" name="Rectangle 57"/>
          <p:cNvSpPr/>
          <p:nvPr/>
        </p:nvSpPr>
        <p:spPr>
          <a:xfrm>
            <a:off x="76809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68096"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No job spec versions on file at all. Nothing has been started here.</a:t>
            </a:r>
          </a:p>
        </p:txBody>
      </p:sp>
      <p:sp>
        <p:nvSpPr>
          <p:cNvPr id="60" name="Rectangle 59"/>
          <p:cNvSpPr/>
          <p:nvPr/>
        </p:nvSpPr>
        <p:spPr>
          <a:xfrm>
            <a:off x="4443983"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443983" y="4041648"/>
            <a:ext cx="3675887"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645151"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Likas Square</a:t>
            </a:r>
          </a:p>
        </p:txBody>
      </p:sp>
      <p:sp>
        <p:nvSpPr>
          <p:cNvPr id="63" name="TextBox 62"/>
          <p:cNvSpPr txBox="1"/>
          <p:nvPr/>
        </p:nvSpPr>
        <p:spPr>
          <a:xfrm>
            <a:off x="4645151" y="4498848"/>
            <a:ext cx="1737360" cy="502920"/>
          </a:xfrm>
          <a:prstGeom prst="rect">
            <a:avLst/>
          </a:prstGeom>
          <a:noFill/>
        </p:spPr>
        <p:txBody>
          <a:bodyPr wrap="square" lIns="0" rIns="0" tIns="0" bIns="0" anchor="t">
            <a:spAutoFit/>
          </a:bodyPr>
          <a:lstStyle/>
          <a:p>
            <a:pPr algn="l"/>
            <a:r>
              <a:rPr sz="2700" b="1">
                <a:solidFill>
                  <a:srgbClr val="C62828"/>
                </a:solidFill>
                <a:latin typeface="Cambria"/>
              </a:rPr>
              <a:t>2%</a:t>
            </a:r>
          </a:p>
        </p:txBody>
      </p:sp>
      <p:sp>
        <p:nvSpPr>
          <p:cNvPr id="64" name="TextBox 63"/>
          <p:cNvSpPr txBox="1"/>
          <p:nvPr/>
        </p:nvSpPr>
        <p:spPr>
          <a:xfrm>
            <a:off x="4645151"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APPROVED</a:t>
            </a:r>
          </a:p>
        </p:txBody>
      </p:sp>
      <p:sp>
        <p:nvSpPr>
          <p:cNvPr id="65" name="TextBox 64"/>
          <p:cNvSpPr txBox="1"/>
          <p:nvPr/>
        </p:nvSpPr>
        <p:spPr>
          <a:xfrm>
            <a:off x="6419087"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Total versions</a:t>
            </a:r>
          </a:p>
        </p:txBody>
      </p:sp>
      <p:sp>
        <p:nvSpPr>
          <p:cNvPr id="66" name="TextBox 65"/>
          <p:cNvSpPr txBox="1"/>
          <p:nvPr/>
        </p:nvSpPr>
        <p:spPr>
          <a:xfrm>
            <a:off x="7443215" y="4498848"/>
            <a:ext cx="512064" cy="219456"/>
          </a:xfrm>
          <a:prstGeom prst="rect">
            <a:avLst/>
          </a:prstGeom>
          <a:noFill/>
        </p:spPr>
        <p:txBody>
          <a:bodyPr wrap="square" lIns="0" rIns="0" tIns="0" bIns="0" anchor="t">
            <a:spAutoFit/>
          </a:bodyPr>
          <a:lstStyle/>
          <a:p>
            <a:pPr algn="r"/>
            <a:r>
              <a:rPr sz="1050" b="1">
                <a:solidFill>
                  <a:srgbClr val="16203F"/>
                </a:solidFill>
                <a:latin typeface="Calibri"/>
              </a:rPr>
              <a:t>42</a:t>
            </a:r>
          </a:p>
        </p:txBody>
      </p:sp>
      <p:sp>
        <p:nvSpPr>
          <p:cNvPr id="67" name="TextBox 66"/>
          <p:cNvSpPr txBox="1"/>
          <p:nvPr/>
        </p:nvSpPr>
        <p:spPr>
          <a:xfrm>
            <a:off x="6419087"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68" name="TextBox 67"/>
          <p:cNvSpPr txBox="1"/>
          <p:nvPr/>
        </p:nvSpPr>
        <p:spPr>
          <a:xfrm>
            <a:off x="7443215" y="4713732"/>
            <a:ext cx="512064" cy="219456"/>
          </a:xfrm>
          <a:prstGeom prst="rect">
            <a:avLst/>
          </a:prstGeom>
          <a:noFill/>
        </p:spPr>
        <p:txBody>
          <a:bodyPr wrap="square" lIns="0" rIns="0" tIns="0" bIns="0" anchor="t">
            <a:spAutoFit/>
          </a:bodyPr>
          <a:lstStyle/>
          <a:p>
            <a:pPr algn="r"/>
            <a:r>
              <a:rPr sz="1050" b="1">
                <a:solidFill>
                  <a:srgbClr val="2E7D32"/>
                </a:solidFill>
                <a:latin typeface="Calibri"/>
              </a:rPr>
              <a:t>1</a:t>
            </a:r>
          </a:p>
        </p:txBody>
      </p:sp>
      <p:sp>
        <p:nvSpPr>
          <p:cNvPr id="69" name="TextBox 68"/>
          <p:cNvSpPr txBox="1"/>
          <p:nvPr/>
        </p:nvSpPr>
        <p:spPr>
          <a:xfrm>
            <a:off x="6419087"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70" name="TextBox 69"/>
          <p:cNvSpPr txBox="1"/>
          <p:nvPr/>
        </p:nvSpPr>
        <p:spPr>
          <a:xfrm>
            <a:off x="7443215" y="4928616"/>
            <a:ext cx="512064" cy="219456"/>
          </a:xfrm>
          <a:prstGeom prst="rect">
            <a:avLst/>
          </a:prstGeom>
          <a:noFill/>
        </p:spPr>
        <p:txBody>
          <a:bodyPr wrap="square" lIns="0" rIns="0" tIns="0" bIns="0" anchor="t">
            <a:spAutoFit/>
          </a:bodyPr>
          <a:lstStyle/>
          <a:p>
            <a:pPr algn="r"/>
            <a:r>
              <a:rPr sz="1050" b="1">
                <a:solidFill>
                  <a:srgbClr val="16203F"/>
                </a:solidFill>
                <a:latin typeface="Calibri"/>
              </a:rPr>
              <a:t>41</a:t>
            </a:r>
          </a:p>
        </p:txBody>
      </p:sp>
      <p:sp>
        <p:nvSpPr>
          <p:cNvPr id="71" name="Rectangle 70"/>
          <p:cNvSpPr/>
          <p:nvPr/>
        </p:nvSpPr>
        <p:spPr>
          <a:xfrm>
            <a:off x="4645151"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645151"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42 versions but only 1 approved. Came online in August and has not progressed.</a:t>
            </a:r>
          </a:p>
        </p:txBody>
      </p:sp>
      <p:sp>
        <p:nvSpPr>
          <p:cNvPr id="73" name="Rectangle 72"/>
          <p:cNvSpPr/>
          <p:nvPr/>
        </p:nvSpPr>
        <p:spPr>
          <a:xfrm>
            <a:off x="832103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321038" y="4041648"/>
            <a:ext cx="3675887"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522206"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TP Group</a:t>
            </a:r>
          </a:p>
        </p:txBody>
      </p:sp>
      <p:sp>
        <p:nvSpPr>
          <p:cNvPr id="76" name="TextBox 75"/>
          <p:cNvSpPr txBox="1"/>
          <p:nvPr/>
        </p:nvSpPr>
        <p:spPr>
          <a:xfrm>
            <a:off x="8522206" y="4498848"/>
            <a:ext cx="1737360" cy="502920"/>
          </a:xfrm>
          <a:prstGeom prst="rect">
            <a:avLst/>
          </a:prstGeom>
          <a:noFill/>
        </p:spPr>
        <p:txBody>
          <a:bodyPr wrap="square" lIns="0" rIns="0" tIns="0" bIns="0" anchor="t">
            <a:spAutoFit/>
          </a:bodyPr>
          <a:lstStyle/>
          <a:p>
            <a:pPr algn="l"/>
            <a:r>
              <a:rPr sz="2700" b="1">
                <a:solidFill>
                  <a:srgbClr val="C62828"/>
                </a:solidFill>
                <a:latin typeface="Cambria"/>
              </a:rPr>
              <a:t>—</a:t>
            </a:r>
          </a:p>
        </p:txBody>
      </p:sp>
      <p:sp>
        <p:nvSpPr>
          <p:cNvPr id="77" name="TextBox 76"/>
          <p:cNvSpPr txBox="1"/>
          <p:nvPr/>
        </p:nvSpPr>
        <p:spPr>
          <a:xfrm>
            <a:off x="8522206"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APPROVED</a:t>
            </a:r>
          </a:p>
        </p:txBody>
      </p:sp>
      <p:sp>
        <p:nvSpPr>
          <p:cNvPr id="78" name="TextBox 77"/>
          <p:cNvSpPr txBox="1"/>
          <p:nvPr/>
        </p:nvSpPr>
        <p:spPr>
          <a:xfrm>
            <a:off x="10296142"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Total versions</a:t>
            </a:r>
          </a:p>
        </p:txBody>
      </p:sp>
      <p:sp>
        <p:nvSpPr>
          <p:cNvPr id="79" name="TextBox 78"/>
          <p:cNvSpPr txBox="1"/>
          <p:nvPr/>
        </p:nvSpPr>
        <p:spPr>
          <a:xfrm>
            <a:off x="11320270" y="4498848"/>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80" name="TextBox 79"/>
          <p:cNvSpPr txBox="1"/>
          <p:nvPr/>
        </p:nvSpPr>
        <p:spPr>
          <a:xfrm>
            <a:off x="10296142"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81" name="TextBox 80"/>
          <p:cNvSpPr txBox="1"/>
          <p:nvPr/>
        </p:nvSpPr>
        <p:spPr>
          <a:xfrm>
            <a:off x="11320270" y="4713732"/>
            <a:ext cx="512064" cy="219456"/>
          </a:xfrm>
          <a:prstGeom prst="rect">
            <a:avLst/>
          </a:prstGeom>
          <a:noFill/>
        </p:spPr>
        <p:txBody>
          <a:bodyPr wrap="square" lIns="0" rIns="0" tIns="0" bIns="0" anchor="t">
            <a:spAutoFit/>
          </a:bodyPr>
          <a:lstStyle/>
          <a:p>
            <a:pPr algn="r"/>
            <a:r>
              <a:rPr sz="1050" b="1">
                <a:solidFill>
                  <a:srgbClr val="5A6478"/>
                </a:solidFill>
                <a:latin typeface="Calibri"/>
              </a:rPr>
              <a:t>—</a:t>
            </a:r>
          </a:p>
        </p:txBody>
      </p:sp>
      <p:sp>
        <p:nvSpPr>
          <p:cNvPr id="82" name="TextBox 81"/>
          <p:cNvSpPr txBox="1"/>
          <p:nvPr/>
        </p:nvSpPr>
        <p:spPr>
          <a:xfrm>
            <a:off x="10296142"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83" name="TextBox 82"/>
          <p:cNvSpPr txBox="1"/>
          <p:nvPr/>
        </p:nvSpPr>
        <p:spPr>
          <a:xfrm>
            <a:off x="11320270" y="4928616"/>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84" name="Rectangle 83"/>
          <p:cNvSpPr/>
          <p:nvPr/>
        </p:nvSpPr>
        <p:spPr>
          <a:xfrm>
            <a:off x="852220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522206"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No job spec versions on file. 61 staff, nothing started.</a:t>
            </a:r>
          </a:p>
        </p:txBody>
      </p:sp>
      <p:sp>
        <p:nvSpPr>
          <p:cNvPr id="86" name="TextBox 85"/>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Same basis as the application's own job spec approval report: general worker versions counted only for workers still in the live scorecard population. 668 pending and 14 rejected group-wide. Approval rate is of all versions on file.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FOUR</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Merit/Demerit Issuance</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Who is using the recognition tool, and how the mix has shifted over time.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4 · ADOPTION &amp; CONCENTRATION</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Merit/Demerit issuance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1,207 records issued to date. 2026 is already the busiest year on record, by a wide margin.</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1,207</a:t>
            </a:r>
          </a:p>
        </p:txBody>
      </p:sp>
      <p:sp>
        <p:nvSpPr>
          <p:cNvPr id="11" name="TextBox 10"/>
          <p:cNvSpPr txBox="1"/>
          <p:nvPr/>
        </p:nvSpPr>
        <p:spPr>
          <a:xfrm>
            <a:off x="804672"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Records issued</a:t>
            </a:r>
          </a:p>
        </p:txBody>
      </p:sp>
      <p:sp>
        <p:nvSpPr>
          <p:cNvPr id="12" name="TextBox 11"/>
          <p:cNvSpPr txBox="1"/>
          <p:nvPr/>
        </p:nvSpPr>
        <p:spPr>
          <a:xfrm>
            <a:off x="804672"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2023 – 12 Oct 2026. Up 142 since September.</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6996"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4740"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61%</a:t>
            </a:r>
          </a:p>
        </p:txBody>
      </p:sp>
      <p:sp>
        <p:nvSpPr>
          <p:cNvPr id="16" name="TextBox 15"/>
          <p:cNvSpPr txBox="1"/>
          <p:nvPr/>
        </p:nvSpPr>
        <p:spPr>
          <a:xfrm>
            <a:off x="3634740"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Merit share, group-wide</a:t>
            </a:r>
          </a:p>
        </p:txBody>
      </p:sp>
      <p:sp>
        <p:nvSpPr>
          <p:cNvPr id="17" name="TextBox 16"/>
          <p:cNvSpPr txBox="1"/>
          <p:nvPr/>
        </p:nvSpPr>
        <p:spPr>
          <a:xfrm>
            <a:off x="3634740"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741 merit vs 464 demerit (2 unclassified)</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690</a:t>
            </a:r>
          </a:p>
        </p:txBody>
      </p:sp>
      <p:sp>
        <p:nvSpPr>
          <p:cNvPr id="21" name="TextBox 20"/>
          <p:cNvSpPr txBox="1"/>
          <p:nvPr/>
        </p:nvSpPr>
        <p:spPr>
          <a:xfrm>
            <a:off x="6464808"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Issued so far in 2026</a:t>
            </a:r>
          </a:p>
        </p:txBody>
      </p:sp>
      <p:sp>
        <p:nvSpPr>
          <p:cNvPr id="22" name="TextBox 21"/>
          <p:cNvSpPr txBox="1"/>
          <p:nvPr/>
        </p:nvSpPr>
        <p:spPr>
          <a:xfrm>
            <a:off x="6464808"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vs 368 for all of 2025 — up 88% on the full prior year</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7132"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4876" y="1810512"/>
            <a:ext cx="2203704" cy="548640"/>
          </a:xfrm>
          <a:prstGeom prst="rect">
            <a:avLst/>
          </a:prstGeom>
          <a:noFill/>
        </p:spPr>
        <p:txBody>
          <a:bodyPr wrap="square" lIns="0" rIns="0" tIns="0" bIns="0" anchor="t">
            <a:spAutoFit/>
          </a:bodyPr>
          <a:lstStyle/>
          <a:p>
            <a:pPr algn="l"/>
            <a:r>
              <a:rPr sz="3400" b="1">
                <a:solidFill>
                  <a:srgbClr val="F9A825"/>
                </a:solidFill>
                <a:latin typeface="Cambria"/>
              </a:rPr>
              <a:t>78%</a:t>
            </a:r>
          </a:p>
        </p:txBody>
      </p:sp>
      <p:sp>
        <p:nvSpPr>
          <p:cNvPr id="26" name="TextBox 25"/>
          <p:cNvSpPr txBox="1"/>
          <p:nvPr/>
        </p:nvSpPr>
        <p:spPr>
          <a:xfrm>
            <a:off x="9294876"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Concentrated at Grandis</a:t>
            </a:r>
          </a:p>
        </p:txBody>
      </p:sp>
      <p:sp>
        <p:nvSpPr>
          <p:cNvPr id="27" name="TextBox 26"/>
          <p:cNvSpPr txBox="1"/>
          <p:nvPr/>
        </p:nvSpPr>
        <p:spPr>
          <a:xfrm>
            <a:off x="9294876"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945 of 1,207 records. The tool is one company's habit.</a:t>
            </a:r>
          </a:p>
        </p:txBody>
      </p:sp>
      <p:sp>
        <p:nvSpPr>
          <p:cNvPr id="28" name="Rectangle 27"/>
          <p:cNvSpPr/>
          <p:nvPr/>
        </p:nvSpPr>
        <p:spPr>
          <a:xfrm>
            <a:off x="566928" y="3703320"/>
            <a:ext cx="110642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776472"/>
            <a:ext cx="3357676" cy="329184"/>
          </a:xfrm>
          <a:prstGeom prst="rect">
            <a:avLst/>
          </a:prstGeom>
          <a:noFill/>
        </p:spPr>
        <p:txBody>
          <a:bodyPr wrap="square" lIns="0" rIns="0" tIns="0" bIns="0" anchor="t">
            <a:spAutoFit/>
          </a:bodyPr>
          <a:lstStyle/>
          <a:p>
            <a:pPr algn="l"/>
            <a:r>
              <a:rPr sz="950" b="1">
                <a:solidFill>
                  <a:srgbClr val="FFFFFF"/>
                </a:solidFill>
                <a:latin typeface="Calibri"/>
              </a:rPr>
              <a:t>Year</a:t>
            </a:r>
          </a:p>
        </p:txBody>
      </p:sp>
      <p:sp>
        <p:nvSpPr>
          <p:cNvPr id="30" name="TextBox 29"/>
          <p:cNvSpPr txBox="1"/>
          <p:nvPr/>
        </p:nvSpPr>
        <p:spPr>
          <a:xfrm>
            <a:off x="4208068" y="3776472"/>
            <a:ext cx="2325014" cy="329184"/>
          </a:xfrm>
          <a:prstGeom prst="rect">
            <a:avLst/>
          </a:prstGeom>
          <a:noFill/>
        </p:spPr>
        <p:txBody>
          <a:bodyPr wrap="square" lIns="0" rIns="0" tIns="0" bIns="0" anchor="t">
            <a:spAutoFit/>
          </a:bodyPr>
          <a:lstStyle/>
          <a:p>
            <a:pPr algn="r"/>
            <a:r>
              <a:rPr sz="950" b="1">
                <a:solidFill>
                  <a:srgbClr val="FFFFFF"/>
                </a:solidFill>
                <a:latin typeface="Calibri"/>
              </a:rPr>
              <a:t>Merit</a:t>
            </a:r>
          </a:p>
        </p:txBody>
      </p:sp>
      <p:sp>
        <p:nvSpPr>
          <p:cNvPr id="31" name="TextBox 30"/>
          <p:cNvSpPr txBox="1"/>
          <p:nvPr/>
        </p:nvSpPr>
        <p:spPr>
          <a:xfrm>
            <a:off x="6715962" y="3776472"/>
            <a:ext cx="2325014" cy="329184"/>
          </a:xfrm>
          <a:prstGeom prst="rect">
            <a:avLst/>
          </a:prstGeom>
          <a:noFill/>
        </p:spPr>
        <p:txBody>
          <a:bodyPr wrap="square" lIns="0" rIns="0" tIns="0" bIns="0" anchor="t">
            <a:spAutoFit/>
          </a:bodyPr>
          <a:lstStyle/>
          <a:p>
            <a:pPr algn="r"/>
            <a:r>
              <a:rPr sz="950" b="1">
                <a:solidFill>
                  <a:srgbClr val="FFFFFF"/>
                </a:solidFill>
                <a:latin typeface="Calibri"/>
              </a:rPr>
              <a:t>Demerit</a:t>
            </a:r>
          </a:p>
        </p:txBody>
      </p:sp>
      <p:sp>
        <p:nvSpPr>
          <p:cNvPr id="32" name="TextBox 31"/>
          <p:cNvSpPr txBox="1"/>
          <p:nvPr/>
        </p:nvSpPr>
        <p:spPr>
          <a:xfrm>
            <a:off x="9223856" y="3776472"/>
            <a:ext cx="2325014" cy="329184"/>
          </a:xfrm>
          <a:prstGeom prst="rect">
            <a:avLst/>
          </a:prstGeom>
          <a:noFill/>
        </p:spPr>
        <p:txBody>
          <a:bodyPr wrap="square" lIns="0" rIns="0" tIns="0" bIns="0" anchor="t">
            <a:spAutoFit/>
          </a:bodyPr>
          <a:lstStyle/>
          <a:p>
            <a:pPr algn="r"/>
            <a:r>
              <a:rPr sz="950" b="1">
                <a:solidFill>
                  <a:srgbClr val="FFFFFF"/>
                </a:solidFill>
                <a:latin typeface="Calibri"/>
              </a:rPr>
              <a:t>Total</a:t>
            </a:r>
          </a:p>
        </p:txBody>
      </p:sp>
      <p:sp>
        <p:nvSpPr>
          <p:cNvPr id="33" name="Rectangle 32"/>
          <p:cNvSpPr/>
          <p:nvPr/>
        </p:nvSpPr>
        <p:spPr>
          <a:xfrm>
            <a:off x="566928" y="4032504"/>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433882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 y="4096512"/>
            <a:ext cx="3357676" cy="306324"/>
          </a:xfrm>
          <a:prstGeom prst="rect">
            <a:avLst/>
          </a:prstGeom>
          <a:noFill/>
        </p:spPr>
        <p:txBody>
          <a:bodyPr wrap="square" lIns="0" rIns="0" tIns="0" bIns="0" anchor="t">
            <a:spAutoFit/>
          </a:bodyPr>
          <a:lstStyle/>
          <a:p>
            <a:pPr algn="l"/>
            <a:r>
              <a:rPr sz="1050" b="1">
                <a:solidFill>
                  <a:srgbClr val="111111"/>
                </a:solidFill>
                <a:latin typeface="Calibri"/>
              </a:rPr>
              <a:t>2023</a:t>
            </a:r>
          </a:p>
        </p:txBody>
      </p:sp>
      <p:sp>
        <p:nvSpPr>
          <p:cNvPr id="36" name="TextBox 35"/>
          <p:cNvSpPr txBox="1"/>
          <p:nvPr/>
        </p:nvSpPr>
        <p:spPr>
          <a:xfrm>
            <a:off x="4208068" y="4096512"/>
            <a:ext cx="2325014" cy="306324"/>
          </a:xfrm>
          <a:prstGeom prst="rect">
            <a:avLst/>
          </a:prstGeom>
          <a:noFill/>
        </p:spPr>
        <p:txBody>
          <a:bodyPr wrap="square" lIns="0" rIns="0" tIns="0" bIns="0" anchor="t">
            <a:spAutoFit/>
          </a:bodyPr>
          <a:lstStyle/>
          <a:p>
            <a:pPr algn="r"/>
            <a:r>
              <a:rPr sz="1050" b="0">
                <a:solidFill>
                  <a:srgbClr val="111111"/>
                </a:solidFill>
                <a:latin typeface="Calibri"/>
              </a:rPr>
              <a:t>0</a:t>
            </a:r>
          </a:p>
        </p:txBody>
      </p:sp>
      <p:sp>
        <p:nvSpPr>
          <p:cNvPr id="37" name="TextBox 36"/>
          <p:cNvSpPr txBox="1"/>
          <p:nvPr/>
        </p:nvSpPr>
        <p:spPr>
          <a:xfrm>
            <a:off x="6715962" y="4096512"/>
            <a:ext cx="2325014"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38" name="TextBox 37"/>
          <p:cNvSpPr txBox="1"/>
          <p:nvPr/>
        </p:nvSpPr>
        <p:spPr>
          <a:xfrm>
            <a:off x="9223856" y="4096512"/>
            <a:ext cx="2325014"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39" name="Rectangle 38"/>
          <p:cNvSpPr/>
          <p:nvPr/>
        </p:nvSpPr>
        <p:spPr>
          <a:xfrm>
            <a:off x="566928" y="4338828"/>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464515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 y="4402836"/>
            <a:ext cx="3357676" cy="306324"/>
          </a:xfrm>
          <a:prstGeom prst="rect">
            <a:avLst/>
          </a:prstGeom>
          <a:noFill/>
        </p:spPr>
        <p:txBody>
          <a:bodyPr wrap="square" lIns="0" rIns="0" tIns="0" bIns="0" anchor="t">
            <a:spAutoFit/>
          </a:bodyPr>
          <a:lstStyle/>
          <a:p>
            <a:pPr algn="l"/>
            <a:r>
              <a:rPr sz="1050" b="1">
                <a:solidFill>
                  <a:srgbClr val="111111"/>
                </a:solidFill>
                <a:latin typeface="Calibri"/>
              </a:rPr>
              <a:t>2024</a:t>
            </a:r>
          </a:p>
        </p:txBody>
      </p:sp>
      <p:sp>
        <p:nvSpPr>
          <p:cNvPr id="42" name="TextBox 41"/>
          <p:cNvSpPr txBox="1"/>
          <p:nvPr/>
        </p:nvSpPr>
        <p:spPr>
          <a:xfrm>
            <a:off x="4208068" y="4402836"/>
            <a:ext cx="2325014"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43" name="TextBox 42"/>
          <p:cNvSpPr txBox="1"/>
          <p:nvPr/>
        </p:nvSpPr>
        <p:spPr>
          <a:xfrm>
            <a:off x="6715962" y="4402836"/>
            <a:ext cx="2325014" cy="306324"/>
          </a:xfrm>
          <a:prstGeom prst="rect">
            <a:avLst/>
          </a:prstGeom>
          <a:noFill/>
        </p:spPr>
        <p:txBody>
          <a:bodyPr wrap="square" lIns="0" rIns="0" tIns="0" bIns="0" anchor="t">
            <a:spAutoFit/>
          </a:bodyPr>
          <a:lstStyle/>
          <a:p>
            <a:pPr algn="r"/>
            <a:r>
              <a:rPr sz="1050" b="0">
                <a:solidFill>
                  <a:srgbClr val="111111"/>
                </a:solidFill>
                <a:latin typeface="Calibri"/>
              </a:rPr>
              <a:t>146</a:t>
            </a:r>
          </a:p>
        </p:txBody>
      </p:sp>
      <p:sp>
        <p:nvSpPr>
          <p:cNvPr id="44" name="TextBox 43"/>
          <p:cNvSpPr txBox="1"/>
          <p:nvPr/>
        </p:nvSpPr>
        <p:spPr>
          <a:xfrm>
            <a:off x="9223856" y="4402836"/>
            <a:ext cx="2325014" cy="306324"/>
          </a:xfrm>
          <a:prstGeom prst="rect">
            <a:avLst/>
          </a:prstGeom>
          <a:noFill/>
        </p:spPr>
        <p:txBody>
          <a:bodyPr wrap="square" lIns="0" rIns="0" tIns="0" bIns="0" anchor="t">
            <a:spAutoFit/>
          </a:bodyPr>
          <a:lstStyle/>
          <a:p>
            <a:pPr algn="r"/>
            <a:r>
              <a:rPr sz="1050" b="0">
                <a:solidFill>
                  <a:srgbClr val="111111"/>
                </a:solidFill>
                <a:latin typeface="Calibri"/>
              </a:rPr>
              <a:t>148</a:t>
            </a:r>
          </a:p>
        </p:txBody>
      </p:sp>
      <p:sp>
        <p:nvSpPr>
          <p:cNvPr id="45" name="Rectangle 44"/>
          <p:cNvSpPr/>
          <p:nvPr/>
        </p:nvSpPr>
        <p:spPr>
          <a:xfrm>
            <a:off x="566928" y="4645152"/>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66928" y="495147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 y="4709160"/>
            <a:ext cx="3357676" cy="306324"/>
          </a:xfrm>
          <a:prstGeom prst="rect">
            <a:avLst/>
          </a:prstGeom>
          <a:noFill/>
        </p:spPr>
        <p:txBody>
          <a:bodyPr wrap="square" lIns="0" rIns="0" tIns="0" bIns="0" anchor="t">
            <a:spAutoFit/>
          </a:bodyPr>
          <a:lstStyle/>
          <a:p>
            <a:pPr algn="l"/>
            <a:r>
              <a:rPr sz="1050" b="1">
                <a:solidFill>
                  <a:srgbClr val="111111"/>
                </a:solidFill>
                <a:latin typeface="Calibri"/>
              </a:rPr>
              <a:t>2025</a:t>
            </a:r>
          </a:p>
        </p:txBody>
      </p:sp>
      <p:sp>
        <p:nvSpPr>
          <p:cNvPr id="48" name="TextBox 47"/>
          <p:cNvSpPr txBox="1"/>
          <p:nvPr/>
        </p:nvSpPr>
        <p:spPr>
          <a:xfrm>
            <a:off x="4208068" y="4709160"/>
            <a:ext cx="2325014" cy="306324"/>
          </a:xfrm>
          <a:prstGeom prst="rect">
            <a:avLst/>
          </a:prstGeom>
          <a:noFill/>
        </p:spPr>
        <p:txBody>
          <a:bodyPr wrap="square" lIns="0" rIns="0" tIns="0" bIns="0" anchor="t">
            <a:spAutoFit/>
          </a:bodyPr>
          <a:lstStyle/>
          <a:p>
            <a:pPr algn="r"/>
            <a:r>
              <a:rPr sz="1050" b="0">
                <a:solidFill>
                  <a:srgbClr val="111111"/>
                </a:solidFill>
                <a:latin typeface="Calibri"/>
              </a:rPr>
              <a:t>260</a:t>
            </a:r>
          </a:p>
        </p:txBody>
      </p:sp>
      <p:sp>
        <p:nvSpPr>
          <p:cNvPr id="49" name="TextBox 48"/>
          <p:cNvSpPr txBox="1"/>
          <p:nvPr/>
        </p:nvSpPr>
        <p:spPr>
          <a:xfrm>
            <a:off x="6715962" y="4709160"/>
            <a:ext cx="2325014" cy="306324"/>
          </a:xfrm>
          <a:prstGeom prst="rect">
            <a:avLst/>
          </a:prstGeom>
          <a:noFill/>
        </p:spPr>
        <p:txBody>
          <a:bodyPr wrap="square" lIns="0" rIns="0" tIns="0" bIns="0" anchor="t">
            <a:spAutoFit/>
          </a:bodyPr>
          <a:lstStyle/>
          <a:p>
            <a:pPr algn="r"/>
            <a:r>
              <a:rPr sz="1050" b="0">
                <a:solidFill>
                  <a:srgbClr val="111111"/>
                </a:solidFill>
                <a:latin typeface="Calibri"/>
              </a:rPr>
              <a:t>108</a:t>
            </a:r>
          </a:p>
        </p:txBody>
      </p:sp>
      <p:sp>
        <p:nvSpPr>
          <p:cNvPr id="50" name="TextBox 49"/>
          <p:cNvSpPr txBox="1"/>
          <p:nvPr/>
        </p:nvSpPr>
        <p:spPr>
          <a:xfrm>
            <a:off x="9223856" y="4709160"/>
            <a:ext cx="2325014" cy="306324"/>
          </a:xfrm>
          <a:prstGeom prst="rect">
            <a:avLst/>
          </a:prstGeom>
          <a:noFill/>
        </p:spPr>
        <p:txBody>
          <a:bodyPr wrap="square" lIns="0" rIns="0" tIns="0" bIns="0" anchor="t">
            <a:spAutoFit/>
          </a:bodyPr>
          <a:lstStyle/>
          <a:p>
            <a:pPr algn="r"/>
            <a:r>
              <a:rPr sz="1050" b="0">
                <a:solidFill>
                  <a:srgbClr val="111111"/>
                </a:solidFill>
                <a:latin typeface="Calibri"/>
              </a:rPr>
              <a:t>368</a:t>
            </a:r>
          </a:p>
        </p:txBody>
      </p:sp>
      <p:sp>
        <p:nvSpPr>
          <p:cNvPr id="51" name="Rectangle 50"/>
          <p:cNvSpPr/>
          <p:nvPr/>
        </p:nvSpPr>
        <p:spPr>
          <a:xfrm>
            <a:off x="566928" y="4951476"/>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66928" y="52578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512" y="5015484"/>
            <a:ext cx="3357676" cy="306324"/>
          </a:xfrm>
          <a:prstGeom prst="rect">
            <a:avLst/>
          </a:prstGeom>
          <a:noFill/>
        </p:spPr>
        <p:txBody>
          <a:bodyPr wrap="square" lIns="0" rIns="0" tIns="0" bIns="0" anchor="t">
            <a:spAutoFit/>
          </a:bodyPr>
          <a:lstStyle/>
          <a:p>
            <a:pPr algn="l"/>
            <a:r>
              <a:rPr sz="1050" b="1">
                <a:solidFill>
                  <a:srgbClr val="111111"/>
                </a:solidFill>
                <a:latin typeface="Calibri"/>
              </a:rPr>
              <a:t>2026 YTD</a:t>
            </a:r>
          </a:p>
        </p:txBody>
      </p:sp>
      <p:sp>
        <p:nvSpPr>
          <p:cNvPr id="54" name="TextBox 53"/>
          <p:cNvSpPr txBox="1"/>
          <p:nvPr/>
        </p:nvSpPr>
        <p:spPr>
          <a:xfrm>
            <a:off x="4208068" y="5015484"/>
            <a:ext cx="2325014" cy="306324"/>
          </a:xfrm>
          <a:prstGeom prst="rect">
            <a:avLst/>
          </a:prstGeom>
          <a:noFill/>
        </p:spPr>
        <p:txBody>
          <a:bodyPr wrap="square" lIns="0" rIns="0" tIns="0" bIns="0" anchor="t">
            <a:spAutoFit/>
          </a:bodyPr>
          <a:lstStyle/>
          <a:p>
            <a:pPr algn="r"/>
            <a:r>
              <a:rPr sz="1050" b="0">
                <a:solidFill>
                  <a:srgbClr val="111111"/>
                </a:solidFill>
                <a:latin typeface="Calibri"/>
              </a:rPr>
              <a:t>480</a:t>
            </a:r>
          </a:p>
        </p:txBody>
      </p:sp>
      <p:sp>
        <p:nvSpPr>
          <p:cNvPr id="55" name="TextBox 54"/>
          <p:cNvSpPr txBox="1"/>
          <p:nvPr/>
        </p:nvSpPr>
        <p:spPr>
          <a:xfrm>
            <a:off x="6715962" y="5015484"/>
            <a:ext cx="2325014" cy="306324"/>
          </a:xfrm>
          <a:prstGeom prst="rect">
            <a:avLst/>
          </a:prstGeom>
          <a:noFill/>
        </p:spPr>
        <p:txBody>
          <a:bodyPr wrap="square" lIns="0" rIns="0" tIns="0" bIns="0" anchor="t">
            <a:spAutoFit/>
          </a:bodyPr>
          <a:lstStyle/>
          <a:p>
            <a:pPr algn="r"/>
            <a:r>
              <a:rPr sz="1050" b="0">
                <a:solidFill>
                  <a:srgbClr val="111111"/>
                </a:solidFill>
                <a:latin typeface="Calibri"/>
              </a:rPr>
              <a:t>209</a:t>
            </a:r>
          </a:p>
        </p:txBody>
      </p:sp>
      <p:sp>
        <p:nvSpPr>
          <p:cNvPr id="56" name="TextBox 55"/>
          <p:cNvSpPr txBox="1"/>
          <p:nvPr/>
        </p:nvSpPr>
        <p:spPr>
          <a:xfrm>
            <a:off x="9223856" y="5015484"/>
            <a:ext cx="2325014" cy="306324"/>
          </a:xfrm>
          <a:prstGeom prst="rect">
            <a:avLst/>
          </a:prstGeom>
          <a:noFill/>
        </p:spPr>
        <p:txBody>
          <a:bodyPr wrap="square" lIns="0" rIns="0" tIns="0" bIns="0" anchor="t">
            <a:spAutoFit/>
          </a:bodyPr>
          <a:lstStyle/>
          <a:p>
            <a:pPr algn="r"/>
            <a:r>
              <a:rPr sz="1050" b="0">
                <a:solidFill>
                  <a:srgbClr val="111111"/>
                </a:solidFill>
                <a:latin typeface="Calibri"/>
              </a:rPr>
              <a:t>690</a:t>
            </a:r>
          </a:p>
        </p:txBody>
      </p:sp>
      <p:sp>
        <p:nvSpPr>
          <p:cNvPr id="57" name="Rectangle 56"/>
          <p:cNvSpPr/>
          <p:nvPr/>
        </p:nvSpPr>
        <p:spPr>
          <a:xfrm>
            <a:off x="566928" y="5257800"/>
            <a:ext cx="110642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66928" y="556412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7512" y="5321808"/>
            <a:ext cx="3357676" cy="306324"/>
          </a:xfrm>
          <a:prstGeom prst="rect">
            <a:avLst/>
          </a:prstGeom>
          <a:noFill/>
        </p:spPr>
        <p:txBody>
          <a:bodyPr wrap="square" lIns="0" rIns="0" tIns="0" bIns="0" anchor="t">
            <a:spAutoFit/>
          </a:bodyPr>
          <a:lstStyle/>
          <a:p>
            <a:pPr algn="l"/>
            <a:r>
              <a:rPr sz="1050" b="1">
                <a:solidFill>
                  <a:srgbClr val="1E2761"/>
                </a:solidFill>
                <a:latin typeface="Calibri"/>
              </a:rPr>
              <a:t>Total</a:t>
            </a:r>
          </a:p>
        </p:txBody>
      </p:sp>
      <p:sp>
        <p:nvSpPr>
          <p:cNvPr id="60" name="TextBox 59"/>
          <p:cNvSpPr txBox="1"/>
          <p:nvPr/>
        </p:nvSpPr>
        <p:spPr>
          <a:xfrm>
            <a:off x="4208068" y="5321808"/>
            <a:ext cx="2325014" cy="306324"/>
          </a:xfrm>
          <a:prstGeom prst="rect">
            <a:avLst/>
          </a:prstGeom>
          <a:noFill/>
        </p:spPr>
        <p:txBody>
          <a:bodyPr wrap="square" lIns="0" rIns="0" tIns="0" bIns="0" anchor="t">
            <a:spAutoFit/>
          </a:bodyPr>
          <a:lstStyle/>
          <a:p>
            <a:pPr algn="r"/>
            <a:r>
              <a:rPr sz="1050" b="1">
                <a:solidFill>
                  <a:srgbClr val="1E2761"/>
                </a:solidFill>
                <a:latin typeface="Calibri"/>
              </a:rPr>
              <a:t>741</a:t>
            </a:r>
          </a:p>
        </p:txBody>
      </p:sp>
      <p:sp>
        <p:nvSpPr>
          <p:cNvPr id="61" name="TextBox 60"/>
          <p:cNvSpPr txBox="1"/>
          <p:nvPr/>
        </p:nvSpPr>
        <p:spPr>
          <a:xfrm>
            <a:off x="6715962" y="5321808"/>
            <a:ext cx="2325014" cy="306324"/>
          </a:xfrm>
          <a:prstGeom prst="rect">
            <a:avLst/>
          </a:prstGeom>
          <a:noFill/>
        </p:spPr>
        <p:txBody>
          <a:bodyPr wrap="square" lIns="0" rIns="0" tIns="0" bIns="0" anchor="t">
            <a:spAutoFit/>
          </a:bodyPr>
          <a:lstStyle/>
          <a:p>
            <a:pPr algn="r"/>
            <a:r>
              <a:rPr sz="1050" b="1">
                <a:solidFill>
                  <a:srgbClr val="1E2761"/>
                </a:solidFill>
                <a:latin typeface="Calibri"/>
              </a:rPr>
              <a:t>464</a:t>
            </a:r>
          </a:p>
        </p:txBody>
      </p:sp>
      <p:sp>
        <p:nvSpPr>
          <p:cNvPr id="62" name="TextBox 61"/>
          <p:cNvSpPr txBox="1"/>
          <p:nvPr/>
        </p:nvSpPr>
        <p:spPr>
          <a:xfrm>
            <a:off x="9223856" y="5321808"/>
            <a:ext cx="2325014" cy="306324"/>
          </a:xfrm>
          <a:prstGeom prst="rect">
            <a:avLst/>
          </a:prstGeom>
          <a:noFill/>
        </p:spPr>
        <p:txBody>
          <a:bodyPr wrap="square" lIns="0" rIns="0" tIns="0" bIns="0" anchor="t">
            <a:spAutoFit/>
          </a:bodyPr>
          <a:lstStyle/>
          <a:p>
            <a:pPr algn="r"/>
            <a:r>
              <a:rPr sz="1050" b="1">
                <a:solidFill>
                  <a:srgbClr val="1E2761"/>
                </a:solidFill>
                <a:latin typeface="Calibri"/>
              </a:rPr>
              <a:t>1,207</a:t>
            </a:r>
          </a:p>
        </p:txBody>
      </p:sp>
      <p:sp>
        <p:nvSpPr>
          <p:cNvPr id="63" name="TextBox 62"/>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Merit/demerit records held against staff accounts, deleted records excluded. Two records carry no merit/demerit classification and are counted in totals only; merit share is measured on classified records.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4 · BY COMPANY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Merit/Demerit issuance — by company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Grandis carries 78% of group volume and is merit-led; Globinaco is almost entirely demerit.</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3675887"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Grandis</a:t>
            </a:r>
          </a:p>
        </p:txBody>
      </p:sp>
      <p:sp>
        <p:nvSpPr>
          <p:cNvPr id="11" name="TextBox 10"/>
          <p:cNvSpPr txBox="1"/>
          <p:nvPr/>
        </p:nvSpPr>
        <p:spPr>
          <a:xfrm>
            <a:off x="768096" y="2084832"/>
            <a:ext cx="1737360" cy="502920"/>
          </a:xfrm>
          <a:prstGeom prst="rect">
            <a:avLst/>
          </a:prstGeom>
          <a:noFill/>
        </p:spPr>
        <p:txBody>
          <a:bodyPr wrap="square" lIns="0" rIns="0" tIns="0" bIns="0" anchor="t">
            <a:spAutoFit/>
          </a:bodyPr>
          <a:lstStyle/>
          <a:p>
            <a:pPr algn="l"/>
            <a:r>
              <a:rPr sz="2700" b="1">
                <a:solidFill>
                  <a:srgbClr val="2E7D32"/>
                </a:solidFill>
                <a:latin typeface="Cambria"/>
              </a:rPr>
              <a:t>75%</a:t>
            </a:r>
          </a:p>
        </p:txBody>
      </p:sp>
      <p:sp>
        <p:nvSpPr>
          <p:cNvPr id="12" name="TextBox 11"/>
          <p:cNvSpPr txBox="1"/>
          <p:nvPr/>
        </p:nvSpPr>
        <p:spPr>
          <a:xfrm>
            <a:off x="768096"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MERIT SHARE</a:t>
            </a:r>
          </a:p>
        </p:txBody>
      </p:sp>
      <p:sp>
        <p:nvSpPr>
          <p:cNvPr id="13" name="TextBox 12"/>
          <p:cNvSpPr txBox="1"/>
          <p:nvPr/>
        </p:nvSpPr>
        <p:spPr>
          <a:xfrm>
            <a:off x="2542032"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14" name="TextBox 13"/>
          <p:cNvSpPr txBox="1"/>
          <p:nvPr/>
        </p:nvSpPr>
        <p:spPr>
          <a:xfrm>
            <a:off x="3566160" y="2084832"/>
            <a:ext cx="512064" cy="219456"/>
          </a:xfrm>
          <a:prstGeom prst="rect">
            <a:avLst/>
          </a:prstGeom>
          <a:noFill/>
        </p:spPr>
        <p:txBody>
          <a:bodyPr wrap="square" lIns="0" rIns="0" tIns="0" bIns="0" anchor="t">
            <a:spAutoFit/>
          </a:bodyPr>
          <a:lstStyle/>
          <a:p>
            <a:pPr algn="r"/>
            <a:r>
              <a:rPr sz="1050" b="1">
                <a:solidFill>
                  <a:srgbClr val="2E7D32"/>
                </a:solidFill>
                <a:latin typeface="Calibri"/>
              </a:rPr>
              <a:t>712</a:t>
            </a:r>
          </a:p>
        </p:txBody>
      </p:sp>
      <p:sp>
        <p:nvSpPr>
          <p:cNvPr id="15" name="TextBox 14"/>
          <p:cNvSpPr txBox="1"/>
          <p:nvPr/>
        </p:nvSpPr>
        <p:spPr>
          <a:xfrm>
            <a:off x="2542032"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16" name="TextBox 15"/>
          <p:cNvSpPr txBox="1"/>
          <p:nvPr/>
        </p:nvSpPr>
        <p:spPr>
          <a:xfrm>
            <a:off x="3566160" y="2299716"/>
            <a:ext cx="512064" cy="219456"/>
          </a:xfrm>
          <a:prstGeom prst="rect">
            <a:avLst/>
          </a:prstGeom>
          <a:noFill/>
        </p:spPr>
        <p:txBody>
          <a:bodyPr wrap="square" lIns="0" rIns="0" tIns="0" bIns="0" anchor="t">
            <a:spAutoFit/>
          </a:bodyPr>
          <a:lstStyle/>
          <a:p>
            <a:pPr algn="r"/>
            <a:r>
              <a:rPr sz="1050" b="1">
                <a:solidFill>
                  <a:srgbClr val="C62828"/>
                </a:solidFill>
                <a:latin typeface="Calibri"/>
              </a:rPr>
              <a:t>233</a:t>
            </a:r>
          </a:p>
        </p:txBody>
      </p:sp>
      <p:sp>
        <p:nvSpPr>
          <p:cNvPr id="17" name="TextBox 16"/>
          <p:cNvSpPr txBox="1"/>
          <p:nvPr/>
        </p:nvSpPr>
        <p:spPr>
          <a:xfrm>
            <a:off x="2542032"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18" name="TextBox 17"/>
          <p:cNvSpPr txBox="1"/>
          <p:nvPr/>
        </p:nvSpPr>
        <p:spPr>
          <a:xfrm>
            <a:off x="3566160" y="2514600"/>
            <a:ext cx="512064" cy="219456"/>
          </a:xfrm>
          <a:prstGeom prst="rect">
            <a:avLst/>
          </a:prstGeom>
          <a:noFill/>
        </p:spPr>
        <p:txBody>
          <a:bodyPr wrap="square" lIns="0" rIns="0" tIns="0" bIns="0" anchor="t">
            <a:spAutoFit/>
          </a:bodyPr>
          <a:lstStyle/>
          <a:p>
            <a:pPr algn="r"/>
            <a:r>
              <a:rPr sz="1050" b="1">
                <a:solidFill>
                  <a:srgbClr val="16203F"/>
                </a:solidFill>
                <a:latin typeface="Calibri"/>
              </a:rPr>
              <a:t>945</a:t>
            </a:r>
          </a:p>
        </p:txBody>
      </p:sp>
      <p:sp>
        <p:nvSpPr>
          <p:cNvPr id="19" name="Rectangle 18"/>
          <p:cNvSpPr/>
          <p:nvPr/>
        </p:nvSpPr>
        <p:spPr>
          <a:xfrm>
            <a:off x="76809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945 records, 78% of the group's volume, and merit-led — the model use case for the tool.</a:t>
            </a:r>
          </a:p>
        </p:txBody>
      </p:sp>
      <p:sp>
        <p:nvSpPr>
          <p:cNvPr id="21" name="Rectangle 20"/>
          <p:cNvSpPr/>
          <p:nvPr/>
        </p:nvSpPr>
        <p:spPr>
          <a:xfrm>
            <a:off x="4443983"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43983" y="1627632"/>
            <a:ext cx="3675887"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45151"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Globinaco</a:t>
            </a:r>
          </a:p>
        </p:txBody>
      </p:sp>
      <p:sp>
        <p:nvSpPr>
          <p:cNvPr id="24" name="TextBox 23"/>
          <p:cNvSpPr txBox="1"/>
          <p:nvPr/>
        </p:nvSpPr>
        <p:spPr>
          <a:xfrm>
            <a:off x="4645151" y="2084832"/>
            <a:ext cx="1737360" cy="502920"/>
          </a:xfrm>
          <a:prstGeom prst="rect">
            <a:avLst/>
          </a:prstGeom>
          <a:noFill/>
        </p:spPr>
        <p:txBody>
          <a:bodyPr wrap="square" lIns="0" rIns="0" tIns="0" bIns="0" anchor="t">
            <a:spAutoFit/>
          </a:bodyPr>
          <a:lstStyle/>
          <a:p>
            <a:pPr algn="l"/>
            <a:r>
              <a:rPr sz="2700" b="1">
                <a:solidFill>
                  <a:srgbClr val="C62828"/>
                </a:solidFill>
                <a:latin typeface="Cambria"/>
              </a:rPr>
              <a:t>3%</a:t>
            </a:r>
          </a:p>
        </p:txBody>
      </p:sp>
      <p:sp>
        <p:nvSpPr>
          <p:cNvPr id="25" name="TextBox 24"/>
          <p:cNvSpPr txBox="1"/>
          <p:nvPr/>
        </p:nvSpPr>
        <p:spPr>
          <a:xfrm>
            <a:off x="4645151"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MERIT SHARE</a:t>
            </a:r>
          </a:p>
        </p:txBody>
      </p:sp>
      <p:sp>
        <p:nvSpPr>
          <p:cNvPr id="26" name="TextBox 25"/>
          <p:cNvSpPr txBox="1"/>
          <p:nvPr/>
        </p:nvSpPr>
        <p:spPr>
          <a:xfrm>
            <a:off x="6419087"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27" name="TextBox 26"/>
          <p:cNvSpPr txBox="1"/>
          <p:nvPr/>
        </p:nvSpPr>
        <p:spPr>
          <a:xfrm>
            <a:off x="7443215" y="2084832"/>
            <a:ext cx="512064" cy="219456"/>
          </a:xfrm>
          <a:prstGeom prst="rect">
            <a:avLst/>
          </a:prstGeom>
          <a:noFill/>
        </p:spPr>
        <p:txBody>
          <a:bodyPr wrap="square" lIns="0" rIns="0" tIns="0" bIns="0" anchor="t">
            <a:spAutoFit/>
          </a:bodyPr>
          <a:lstStyle/>
          <a:p>
            <a:pPr algn="r"/>
            <a:r>
              <a:rPr sz="1050" b="1">
                <a:solidFill>
                  <a:srgbClr val="2E7D32"/>
                </a:solidFill>
                <a:latin typeface="Calibri"/>
              </a:rPr>
              <a:t>6</a:t>
            </a:r>
          </a:p>
        </p:txBody>
      </p:sp>
      <p:sp>
        <p:nvSpPr>
          <p:cNvPr id="28" name="TextBox 27"/>
          <p:cNvSpPr txBox="1"/>
          <p:nvPr/>
        </p:nvSpPr>
        <p:spPr>
          <a:xfrm>
            <a:off x="6419087"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29" name="TextBox 28"/>
          <p:cNvSpPr txBox="1"/>
          <p:nvPr/>
        </p:nvSpPr>
        <p:spPr>
          <a:xfrm>
            <a:off x="7443215" y="2299716"/>
            <a:ext cx="512064" cy="219456"/>
          </a:xfrm>
          <a:prstGeom prst="rect">
            <a:avLst/>
          </a:prstGeom>
          <a:noFill/>
        </p:spPr>
        <p:txBody>
          <a:bodyPr wrap="square" lIns="0" rIns="0" tIns="0" bIns="0" anchor="t">
            <a:spAutoFit/>
          </a:bodyPr>
          <a:lstStyle/>
          <a:p>
            <a:pPr algn="r"/>
            <a:r>
              <a:rPr sz="1050" b="1">
                <a:solidFill>
                  <a:srgbClr val="C62828"/>
                </a:solidFill>
                <a:latin typeface="Calibri"/>
              </a:rPr>
              <a:t>223</a:t>
            </a:r>
          </a:p>
        </p:txBody>
      </p:sp>
      <p:sp>
        <p:nvSpPr>
          <p:cNvPr id="30" name="TextBox 29"/>
          <p:cNvSpPr txBox="1"/>
          <p:nvPr/>
        </p:nvSpPr>
        <p:spPr>
          <a:xfrm>
            <a:off x="6419087"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31" name="TextBox 30"/>
          <p:cNvSpPr txBox="1"/>
          <p:nvPr/>
        </p:nvSpPr>
        <p:spPr>
          <a:xfrm>
            <a:off x="7443215" y="2514600"/>
            <a:ext cx="512064" cy="219456"/>
          </a:xfrm>
          <a:prstGeom prst="rect">
            <a:avLst/>
          </a:prstGeom>
          <a:noFill/>
        </p:spPr>
        <p:txBody>
          <a:bodyPr wrap="square" lIns="0" rIns="0" tIns="0" bIns="0" anchor="t">
            <a:spAutoFit/>
          </a:bodyPr>
          <a:lstStyle/>
          <a:p>
            <a:pPr algn="r"/>
            <a:r>
              <a:rPr sz="1050" b="1">
                <a:solidFill>
                  <a:srgbClr val="16203F"/>
                </a:solidFill>
                <a:latin typeface="Calibri"/>
              </a:rPr>
              <a:t>229</a:t>
            </a:r>
          </a:p>
        </p:txBody>
      </p:sp>
      <p:sp>
        <p:nvSpPr>
          <p:cNvPr id="32" name="Rectangle 31"/>
          <p:cNvSpPr/>
          <p:nvPr/>
        </p:nvSpPr>
        <p:spPr>
          <a:xfrm>
            <a:off x="4645151"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45151"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231 records but only 6 are merit. The tool is being used almost purely to record problems.</a:t>
            </a:r>
          </a:p>
        </p:txBody>
      </p:sp>
      <p:sp>
        <p:nvSpPr>
          <p:cNvPr id="34" name="Rectangle 33"/>
          <p:cNvSpPr/>
          <p:nvPr/>
        </p:nvSpPr>
        <p:spPr>
          <a:xfrm>
            <a:off x="832103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21038" y="1627632"/>
            <a:ext cx="3675887"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22206" y="1810512"/>
            <a:ext cx="3273551" cy="237744"/>
          </a:xfrm>
          <a:prstGeom prst="rect">
            <a:avLst/>
          </a:prstGeom>
          <a:noFill/>
        </p:spPr>
        <p:txBody>
          <a:bodyPr wrap="square" lIns="0" rIns="0" tIns="0" bIns="0" anchor="t">
            <a:spAutoFit/>
          </a:bodyPr>
          <a:lstStyle/>
          <a:p>
            <a:pPr algn="l"/>
            <a:r>
              <a:rPr sz="1250" b="1">
                <a:solidFill>
                  <a:srgbClr val="16203F"/>
                </a:solidFill>
                <a:latin typeface="Cambria"/>
              </a:rPr>
              <a:t>Arus Sawit</a:t>
            </a:r>
          </a:p>
        </p:txBody>
      </p:sp>
      <p:sp>
        <p:nvSpPr>
          <p:cNvPr id="37" name="TextBox 36"/>
          <p:cNvSpPr txBox="1"/>
          <p:nvPr/>
        </p:nvSpPr>
        <p:spPr>
          <a:xfrm>
            <a:off x="8522206" y="2084832"/>
            <a:ext cx="1737360" cy="502920"/>
          </a:xfrm>
          <a:prstGeom prst="rect">
            <a:avLst/>
          </a:prstGeom>
          <a:noFill/>
        </p:spPr>
        <p:txBody>
          <a:bodyPr wrap="square" lIns="0" rIns="0" tIns="0" bIns="0" anchor="t">
            <a:spAutoFit/>
          </a:bodyPr>
          <a:lstStyle/>
          <a:p>
            <a:pPr algn="l"/>
            <a:r>
              <a:rPr sz="2700" b="1">
                <a:solidFill>
                  <a:srgbClr val="2E7D32"/>
                </a:solidFill>
                <a:latin typeface="Cambria"/>
              </a:rPr>
              <a:t>76%</a:t>
            </a:r>
          </a:p>
        </p:txBody>
      </p:sp>
      <p:sp>
        <p:nvSpPr>
          <p:cNvPr id="38" name="TextBox 37"/>
          <p:cNvSpPr txBox="1"/>
          <p:nvPr/>
        </p:nvSpPr>
        <p:spPr>
          <a:xfrm>
            <a:off x="8522206" y="2560320"/>
            <a:ext cx="1828800" cy="219456"/>
          </a:xfrm>
          <a:prstGeom prst="rect">
            <a:avLst/>
          </a:prstGeom>
          <a:noFill/>
        </p:spPr>
        <p:txBody>
          <a:bodyPr wrap="square" lIns="0" rIns="0" tIns="0" bIns="0" anchor="t">
            <a:spAutoFit/>
          </a:bodyPr>
          <a:lstStyle/>
          <a:p>
            <a:pPr algn="l"/>
            <a:r>
              <a:rPr sz="900" b="1">
                <a:solidFill>
                  <a:srgbClr val="5A6478"/>
                </a:solidFill>
                <a:latin typeface="Calibri"/>
              </a:rPr>
              <a:t>MERIT SHARE</a:t>
            </a:r>
          </a:p>
        </p:txBody>
      </p:sp>
      <p:sp>
        <p:nvSpPr>
          <p:cNvPr id="39" name="TextBox 38"/>
          <p:cNvSpPr txBox="1"/>
          <p:nvPr/>
        </p:nvSpPr>
        <p:spPr>
          <a:xfrm>
            <a:off x="10296142" y="2103120"/>
            <a:ext cx="1051560" cy="201168"/>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40" name="TextBox 39"/>
          <p:cNvSpPr txBox="1"/>
          <p:nvPr/>
        </p:nvSpPr>
        <p:spPr>
          <a:xfrm>
            <a:off x="11320270" y="2084832"/>
            <a:ext cx="512064" cy="219456"/>
          </a:xfrm>
          <a:prstGeom prst="rect">
            <a:avLst/>
          </a:prstGeom>
          <a:noFill/>
        </p:spPr>
        <p:txBody>
          <a:bodyPr wrap="square" lIns="0" rIns="0" tIns="0" bIns="0" anchor="t">
            <a:spAutoFit/>
          </a:bodyPr>
          <a:lstStyle/>
          <a:p>
            <a:pPr algn="r"/>
            <a:r>
              <a:rPr sz="1050" b="1">
                <a:solidFill>
                  <a:srgbClr val="2E7D32"/>
                </a:solidFill>
                <a:latin typeface="Calibri"/>
              </a:rPr>
              <a:t>19</a:t>
            </a:r>
          </a:p>
        </p:txBody>
      </p:sp>
      <p:sp>
        <p:nvSpPr>
          <p:cNvPr id="41" name="TextBox 40"/>
          <p:cNvSpPr txBox="1"/>
          <p:nvPr/>
        </p:nvSpPr>
        <p:spPr>
          <a:xfrm>
            <a:off x="10296142" y="2318004"/>
            <a:ext cx="1051560" cy="201168"/>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42" name="TextBox 41"/>
          <p:cNvSpPr txBox="1"/>
          <p:nvPr/>
        </p:nvSpPr>
        <p:spPr>
          <a:xfrm>
            <a:off x="11320270" y="2299716"/>
            <a:ext cx="512064" cy="219456"/>
          </a:xfrm>
          <a:prstGeom prst="rect">
            <a:avLst/>
          </a:prstGeom>
          <a:noFill/>
        </p:spPr>
        <p:txBody>
          <a:bodyPr wrap="square" lIns="0" rIns="0" tIns="0" bIns="0" anchor="t">
            <a:spAutoFit/>
          </a:bodyPr>
          <a:lstStyle/>
          <a:p>
            <a:pPr algn="r"/>
            <a:r>
              <a:rPr sz="1050" b="1">
                <a:solidFill>
                  <a:srgbClr val="C62828"/>
                </a:solidFill>
                <a:latin typeface="Calibri"/>
              </a:rPr>
              <a:t>6</a:t>
            </a:r>
          </a:p>
        </p:txBody>
      </p:sp>
      <p:sp>
        <p:nvSpPr>
          <p:cNvPr id="43" name="TextBox 42"/>
          <p:cNvSpPr txBox="1"/>
          <p:nvPr/>
        </p:nvSpPr>
        <p:spPr>
          <a:xfrm>
            <a:off x="10296142" y="2532888"/>
            <a:ext cx="1051560" cy="201168"/>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44" name="TextBox 43"/>
          <p:cNvSpPr txBox="1"/>
          <p:nvPr/>
        </p:nvSpPr>
        <p:spPr>
          <a:xfrm>
            <a:off x="11320270" y="2514600"/>
            <a:ext cx="512064" cy="219456"/>
          </a:xfrm>
          <a:prstGeom prst="rect">
            <a:avLst/>
          </a:prstGeom>
          <a:noFill/>
        </p:spPr>
        <p:txBody>
          <a:bodyPr wrap="square" lIns="0" rIns="0" tIns="0" bIns="0" anchor="t">
            <a:spAutoFit/>
          </a:bodyPr>
          <a:lstStyle/>
          <a:p>
            <a:pPr algn="r"/>
            <a:r>
              <a:rPr sz="1050" b="1">
                <a:solidFill>
                  <a:srgbClr val="16203F"/>
                </a:solidFill>
                <a:latin typeface="Calibri"/>
              </a:rPr>
              <a:t>25</a:t>
            </a:r>
          </a:p>
        </p:txBody>
      </p:sp>
      <p:sp>
        <p:nvSpPr>
          <p:cNvPr id="45" name="Rectangle 44"/>
          <p:cNvSpPr/>
          <p:nvPr/>
        </p:nvSpPr>
        <p:spPr>
          <a:xfrm>
            <a:off x="852220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22206" y="2980944"/>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15 records against 676 people on file. Barely adopted.</a:t>
            </a:r>
          </a:p>
        </p:txBody>
      </p:sp>
      <p:sp>
        <p:nvSpPr>
          <p:cNvPr id="47" name="Rectangle 46"/>
          <p:cNvSpPr/>
          <p:nvPr/>
        </p:nvSpPr>
        <p:spPr>
          <a:xfrm>
            <a:off x="56692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6928" y="4041648"/>
            <a:ext cx="3675887"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8096"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Likas Square</a:t>
            </a:r>
          </a:p>
        </p:txBody>
      </p:sp>
      <p:sp>
        <p:nvSpPr>
          <p:cNvPr id="50" name="TextBox 49"/>
          <p:cNvSpPr txBox="1"/>
          <p:nvPr/>
        </p:nvSpPr>
        <p:spPr>
          <a:xfrm>
            <a:off x="768096" y="4498848"/>
            <a:ext cx="1737360" cy="502920"/>
          </a:xfrm>
          <a:prstGeom prst="rect">
            <a:avLst/>
          </a:prstGeom>
          <a:noFill/>
        </p:spPr>
        <p:txBody>
          <a:bodyPr wrap="square" lIns="0" rIns="0" tIns="0" bIns="0" anchor="t">
            <a:spAutoFit/>
          </a:bodyPr>
          <a:lstStyle/>
          <a:p>
            <a:pPr algn="l"/>
            <a:r>
              <a:rPr sz="2700" b="1">
                <a:solidFill>
                  <a:srgbClr val="2E7D32"/>
                </a:solidFill>
                <a:latin typeface="Cambria"/>
              </a:rPr>
              <a:t>67%</a:t>
            </a:r>
          </a:p>
        </p:txBody>
      </p:sp>
      <p:sp>
        <p:nvSpPr>
          <p:cNvPr id="51" name="TextBox 50"/>
          <p:cNvSpPr txBox="1"/>
          <p:nvPr/>
        </p:nvSpPr>
        <p:spPr>
          <a:xfrm>
            <a:off x="768096"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MERIT SHARE</a:t>
            </a:r>
          </a:p>
        </p:txBody>
      </p:sp>
      <p:sp>
        <p:nvSpPr>
          <p:cNvPr id="52" name="TextBox 51"/>
          <p:cNvSpPr txBox="1"/>
          <p:nvPr/>
        </p:nvSpPr>
        <p:spPr>
          <a:xfrm>
            <a:off x="2542032"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53" name="TextBox 52"/>
          <p:cNvSpPr txBox="1"/>
          <p:nvPr/>
        </p:nvSpPr>
        <p:spPr>
          <a:xfrm>
            <a:off x="3566160" y="4498848"/>
            <a:ext cx="512064" cy="219456"/>
          </a:xfrm>
          <a:prstGeom prst="rect">
            <a:avLst/>
          </a:prstGeom>
          <a:noFill/>
        </p:spPr>
        <p:txBody>
          <a:bodyPr wrap="square" lIns="0" rIns="0" tIns="0" bIns="0" anchor="t">
            <a:spAutoFit/>
          </a:bodyPr>
          <a:lstStyle/>
          <a:p>
            <a:pPr algn="r"/>
            <a:r>
              <a:rPr sz="1050" b="1">
                <a:solidFill>
                  <a:srgbClr val="2E7D32"/>
                </a:solidFill>
                <a:latin typeface="Calibri"/>
              </a:rPr>
              <a:t>4</a:t>
            </a:r>
          </a:p>
        </p:txBody>
      </p:sp>
      <p:sp>
        <p:nvSpPr>
          <p:cNvPr id="54" name="TextBox 53"/>
          <p:cNvSpPr txBox="1"/>
          <p:nvPr/>
        </p:nvSpPr>
        <p:spPr>
          <a:xfrm>
            <a:off x="2542032"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55" name="TextBox 54"/>
          <p:cNvSpPr txBox="1"/>
          <p:nvPr/>
        </p:nvSpPr>
        <p:spPr>
          <a:xfrm>
            <a:off x="3566160" y="4713732"/>
            <a:ext cx="512064" cy="219456"/>
          </a:xfrm>
          <a:prstGeom prst="rect">
            <a:avLst/>
          </a:prstGeom>
          <a:noFill/>
        </p:spPr>
        <p:txBody>
          <a:bodyPr wrap="square" lIns="0" rIns="0" tIns="0" bIns="0" anchor="t">
            <a:spAutoFit/>
          </a:bodyPr>
          <a:lstStyle/>
          <a:p>
            <a:pPr algn="r"/>
            <a:r>
              <a:rPr sz="1050" b="1">
                <a:solidFill>
                  <a:srgbClr val="C62828"/>
                </a:solidFill>
                <a:latin typeface="Calibri"/>
              </a:rPr>
              <a:t>2</a:t>
            </a:r>
          </a:p>
        </p:txBody>
      </p:sp>
      <p:sp>
        <p:nvSpPr>
          <p:cNvPr id="56" name="TextBox 55"/>
          <p:cNvSpPr txBox="1"/>
          <p:nvPr/>
        </p:nvSpPr>
        <p:spPr>
          <a:xfrm>
            <a:off x="2542032"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57" name="TextBox 56"/>
          <p:cNvSpPr txBox="1"/>
          <p:nvPr/>
        </p:nvSpPr>
        <p:spPr>
          <a:xfrm>
            <a:off x="3566160" y="4928616"/>
            <a:ext cx="512064" cy="219456"/>
          </a:xfrm>
          <a:prstGeom prst="rect">
            <a:avLst/>
          </a:prstGeom>
          <a:noFill/>
        </p:spPr>
        <p:txBody>
          <a:bodyPr wrap="square" lIns="0" rIns="0" tIns="0" bIns="0" anchor="t">
            <a:spAutoFit/>
          </a:bodyPr>
          <a:lstStyle/>
          <a:p>
            <a:pPr algn="r"/>
            <a:r>
              <a:rPr sz="1050" b="1">
                <a:solidFill>
                  <a:srgbClr val="16203F"/>
                </a:solidFill>
                <a:latin typeface="Calibri"/>
              </a:rPr>
              <a:t>6</a:t>
            </a:r>
          </a:p>
        </p:txBody>
      </p:sp>
      <p:sp>
        <p:nvSpPr>
          <p:cNvPr id="58" name="Rectangle 57"/>
          <p:cNvSpPr/>
          <p:nvPr/>
        </p:nvSpPr>
        <p:spPr>
          <a:xfrm>
            <a:off x="76809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68096"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6 records all-time. Effectively unused.</a:t>
            </a:r>
          </a:p>
        </p:txBody>
      </p:sp>
      <p:sp>
        <p:nvSpPr>
          <p:cNvPr id="60" name="Rectangle 59"/>
          <p:cNvSpPr/>
          <p:nvPr/>
        </p:nvSpPr>
        <p:spPr>
          <a:xfrm>
            <a:off x="4443983"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443983" y="4041648"/>
            <a:ext cx="3675887"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645151"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AMC</a:t>
            </a:r>
          </a:p>
        </p:txBody>
      </p:sp>
      <p:sp>
        <p:nvSpPr>
          <p:cNvPr id="63" name="TextBox 62"/>
          <p:cNvSpPr txBox="1"/>
          <p:nvPr/>
        </p:nvSpPr>
        <p:spPr>
          <a:xfrm>
            <a:off x="4645151" y="4498848"/>
            <a:ext cx="1737360" cy="502920"/>
          </a:xfrm>
          <a:prstGeom prst="rect">
            <a:avLst/>
          </a:prstGeom>
          <a:noFill/>
        </p:spPr>
        <p:txBody>
          <a:bodyPr wrap="square" lIns="0" rIns="0" tIns="0" bIns="0" anchor="t">
            <a:spAutoFit/>
          </a:bodyPr>
          <a:lstStyle/>
          <a:p>
            <a:pPr algn="l"/>
            <a:r>
              <a:rPr sz="2700" b="1">
                <a:solidFill>
                  <a:srgbClr val="5A6478"/>
                </a:solidFill>
                <a:latin typeface="Cambria"/>
              </a:rPr>
              <a:t>—</a:t>
            </a:r>
          </a:p>
        </p:txBody>
      </p:sp>
      <p:sp>
        <p:nvSpPr>
          <p:cNvPr id="64" name="TextBox 63"/>
          <p:cNvSpPr txBox="1"/>
          <p:nvPr/>
        </p:nvSpPr>
        <p:spPr>
          <a:xfrm>
            <a:off x="4645151"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MERIT SHARE</a:t>
            </a:r>
          </a:p>
        </p:txBody>
      </p:sp>
      <p:sp>
        <p:nvSpPr>
          <p:cNvPr id="65" name="TextBox 64"/>
          <p:cNvSpPr txBox="1"/>
          <p:nvPr/>
        </p:nvSpPr>
        <p:spPr>
          <a:xfrm>
            <a:off x="6419087"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66" name="TextBox 65"/>
          <p:cNvSpPr txBox="1"/>
          <p:nvPr/>
        </p:nvSpPr>
        <p:spPr>
          <a:xfrm>
            <a:off x="7443215" y="4498848"/>
            <a:ext cx="512064" cy="219456"/>
          </a:xfrm>
          <a:prstGeom prst="rect">
            <a:avLst/>
          </a:prstGeom>
          <a:noFill/>
        </p:spPr>
        <p:txBody>
          <a:bodyPr wrap="square" lIns="0" rIns="0" tIns="0" bIns="0" anchor="t">
            <a:spAutoFit/>
          </a:bodyPr>
          <a:lstStyle/>
          <a:p>
            <a:pPr algn="r"/>
            <a:r>
              <a:rPr sz="1050" b="1">
                <a:solidFill>
                  <a:srgbClr val="5A6478"/>
                </a:solidFill>
                <a:latin typeface="Calibri"/>
              </a:rPr>
              <a:t>—</a:t>
            </a:r>
          </a:p>
        </p:txBody>
      </p:sp>
      <p:sp>
        <p:nvSpPr>
          <p:cNvPr id="67" name="TextBox 66"/>
          <p:cNvSpPr txBox="1"/>
          <p:nvPr/>
        </p:nvSpPr>
        <p:spPr>
          <a:xfrm>
            <a:off x="6419087"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68" name="TextBox 67"/>
          <p:cNvSpPr txBox="1"/>
          <p:nvPr/>
        </p:nvSpPr>
        <p:spPr>
          <a:xfrm>
            <a:off x="7443215" y="4713732"/>
            <a:ext cx="512064" cy="219456"/>
          </a:xfrm>
          <a:prstGeom prst="rect">
            <a:avLst/>
          </a:prstGeom>
          <a:noFill/>
        </p:spPr>
        <p:txBody>
          <a:bodyPr wrap="square" lIns="0" rIns="0" tIns="0" bIns="0" anchor="t">
            <a:spAutoFit/>
          </a:bodyPr>
          <a:lstStyle/>
          <a:p>
            <a:pPr algn="r"/>
            <a:r>
              <a:rPr sz="1050" b="1">
                <a:solidFill>
                  <a:srgbClr val="5A6478"/>
                </a:solidFill>
                <a:latin typeface="Calibri"/>
              </a:rPr>
              <a:t>—</a:t>
            </a:r>
          </a:p>
        </p:txBody>
      </p:sp>
      <p:sp>
        <p:nvSpPr>
          <p:cNvPr id="69" name="TextBox 68"/>
          <p:cNvSpPr txBox="1"/>
          <p:nvPr/>
        </p:nvSpPr>
        <p:spPr>
          <a:xfrm>
            <a:off x="6419087"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70" name="TextBox 69"/>
          <p:cNvSpPr txBox="1"/>
          <p:nvPr/>
        </p:nvSpPr>
        <p:spPr>
          <a:xfrm>
            <a:off x="7443215" y="4928616"/>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71" name="Rectangle 70"/>
          <p:cNvSpPr/>
          <p:nvPr/>
        </p:nvSpPr>
        <p:spPr>
          <a:xfrm>
            <a:off x="4645151"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645151"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No records at all. The tool has never been used here.</a:t>
            </a:r>
          </a:p>
        </p:txBody>
      </p:sp>
      <p:sp>
        <p:nvSpPr>
          <p:cNvPr id="73" name="Rectangle 72"/>
          <p:cNvSpPr/>
          <p:nvPr/>
        </p:nvSpPr>
        <p:spPr>
          <a:xfrm>
            <a:off x="832103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321038" y="4041648"/>
            <a:ext cx="3675887"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522206" y="4224528"/>
            <a:ext cx="3273551" cy="237744"/>
          </a:xfrm>
          <a:prstGeom prst="rect">
            <a:avLst/>
          </a:prstGeom>
          <a:noFill/>
        </p:spPr>
        <p:txBody>
          <a:bodyPr wrap="square" lIns="0" rIns="0" tIns="0" bIns="0" anchor="t">
            <a:spAutoFit/>
          </a:bodyPr>
          <a:lstStyle/>
          <a:p>
            <a:pPr algn="l"/>
            <a:r>
              <a:rPr sz="1250" b="1">
                <a:solidFill>
                  <a:srgbClr val="16203F"/>
                </a:solidFill>
                <a:latin typeface="Cambria"/>
              </a:rPr>
              <a:t>TP Group</a:t>
            </a:r>
          </a:p>
        </p:txBody>
      </p:sp>
      <p:sp>
        <p:nvSpPr>
          <p:cNvPr id="76" name="TextBox 75"/>
          <p:cNvSpPr txBox="1"/>
          <p:nvPr/>
        </p:nvSpPr>
        <p:spPr>
          <a:xfrm>
            <a:off x="8522206" y="4498848"/>
            <a:ext cx="1737360" cy="502920"/>
          </a:xfrm>
          <a:prstGeom prst="rect">
            <a:avLst/>
          </a:prstGeom>
          <a:noFill/>
        </p:spPr>
        <p:txBody>
          <a:bodyPr wrap="square" lIns="0" rIns="0" tIns="0" bIns="0" anchor="t">
            <a:spAutoFit/>
          </a:bodyPr>
          <a:lstStyle/>
          <a:p>
            <a:pPr algn="l"/>
            <a:r>
              <a:rPr sz="2700" b="1">
                <a:solidFill>
                  <a:srgbClr val="5A6478"/>
                </a:solidFill>
                <a:latin typeface="Cambria"/>
              </a:rPr>
              <a:t>—</a:t>
            </a:r>
          </a:p>
        </p:txBody>
      </p:sp>
      <p:sp>
        <p:nvSpPr>
          <p:cNvPr id="77" name="TextBox 76"/>
          <p:cNvSpPr txBox="1"/>
          <p:nvPr/>
        </p:nvSpPr>
        <p:spPr>
          <a:xfrm>
            <a:off x="8522206" y="4974336"/>
            <a:ext cx="1828800" cy="219456"/>
          </a:xfrm>
          <a:prstGeom prst="rect">
            <a:avLst/>
          </a:prstGeom>
          <a:noFill/>
        </p:spPr>
        <p:txBody>
          <a:bodyPr wrap="square" lIns="0" rIns="0" tIns="0" bIns="0" anchor="t">
            <a:spAutoFit/>
          </a:bodyPr>
          <a:lstStyle/>
          <a:p>
            <a:pPr algn="l"/>
            <a:r>
              <a:rPr sz="900" b="1">
                <a:solidFill>
                  <a:srgbClr val="5A6478"/>
                </a:solidFill>
                <a:latin typeface="Calibri"/>
              </a:rPr>
              <a:t>MERIT SHARE</a:t>
            </a:r>
          </a:p>
        </p:txBody>
      </p:sp>
      <p:sp>
        <p:nvSpPr>
          <p:cNvPr id="78" name="TextBox 77"/>
          <p:cNvSpPr txBox="1"/>
          <p:nvPr/>
        </p:nvSpPr>
        <p:spPr>
          <a:xfrm>
            <a:off x="10296142" y="4517136"/>
            <a:ext cx="1051560" cy="201168"/>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79" name="TextBox 78"/>
          <p:cNvSpPr txBox="1"/>
          <p:nvPr/>
        </p:nvSpPr>
        <p:spPr>
          <a:xfrm>
            <a:off x="11320270" y="4498848"/>
            <a:ext cx="512064" cy="219456"/>
          </a:xfrm>
          <a:prstGeom prst="rect">
            <a:avLst/>
          </a:prstGeom>
          <a:noFill/>
        </p:spPr>
        <p:txBody>
          <a:bodyPr wrap="square" lIns="0" rIns="0" tIns="0" bIns="0" anchor="t">
            <a:spAutoFit/>
          </a:bodyPr>
          <a:lstStyle/>
          <a:p>
            <a:pPr algn="r"/>
            <a:r>
              <a:rPr sz="1050" b="1">
                <a:solidFill>
                  <a:srgbClr val="5A6478"/>
                </a:solidFill>
                <a:latin typeface="Calibri"/>
              </a:rPr>
              <a:t>—</a:t>
            </a:r>
          </a:p>
        </p:txBody>
      </p:sp>
      <p:sp>
        <p:nvSpPr>
          <p:cNvPr id="80" name="TextBox 79"/>
          <p:cNvSpPr txBox="1"/>
          <p:nvPr/>
        </p:nvSpPr>
        <p:spPr>
          <a:xfrm>
            <a:off x="10296142" y="4732020"/>
            <a:ext cx="1051560" cy="201168"/>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81" name="TextBox 80"/>
          <p:cNvSpPr txBox="1"/>
          <p:nvPr/>
        </p:nvSpPr>
        <p:spPr>
          <a:xfrm>
            <a:off x="11320270" y="4713732"/>
            <a:ext cx="512064" cy="219456"/>
          </a:xfrm>
          <a:prstGeom prst="rect">
            <a:avLst/>
          </a:prstGeom>
          <a:noFill/>
        </p:spPr>
        <p:txBody>
          <a:bodyPr wrap="square" lIns="0" rIns="0" tIns="0" bIns="0" anchor="t">
            <a:spAutoFit/>
          </a:bodyPr>
          <a:lstStyle/>
          <a:p>
            <a:pPr algn="r"/>
            <a:r>
              <a:rPr sz="1050" b="1">
                <a:solidFill>
                  <a:srgbClr val="5A6478"/>
                </a:solidFill>
                <a:latin typeface="Calibri"/>
              </a:rPr>
              <a:t>—</a:t>
            </a:r>
          </a:p>
        </p:txBody>
      </p:sp>
      <p:sp>
        <p:nvSpPr>
          <p:cNvPr id="82" name="TextBox 81"/>
          <p:cNvSpPr txBox="1"/>
          <p:nvPr/>
        </p:nvSpPr>
        <p:spPr>
          <a:xfrm>
            <a:off x="10296142" y="4946904"/>
            <a:ext cx="1051560" cy="201168"/>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83" name="TextBox 82"/>
          <p:cNvSpPr txBox="1"/>
          <p:nvPr/>
        </p:nvSpPr>
        <p:spPr>
          <a:xfrm>
            <a:off x="11320270" y="4928616"/>
            <a:ext cx="512064" cy="219456"/>
          </a:xfrm>
          <a:prstGeom prst="rect">
            <a:avLst/>
          </a:prstGeom>
          <a:noFill/>
        </p:spPr>
        <p:txBody>
          <a:bodyPr wrap="square" lIns="0" rIns="0" tIns="0" bIns="0" anchor="t">
            <a:spAutoFit/>
          </a:bodyPr>
          <a:lstStyle/>
          <a:p>
            <a:pPr algn="r"/>
            <a:r>
              <a:rPr sz="1050" b="1">
                <a:solidFill>
                  <a:srgbClr val="16203F"/>
                </a:solidFill>
                <a:latin typeface="Calibri"/>
              </a:rPr>
              <a:t>—</a:t>
            </a:r>
          </a:p>
        </p:txBody>
      </p:sp>
      <p:sp>
        <p:nvSpPr>
          <p:cNvPr id="84" name="Rectangle 83"/>
          <p:cNvSpPr/>
          <p:nvPr/>
        </p:nvSpPr>
        <p:spPr>
          <a:xfrm>
            <a:off x="852220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522206" y="5394960"/>
            <a:ext cx="3273551" cy="749808"/>
          </a:xfrm>
          <a:prstGeom prst="rect">
            <a:avLst/>
          </a:prstGeom>
          <a:noFill/>
        </p:spPr>
        <p:txBody>
          <a:bodyPr wrap="square" lIns="0" rIns="0" tIns="0" bIns="0" anchor="t">
            <a:spAutoFit/>
          </a:bodyPr>
          <a:lstStyle/>
          <a:p>
            <a:pPr algn="l">
              <a:lnSpc>
                <a:spcPct val="114000"/>
              </a:lnSpc>
            </a:pPr>
            <a:r>
              <a:rPr sz="950" b="0">
                <a:solidFill>
                  <a:srgbClr val="3A425C"/>
                </a:solidFill>
                <a:latin typeface="Calibri"/>
              </a:rPr>
              <a:t>No records at all. 61 staff, nothing issued.</a:t>
            </a:r>
          </a:p>
        </p:txBody>
      </p:sp>
      <p:sp>
        <p:nvSpPr>
          <p:cNvPr id="86" name="TextBox 85"/>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Records attributed to the company of the staff member they were issued against. Merit share is measured on classified records only; the group's 2 unclassified records are excluded from the shares shown here.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FIVE</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Memo Activity</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Is the group-wide memo broadcast back in use?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5 · ADOPTION</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Memo activity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93 memos on file. 2026 has already passed 2025, and five senders who had never issued one have started.</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93</a:t>
            </a:r>
          </a:p>
        </p:txBody>
      </p:sp>
      <p:sp>
        <p:nvSpPr>
          <p:cNvPr id="11" name="TextBox 10"/>
          <p:cNvSpPr txBox="1"/>
          <p:nvPr/>
        </p:nvSpPr>
        <p:spPr>
          <a:xfrm>
            <a:off x="804672"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Memos issued, all-time</a:t>
            </a:r>
          </a:p>
        </p:txBody>
      </p:sp>
      <p:sp>
        <p:nvSpPr>
          <p:cNvPr id="12" name="TextBox 11"/>
          <p:cNvSpPr txBox="1"/>
          <p:nvPr/>
        </p:nvSpPr>
        <p:spPr>
          <a:xfrm>
            <a:off x="804672"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2022 – 2026 YTD</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6996"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4740"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9</a:t>
            </a:r>
          </a:p>
        </p:txBody>
      </p:sp>
      <p:sp>
        <p:nvSpPr>
          <p:cNvPr id="16" name="TextBox 15"/>
          <p:cNvSpPr txBox="1"/>
          <p:nvPr/>
        </p:nvSpPr>
        <p:spPr>
          <a:xfrm>
            <a:off x="3634740"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Issued in 2026 YTD</a:t>
            </a:r>
          </a:p>
        </p:txBody>
      </p:sp>
      <p:sp>
        <p:nvSpPr>
          <p:cNvPr id="17" name="TextBox 16"/>
          <p:cNvSpPr txBox="1"/>
          <p:nvPr/>
        </p:nvSpPr>
        <p:spPr>
          <a:xfrm>
            <a:off x="3634740"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vs 5 in all of 2025 — and 2 at the last review</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6</a:t>
            </a:r>
          </a:p>
        </p:txBody>
      </p:sp>
      <p:sp>
        <p:nvSpPr>
          <p:cNvPr id="21" name="TextBox 20"/>
          <p:cNvSpPr txBox="1"/>
          <p:nvPr/>
        </p:nvSpPr>
        <p:spPr>
          <a:xfrm>
            <a:off x="6464808"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Senders active in 2026</a:t>
            </a:r>
          </a:p>
        </p:txBody>
      </p:sp>
      <p:sp>
        <p:nvSpPr>
          <p:cNvPr id="22" name="TextBox 21"/>
          <p:cNvSpPr txBox="1"/>
          <p:nvPr/>
        </p:nvSpPr>
        <p:spPr>
          <a:xfrm>
            <a:off x="6464808"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against 9 distinct senders in the whole history</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7132"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4876" y="1810512"/>
            <a:ext cx="2203704" cy="548640"/>
          </a:xfrm>
          <a:prstGeom prst="rect">
            <a:avLst/>
          </a:prstGeom>
          <a:noFill/>
        </p:spPr>
        <p:txBody>
          <a:bodyPr wrap="square" lIns="0" rIns="0" tIns="0" bIns="0" anchor="t">
            <a:spAutoFit/>
          </a:bodyPr>
          <a:lstStyle/>
          <a:p>
            <a:pPr algn="l"/>
            <a:r>
              <a:rPr sz="3400" b="1">
                <a:solidFill>
                  <a:srgbClr val="F9A825"/>
                </a:solidFill>
                <a:latin typeface="Cambria"/>
              </a:rPr>
              <a:t>82%</a:t>
            </a:r>
          </a:p>
        </p:txBody>
      </p:sp>
      <p:sp>
        <p:nvSpPr>
          <p:cNvPr id="26" name="TextBox 25"/>
          <p:cNvSpPr txBox="1"/>
          <p:nvPr/>
        </p:nvSpPr>
        <p:spPr>
          <a:xfrm>
            <a:off x="9294876"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Still from one person</a:t>
            </a:r>
          </a:p>
        </p:txBody>
      </p:sp>
      <p:sp>
        <p:nvSpPr>
          <p:cNvPr id="27" name="TextBox 26"/>
          <p:cNvSpPr txBox="1"/>
          <p:nvPr/>
        </p:nvSpPr>
        <p:spPr>
          <a:xfrm>
            <a:off x="9294876"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76 of 93 memos came from the Chief Executive Officer</a:t>
            </a:r>
          </a:p>
        </p:txBody>
      </p:sp>
      <p:sp>
        <p:nvSpPr>
          <p:cNvPr id="28" name="Rectangle 27"/>
          <p:cNvSpPr/>
          <p:nvPr/>
        </p:nvSpPr>
        <p:spPr>
          <a:xfrm>
            <a:off x="566928" y="3703320"/>
            <a:ext cx="110642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776472"/>
            <a:ext cx="5744391" cy="329184"/>
          </a:xfrm>
          <a:prstGeom prst="rect">
            <a:avLst/>
          </a:prstGeom>
          <a:noFill/>
        </p:spPr>
        <p:txBody>
          <a:bodyPr wrap="square" lIns="0" rIns="0" tIns="0" bIns="0" anchor="t">
            <a:spAutoFit/>
          </a:bodyPr>
          <a:lstStyle/>
          <a:p>
            <a:pPr algn="l"/>
            <a:r>
              <a:rPr sz="950" b="1">
                <a:solidFill>
                  <a:srgbClr val="FFFFFF"/>
                </a:solidFill>
                <a:latin typeface="Calibri"/>
              </a:rPr>
              <a:t>Year</a:t>
            </a:r>
          </a:p>
        </p:txBody>
      </p:sp>
      <p:sp>
        <p:nvSpPr>
          <p:cNvPr id="30" name="TextBox 29"/>
          <p:cNvSpPr txBox="1"/>
          <p:nvPr/>
        </p:nvSpPr>
        <p:spPr>
          <a:xfrm>
            <a:off x="6594783" y="3776472"/>
            <a:ext cx="4954088" cy="329184"/>
          </a:xfrm>
          <a:prstGeom prst="rect">
            <a:avLst/>
          </a:prstGeom>
          <a:noFill/>
        </p:spPr>
        <p:txBody>
          <a:bodyPr wrap="square" lIns="0" rIns="0" tIns="0" bIns="0" anchor="t">
            <a:spAutoFit/>
          </a:bodyPr>
          <a:lstStyle/>
          <a:p>
            <a:pPr algn="r"/>
            <a:r>
              <a:rPr sz="950" b="1">
                <a:solidFill>
                  <a:srgbClr val="FFFFFF"/>
                </a:solidFill>
                <a:latin typeface="Calibri"/>
              </a:rPr>
              <a:t>Memos</a:t>
            </a:r>
          </a:p>
        </p:txBody>
      </p:sp>
      <p:sp>
        <p:nvSpPr>
          <p:cNvPr id="31" name="Rectangle 30"/>
          <p:cNvSpPr/>
          <p:nvPr/>
        </p:nvSpPr>
        <p:spPr>
          <a:xfrm>
            <a:off x="566928" y="4032504"/>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433882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 y="4096512"/>
            <a:ext cx="5744391" cy="306324"/>
          </a:xfrm>
          <a:prstGeom prst="rect">
            <a:avLst/>
          </a:prstGeom>
          <a:noFill/>
        </p:spPr>
        <p:txBody>
          <a:bodyPr wrap="square" lIns="0" rIns="0" tIns="0" bIns="0" anchor="t">
            <a:spAutoFit/>
          </a:bodyPr>
          <a:lstStyle/>
          <a:p>
            <a:pPr algn="l"/>
            <a:r>
              <a:rPr sz="1050" b="1">
                <a:solidFill>
                  <a:srgbClr val="111111"/>
                </a:solidFill>
                <a:latin typeface="Calibri"/>
              </a:rPr>
              <a:t>2022</a:t>
            </a:r>
          </a:p>
        </p:txBody>
      </p:sp>
      <p:sp>
        <p:nvSpPr>
          <p:cNvPr id="34" name="TextBox 33"/>
          <p:cNvSpPr txBox="1"/>
          <p:nvPr/>
        </p:nvSpPr>
        <p:spPr>
          <a:xfrm>
            <a:off x="6594783" y="4096512"/>
            <a:ext cx="4954088" cy="306324"/>
          </a:xfrm>
          <a:prstGeom prst="rect">
            <a:avLst/>
          </a:prstGeom>
          <a:noFill/>
        </p:spPr>
        <p:txBody>
          <a:bodyPr wrap="square" lIns="0" rIns="0" tIns="0" bIns="0" anchor="t">
            <a:spAutoFit/>
          </a:bodyPr>
          <a:lstStyle/>
          <a:p>
            <a:pPr algn="r"/>
            <a:r>
              <a:rPr sz="1050" b="0">
                <a:solidFill>
                  <a:srgbClr val="111111"/>
                </a:solidFill>
                <a:latin typeface="Calibri"/>
              </a:rPr>
              <a:t>31</a:t>
            </a:r>
          </a:p>
        </p:txBody>
      </p:sp>
      <p:sp>
        <p:nvSpPr>
          <p:cNvPr id="35" name="Rectangle 34"/>
          <p:cNvSpPr/>
          <p:nvPr/>
        </p:nvSpPr>
        <p:spPr>
          <a:xfrm>
            <a:off x="566928" y="4338828"/>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64515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 y="4402836"/>
            <a:ext cx="5744391" cy="306324"/>
          </a:xfrm>
          <a:prstGeom prst="rect">
            <a:avLst/>
          </a:prstGeom>
          <a:noFill/>
        </p:spPr>
        <p:txBody>
          <a:bodyPr wrap="square" lIns="0" rIns="0" tIns="0" bIns="0" anchor="t">
            <a:spAutoFit/>
          </a:bodyPr>
          <a:lstStyle/>
          <a:p>
            <a:pPr algn="l"/>
            <a:r>
              <a:rPr sz="1050" b="1">
                <a:solidFill>
                  <a:srgbClr val="111111"/>
                </a:solidFill>
                <a:latin typeface="Calibri"/>
              </a:rPr>
              <a:t>2023</a:t>
            </a:r>
          </a:p>
        </p:txBody>
      </p:sp>
      <p:sp>
        <p:nvSpPr>
          <p:cNvPr id="38" name="TextBox 37"/>
          <p:cNvSpPr txBox="1"/>
          <p:nvPr/>
        </p:nvSpPr>
        <p:spPr>
          <a:xfrm>
            <a:off x="6594783" y="4402836"/>
            <a:ext cx="4954088" cy="306324"/>
          </a:xfrm>
          <a:prstGeom prst="rect">
            <a:avLst/>
          </a:prstGeom>
          <a:noFill/>
        </p:spPr>
        <p:txBody>
          <a:bodyPr wrap="square" lIns="0" rIns="0" tIns="0" bIns="0" anchor="t">
            <a:spAutoFit/>
          </a:bodyPr>
          <a:lstStyle/>
          <a:p>
            <a:pPr algn="r"/>
            <a:r>
              <a:rPr sz="1050" b="0">
                <a:solidFill>
                  <a:srgbClr val="111111"/>
                </a:solidFill>
                <a:latin typeface="Calibri"/>
              </a:rPr>
              <a:t>31</a:t>
            </a:r>
          </a:p>
        </p:txBody>
      </p:sp>
      <p:sp>
        <p:nvSpPr>
          <p:cNvPr id="39" name="Rectangle 38"/>
          <p:cNvSpPr/>
          <p:nvPr/>
        </p:nvSpPr>
        <p:spPr>
          <a:xfrm>
            <a:off x="566928" y="4645152"/>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495147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 y="4709160"/>
            <a:ext cx="5744391" cy="306324"/>
          </a:xfrm>
          <a:prstGeom prst="rect">
            <a:avLst/>
          </a:prstGeom>
          <a:noFill/>
        </p:spPr>
        <p:txBody>
          <a:bodyPr wrap="square" lIns="0" rIns="0" tIns="0" bIns="0" anchor="t">
            <a:spAutoFit/>
          </a:bodyPr>
          <a:lstStyle/>
          <a:p>
            <a:pPr algn="l"/>
            <a:r>
              <a:rPr sz="1050" b="1">
                <a:solidFill>
                  <a:srgbClr val="111111"/>
                </a:solidFill>
                <a:latin typeface="Calibri"/>
              </a:rPr>
              <a:t>2024</a:t>
            </a:r>
          </a:p>
        </p:txBody>
      </p:sp>
      <p:sp>
        <p:nvSpPr>
          <p:cNvPr id="42" name="TextBox 41"/>
          <p:cNvSpPr txBox="1"/>
          <p:nvPr/>
        </p:nvSpPr>
        <p:spPr>
          <a:xfrm>
            <a:off x="6594783" y="4709160"/>
            <a:ext cx="4954088" cy="306324"/>
          </a:xfrm>
          <a:prstGeom prst="rect">
            <a:avLst/>
          </a:prstGeom>
          <a:noFill/>
        </p:spPr>
        <p:txBody>
          <a:bodyPr wrap="square" lIns="0" rIns="0" tIns="0" bIns="0" anchor="t">
            <a:spAutoFit/>
          </a:bodyPr>
          <a:lstStyle/>
          <a:p>
            <a:pPr algn="r"/>
            <a:r>
              <a:rPr sz="1050" b="0">
                <a:solidFill>
                  <a:srgbClr val="111111"/>
                </a:solidFill>
                <a:latin typeface="Calibri"/>
              </a:rPr>
              <a:t>16</a:t>
            </a:r>
          </a:p>
        </p:txBody>
      </p:sp>
      <p:sp>
        <p:nvSpPr>
          <p:cNvPr id="43" name="Rectangle 42"/>
          <p:cNvSpPr/>
          <p:nvPr/>
        </p:nvSpPr>
        <p:spPr>
          <a:xfrm>
            <a:off x="566928" y="4951476"/>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66928" y="52578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7512" y="5015484"/>
            <a:ext cx="5744391" cy="306324"/>
          </a:xfrm>
          <a:prstGeom prst="rect">
            <a:avLst/>
          </a:prstGeom>
          <a:noFill/>
        </p:spPr>
        <p:txBody>
          <a:bodyPr wrap="square" lIns="0" rIns="0" tIns="0" bIns="0" anchor="t">
            <a:spAutoFit/>
          </a:bodyPr>
          <a:lstStyle/>
          <a:p>
            <a:pPr algn="l"/>
            <a:r>
              <a:rPr sz="1050" b="1">
                <a:solidFill>
                  <a:srgbClr val="111111"/>
                </a:solidFill>
                <a:latin typeface="Calibri"/>
              </a:rPr>
              <a:t>2025</a:t>
            </a:r>
          </a:p>
        </p:txBody>
      </p:sp>
      <p:sp>
        <p:nvSpPr>
          <p:cNvPr id="46" name="TextBox 45"/>
          <p:cNvSpPr txBox="1"/>
          <p:nvPr/>
        </p:nvSpPr>
        <p:spPr>
          <a:xfrm>
            <a:off x="6594783" y="5015484"/>
            <a:ext cx="4954088" cy="306324"/>
          </a:xfrm>
          <a:prstGeom prst="rect">
            <a:avLst/>
          </a:prstGeom>
          <a:noFill/>
        </p:spPr>
        <p:txBody>
          <a:bodyPr wrap="square" lIns="0" rIns="0" tIns="0" bIns="0" anchor="t">
            <a:spAutoFit/>
          </a:bodyPr>
          <a:lstStyle/>
          <a:p>
            <a:pPr algn="r"/>
            <a:r>
              <a:rPr sz="1050" b="0">
                <a:solidFill>
                  <a:srgbClr val="111111"/>
                </a:solidFill>
                <a:latin typeface="Calibri"/>
              </a:rPr>
              <a:t>5</a:t>
            </a:r>
          </a:p>
        </p:txBody>
      </p:sp>
      <p:sp>
        <p:nvSpPr>
          <p:cNvPr id="47" name="Rectangle 46"/>
          <p:cNvSpPr/>
          <p:nvPr/>
        </p:nvSpPr>
        <p:spPr>
          <a:xfrm>
            <a:off x="566928" y="5257800"/>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6928" y="556412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7512" y="5321808"/>
            <a:ext cx="5744391" cy="306324"/>
          </a:xfrm>
          <a:prstGeom prst="rect">
            <a:avLst/>
          </a:prstGeom>
          <a:noFill/>
        </p:spPr>
        <p:txBody>
          <a:bodyPr wrap="square" lIns="0" rIns="0" tIns="0" bIns="0" anchor="t">
            <a:spAutoFit/>
          </a:bodyPr>
          <a:lstStyle/>
          <a:p>
            <a:pPr algn="l"/>
            <a:r>
              <a:rPr sz="1050" b="1">
                <a:solidFill>
                  <a:srgbClr val="111111"/>
                </a:solidFill>
                <a:latin typeface="Calibri"/>
              </a:rPr>
              <a:t>2026 YTD</a:t>
            </a:r>
          </a:p>
        </p:txBody>
      </p:sp>
      <p:sp>
        <p:nvSpPr>
          <p:cNvPr id="50" name="TextBox 49"/>
          <p:cNvSpPr txBox="1"/>
          <p:nvPr/>
        </p:nvSpPr>
        <p:spPr>
          <a:xfrm>
            <a:off x="6594783" y="5321808"/>
            <a:ext cx="4954088" cy="306324"/>
          </a:xfrm>
          <a:prstGeom prst="rect">
            <a:avLst/>
          </a:prstGeom>
          <a:noFill/>
        </p:spPr>
        <p:txBody>
          <a:bodyPr wrap="square" lIns="0" rIns="0" tIns="0" bIns="0" anchor="t">
            <a:spAutoFit/>
          </a:bodyPr>
          <a:lstStyle/>
          <a:p>
            <a:pPr algn="r"/>
            <a:r>
              <a:rPr sz="1050" b="0">
                <a:solidFill>
                  <a:srgbClr val="111111"/>
                </a:solidFill>
                <a:latin typeface="Calibri"/>
              </a:rPr>
              <a:t>9</a:t>
            </a:r>
          </a:p>
        </p:txBody>
      </p:sp>
      <p:sp>
        <p:nvSpPr>
          <p:cNvPr id="51" name="Rectangle 50"/>
          <p:cNvSpPr/>
          <p:nvPr/>
        </p:nvSpPr>
        <p:spPr>
          <a:xfrm>
            <a:off x="566928" y="5564124"/>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66928" y="587044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512" y="5628132"/>
            <a:ext cx="5744391" cy="306324"/>
          </a:xfrm>
          <a:prstGeom prst="rect">
            <a:avLst/>
          </a:prstGeom>
          <a:noFill/>
        </p:spPr>
        <p:txBody>
          <a:bodyPr wrap="square" lIns="0" rIns="0" tIns="0" bIns="0" anchor="t">
            <a:spAutoFit/>
          </a:bodyPr>
          <a:lstStyle/>
          <a:p>
            <a:pPr algn="l"/>
            <a:r>
              <a:rPr sz="1050" b="1">
                <a:solidFill>
                  <a:srgbClr val="111111"/>
                </a:solidFill>
                <a:latin typeface="Calibri"/>
              </a:rPr>
              <a:t>Undated</a:t>
            </a:r>
          </a:p>
        </p:txBody>
      </p:sp>
      <p:sp>
        <p:nvSpPr>
          <p:cNvPr id="54" name="TextBox 53"/>
          <p:cNvSpPr txBox="1"/>
          <p:nvPr/>
        </p:nvSpPr>
        <p:spPr>
          <a:xfrm>
            <a:off x="6594783" y="5628132"/>
            <a:ext cx="4954088"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55" name="Rectangle 54"/>
          <p:cNvSpPr/>
          <p:nvPr/>
        </p:nvSpPr>
        <p:spPr>
          <a:xfrm>
            <a:off x="566928" y="5870448"/>
            <a:ext cx="110642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66928" y="617677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7512" y="5934456"/>
            <a:ext cx="5744391" cy="306324"/>
          </a:xfrm>
          <a:prstGeom prst="rect">
            <a:avLst/>
          </a:prstGeom>
          <a:noFill/>
        </p:spPr>
        <p:txBody>
          <a:bodyPr wrap="square" lIns="0" rIns="0" tIns="0" bIns="0" anchor="t">
            <a:spAutoFit/>
          </a:bodyPr>
          <a:lstStyle/>
          <a:p>
            <a:pPr algn="l"/>
            <a:r>
              <a:rPr sz="1050" b="1">
                <a:solidFill>
                  <a:srgbClr val="1E2761"/>
                </a:solidFill>
                <a:latin typeface="Calibri"/>
              </a:rPr>
              <a:t>Total</a:t>
            </a:r>
          </a:p>
        </p:txBody>
      </p:sp>
      <p:sp>
        <p:nvSpPr>
          <p:cNvPr id="58" name="TextBox 57"/>
          <p:cNvSpPr txBox="1"/>
          <p:nvPr/>
        </p:nvSpPr>
        <p:spPr>
          <a:xfrm>
            <a:off x="6594783" y="5934456"/>
            <a:ext cx="4954088" cy="306324"/>
          </a:xfrm>
          <a:prstGeom prst="rect">
            <a:avLst/>
          </a:prstGeom>
          <a:noFill/>
        </p:spPr>
        <p:txBody>
          <a:bodyPr wrap="square" lIns="0" rIns="0" tIns="0" bIns="0" anchor="t">
            <a:spAutoFit/>
          </a:bodyPr>
          <a:lstStyle/>
          <a:p>
            <a:pPr algn="r"/>
            <a:r>
              <a:rPr sz="1050" b="1">
                <a:solidFill>
                  <a:srgbClr val="1E2761"/>
                </a:solidFill>
                <a:latin typeface="Calibri"/>
              </a:rPr>
              <a:t>93</a:t>
            </a:r>
          </a:p>
        </p:txBody>
      </p:sp>
      <p:sp>
        <p:nvSpPr>
          <p:cNvPr id="59" name="TextBox 58"/>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All memos on file, deleted records excluded. The date is a free-text field recorded in several different formats, so the year is taken from its four-digit part rather than parsed as a date; 1 memo carries no usable year and is in the total only. Treat single-year counts as directional.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5 · USAGE PATTERN</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Memo activity — who is sending them</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Sender is a free-text field, not tied to a company — identities grouped by hand across spellings.</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737360"/>
            <a:ext cx="110642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810512"/>
            <a:ext cx="4349459" cy="329184"/>
          </a:xfrm>
          <a:prstGeom prst="rect">
            <a:avLst/>
          </a:prstGeom>
          <a:noFill/>
        </p:spPr>
        <p:txBody>
          <a:bodyPr wrap="square" lIns="0" rIns="0" tIns="0" bIns="0" anchor="t">
            <a:spAutoFit/>
          </a:bodyPr>
          <a:lstStyle/>
          <a:p>
            <a:pPr algn="l"/>
            <a:r>
              <a:rPr sz="950" b="1">
                <a:solidFill>
                  <a:srgbClr val="FFFFFF"/>
                </a:solidFill>
                <a:latin typeface="Calibri"/>
              </a:rPr>
              <a:t>Sender (identity, as recorded)</a:t>
            </a:r>
          </a:p>
        </p:txBody>
      </p:sp>
      <p:sp>
        <p:nvSpPr>
          <p:cNvPr id="10" name="TextBox 9"/>
          <p:cNvSpPr txBox="1"/>
          <p:nvPr/>
        </p:nvSpPr>
        <p:spPr>
          <a:xfrm>
            <a:off x="5199851" y="1810512"/>
            <a:ext cx="3816242" cy="329184"/>
          </a:xfrm>
          <a:prstGeom prst="rect">
            <a:avLst/>
          </a:prstGeom>
          <a:noFill/>
        </p:spPr>
        <p:txBody>
          <a:bodyPr wrap="square" lIns="0" rIns="0" tIns="0" bIns="0" anchor="t">
            <a:spAutoFit/>
          </a:bodyPr>
          <a:lstStyle/>
          <a:p>
            <a:pPr algn="r"/>
            <a:r>
              <a:rPr sz="950" b="1">
                <a:solidFill>
                  <a:srgbClr val="FFFFFF"/>
                </a:solidFill>
                <a:latin typeface="Calibri"/>
              </a:rPr>
              <a:t>Position</a:t>
            </a:r>
          </a:p>
        </p:txBody>
      </p:sp>
      <p:sp>
        <p:nvSpPr>
          <p:cNvPr id="11" name="TextBox 10"/>
          <p:cNvSpPr txBox="1"/>
          <p:nvPr/>
        </p:nvSpPr>
        <p:spPr>
          <a:xfrm>
            <a:off x="9198973" y="1810512"/>
            <a:ext cx="1150160" cy="329184"/>
          </a:xfrm>
          <a:prstGeom prst="rect">
            <a:avLst/>
          </a:prstGeom>
          <a:noFill/>
        </p:spPr>
        <p:txBody>
          <a:bodyPr wrap="square" lIns="0" rIns="0" tIns="0" bIns="0" anchor="t">
            <a:spAutoFit/>
          </a:bodyPr>
          <a:lstStyle/>
          <a:p>
            <a:pPr algn="r"/>
            <a:r>
              <a:rPr sz="950" b="1">
                <a:solidFill>
                  <a:srgbClr val="FFFFFF"/>
                </a:solidFill>
                <a:latin typeface="Calibri"/>
              </a:rPr>
              <a:t>Memos</a:t>
            </a:r>
          </a:p>
        </p:txBody>
      </p:sp>
      <p:sp>
        <p:nvSpPr>
          <p:cNvPr id="12" name="TextBox 11"/>
          <p:cNvSpPr txBox="1"/>
          <p:nvPr/>
        </p:nvSpPr>
        <p:spPr>
          <a:xfrm>
            <a:off x="10532013" y="1810512"/>
            <a:ext cx="1016856" cy="329184"/>
          </a:xfrm>
          <a:prstGeom prst="rect">
            <a:avLst/>
          </a:prstGeom>
          <a:noFill/>
        </p:spPr>
        <p:txBody>
          <a:bodyPr wrap="square" lIns="0" rIns="0" tIns="0" bIns="0" anchor="t">
            <a:spAutoFit/>
          </a:bodyPr>
          <a:lstStyle/>
          <a:p>
            <a:pPr algn="r"/>
            <a:r>
              <a:rPr sz="950" b="1">
                <a:solidFill>
                  <a:srgbClr val="FFFFFF"/>
                </a:solidFill>
                <a:latin typeface="Calibri"/>
              </a:rPr>
              <a:t>Share</a:t>
            </a:r>
          </a:p>
        </p:txBody>
      </p:sp>
      <p:sp>
        <p:nvSpPr>
          <p:cNvPr id="13" name="Rectangle 12"/>
          <p:cNvSpPr/>
          <p:nvPr/>
        </p:nvSpPr>
        <p:spPr>
          <a:xfrm>
            <a:off x="566928" y="2066544"/>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37286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2130552"/>
            <a:ext cx="4349459" cy="306324"/>
          </a:xfrm>
          <a:prstGeom prst="rect">
            <a:avLst/>
          </a:prstGeom>
          <a:noFill/>
        </p:spPr>
        <p:txBody>
          <a:bodyPr wrap="square" lIns="0" rIns="0" tIns="0" bIns="0" anchor="t">
            <a:spAutoFit/>
          </a:bodyPr>
          <a:lstStyle/>
          <a:p>
            <a:pPr algn="l"/>
            <a:r>
              <a:rPr sz="1050" b="1">
                <a:solidFill>
                  <a:srgbClr val="111111"/>
                </a:solidFill>
                <a:latin typeface="Calibri"/>
              </a:rPr>
              <a:t>Dr. Lawrence Chu</a:t>
            </a:r>
          </a:p>
        </p:txBody>
      </p:sp>
      <p:sp>
        <p:nvSpPr>
          <p:cNvPr id="16" name="TextBox 15"/>
          <p:cNvSpPr txBox="1"/>
          <p:nvPr/>
        </p:nvSpPr>
        <p:spPr>
          <a:xfrm>
            <a:off x="5199851" y="2130552"/>
            <a:ext cx="3816242" cy="306324"/>
          </a:xfrm>
          <a:prstGeom prst="rect">
            <a:avLst/>
          </a:prstGeom>
          <a:noFill/>
        </p:spPr>
        <p:txBody>
          <a:bodyPr wrap="square" lIns="0" rIns="0" tIns="0" bIns="0" anchor="t">
            <a:spAutoFit/>
          </a:bodyPr>
          <a:lstStyle/>
          <a:p>
            <a:pPr algn="r"/>
            <a:r>
              <a:rPr sz="1050" b="0">
                <a:solidFill>
                  <a:srgbClr val="111111"/>
                </a:solidFill>
                <a:latin typeface="Calibri"/>
              </a:rPr>
              <a:t>Chief Executive Officer</a:t>
            </a:r>
          </a:p>
        </p:txBody>
      </p:sp>
      <p:sp>
        <p:nvSpPr>
          <p:cNvPr id="17" name="TextBox 16"/>
          <p:cNvSpPr txBox="1"/>
          <p:nvPr/>
        </p:nvSpPr>
        <p:spPr>
          <a:xfrm>
            <a:off x="9198973" y="2130552"/>
            <a:ext cx="1150160" cy="306324"/>
          </a:xfrm>
          <a:prstGeom prst="rect">
            <a:avLst/>
          </a:prstGeom>
          <a:noFill/>
        </p:spPr>
        <p:txBody>
          <a:bodyPr wrap="square" lIns="0" rIns="0" tIns="0" bIns="0" anchor="t">
            <a:spAutoFit/>
          </a:bodyPr>
          <a:lstStyle/>
          <a:p>
            <a:pPr algn="r"/>
            <a:r>
              <a:rPr sz="1050" b="0">
                <a:solidFill>
                  <a:srgbClr val="111111"/>
                </a:solidFill>
                <a:latin typeface="Calibri"/>
              </a:rPr>
              <a:t>76</a:t>
            </a:r>
          </a:p>
        </p:txBody>
      </p:sp>
      <p:sp>
        <p:nvSpPr>
          <p:cNvPr id="18" name="TextBox 17"/>
          <p:cNvSpPr txBox="1"/>
          <p:nvPr/>
        </p:nvSpPr>
        <p:spPr>
          <a:xfrm>
            <a:off x="10532013" y="2130552"/>
            <a:ext cx="1016856" cy="306324"/>
          </a:xfrm>
          <a:prstGeom prst="rect">
            <a:avLst/>
          </a:prstGeom>
          <a:noFill/>
        </p:spPr>
        <p:txBody>
          <a:bodyPr wrap="square" lIns="0" rIns="0" tIns="0" bIns="0" anchor="t">
            <a:spAutoFit/>
          </a:bodyPr>
          <a:lstStyle/>
          <a:p>
            <a:pPr algn="r"/>
            <a:r>
              <a:rPr sz="1050" b="0">
                <a:solidFill>
                  <a:srgbClr val="111111"/>
                </a:solidFill>
                <a:latin typeface="Calibri"/>
              </a:rPr>
              <a:t>82%</a:t>
            </a:r>
          </a:p>
        </p:txBody>
      </p:sp>
      <p:sp>
        <p:nvSpPr>
          <p:cNvPr id="19" name="Rectangle 18"/>
          <p:cNvSpPr/>
          <p:nvPr/>
        </p:nvSpPr>
        <p:spPr>
          <a:xfrm>
            <a:off x="566928" y="2372868"/>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267919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2436876"/>
            <a:ext cx="4349459" cy="306324"/>
          </a:xfrm>
          <a:prstGeom prst="rect">
            <a:avLst/>
          </a:prstGeom>
          <a:noFill/>
        </p:spPr>
        <p:txBody>
          <a:bodyPr wrap="square" lIns="0" rIns="0" tIns="0" bIns="0" anchor="t">
            <a:spAutoFit/>
          </a:bodyPr>
          <a:lstStyle/>
          <a:p>
            <a:pPr algn="l"/>
            <a:r>
              <a:rPr sz="1050" b="1">
                <a:solidFill>
                  <a:srgbClr val="111111"/>
                </a:solidFill>
                <a:latin typeface="Calibri"/>
              </a:rPr>
              <a:t>Jeffrey Soo Yee Lieh</a:t>
            </a:r>
          </a:p>
        </p:txBody>
      </p:sp>
      <p:sp>
        <p:nvSpPr>
          <p:cNvPr id="22" name="TextBox 21"/>
          <p:cNvSpPr txBox="1"/>
          <p:nvPr/>
        </p:nvSpPr>
        <p:spPr>
          <a:xfrm>
            <a:off x="5199851" y="2436876"/>
            <a:ext cx="3816242" cy="306324"/>
          </a:xfrm>
          <a:prstGeom prst="rect">
            <a:avLst/>
          </a:prstGeom>
          <a:noFill/>
        </p:spPr>
        <p:txBody>
          <a:bodyPr wrap="square" lIns="0" rIns="0" tIns="0" bIns="0" anchor="t">
            <a:spAutoFit/>
          </a:bodyPr>
          <a:lstStyle/>
          <a:p>
            <a:pPr algn="r"/>
            <a:r>
              <a:rPr sz="1050" b="0">
                <a:solidFill>
                  <a:srgbClr val="111111"/>
                </a:solidFill>
                <a:latin typeface="Calibri"/>
              </a:rPr>
              <a:t>Deputy Chief Executive Officer</a:t>
            </a:r>
          </a:p>
        </p:txBody>
      </p:sp>
      <p:sp>
        <p:nvSpPr>
          <p:cNvPr id="23" name="TextBox 22"/>
          <p:cNvSpPr txBox="1"/>
          <p:nvPr/>
        </p:nvSpPr>
        <p:spPr>
          <a:xfrm>
            <a:off x="9198973" y="2436876"/>
            <a:ext cx="1150160" cy="306324"/>
          </a:xfrm>
          <a:prstGeom prst="rect">
            <a:avLst/>
          </a:prstGeom>
          <a:noFill/>
        </p:spPr>
        <p:txBody>
          <a:bodyPr wrap="square" lIns="0" rIns="0" tIns="0" bIns="0" anchor="t">
            <a:spAutoFit/>
          </a:bodyPr>
          <a:lstStyle/>
          <a:p>
            <a:pPr algn="r"/>
            <a:r>
              <a:rPr sz="1050" b="0">
                <a:solidFill>
                  <a:srgbClr val="111111"/>
                </a:solidFill>
                <a:latin typeface="Calibri"/>
              </a:rPr>
              <a:t>7</a:t>
            </a:r>
          </a:p>
        </p:txBody>
      </p:sp>
      <p:sp>
        <p:nvSpPr>
          <p:cNvPr id="24" name="TextBox 23"/>
          <p:cNvSpPr txBox="1"/>
          <p:nvPr/>
        </p:nvSpPr>
        <p:spPr>
          <a:xfrm>
            <a:off x="10532013" y="2436876"/>
            <a:ext cx="1016856" cy="306324"/>
          </a:xfrm>
          <a:prstGeom prst="rect">
            <a:avLst/>
          </a:prstGeom>
          <a:noFill/>
        </p:spPr>
        <p:txBody>
          <a:bodyPr wrap="square" lIns="0" rIns="0" tIns="0" bIns="0" anchor="t">
            <a:spAutoFit/>
          </a:bodyPr>
          <a:lstStyle/>
          <a:p>
            <a:pPr algn="r"/>
            <a:r>
              <a:rPr sz="1050" b="0">
                <a:solidFill>
                  <a:srgbClr val="111111"/>
                </a:solidFill>
                <a:latin typeface="Calibri"/>
              </a:rPr>
              <a:t>8%</a:t>
            </a:r>
          </a:p>
        </p:txBody>
      </p:sp>
      <p:sp>
        <p:nvSpPr>
          <p:cNvPr id="25" name="Rectangle 24"/>
          <p:cNvSpPr/>
          <p:nvPr/>
        </p:nvSpPr>
        <p:spPr>
          <a:xfrm>
            <a:off x="566928" y="2679192"/>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298551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2743200"/>
            <a:ext cx="4349459" cy="306324"/>
          </a:xfrm>
          <a:prstGeom prst="rect">
            <a:avLst/>
          </a:prstGeom>
          <a:noFill/>
        </p:spPr>
        <p:txBody>
          <a:bodyPr wrap="square" lIns="0" rIns="0" tIns="0" bIns="0" anchor="t">
            <a:spAutoFit/>
          </a:bodyPr>
          <a:lstStyle/>
          <a:p>
            <a:pPr algn="l"/>
            <a:r>
              <a:rPr sz="1050" b="1">
                <a:solidFill>
                  <a:srgbClr val="111111"/>
                </a:solidFill>
                <a:latin typeface="Calibri"/>
              </a:rPr>
              <a:t>Dr. Brian Lim Kai Hoe</a:t>
            </a:r>
          </a:p>
        </p:txBody>
      </p:sp>
      <p:sp>
        <p:nvSpPr>
          <p:cNvPr id="28" name="TextBox 27"/>
          <p:cNvSpPr txBox="1"/>
          <p:nvPr/>
        </p:nvSpPr>
        <p:spPr>
          <a:xfrm>
            <a:off x="5199851" y="2743200"/>
            <a:ext cx="3816242" cy="306324"/>
          </a:xfrm>
          <a:prstGeom prst="rect">
            <a:avLst/>
          </a:prstGeom>
          <a:noFill/>
        </p:spPr>
        <p:txBody>
          <a:bodyPr wrap="square" lIns="0" rIns="0" tIns="0" bIns="0" anchor="t">
            <a:spAutoFit/>
          </a:bodyPr>
          <a:lstStyle/>
          <a:p>
            <a:pPr algn="r"/>
            <a:r>
              <a:rPr sz="1050" b="0">
                <a:solidFill>
                  <a:srgbClr val="111111"/>
                </a:solidFill>
                <a:latin typeface="Calibri"/>
              </a:rPr>
              <a:t>Senior Manager</a:t>
            </a:r>
          </a:p>
        </p:txBody>
      </p:sp>
      <p:sp>
        <p:nvSpPr>
          <p:cNvPr id="29" name="TextBox 28"/>
          <p:cNvSpPr txBox="1"/>
          <p:nvPr/>
        </p:nvSpPr>
        <p:spPr>
          <a:xfrm>
            <a:off x="9198973" y="2743200"/>
            <a:ext cx="1150160" cy="306324"/>
          </a:xfrm>
          <a:prstGeom prst="rect">
            <a:avLst/>
          </a:prstGeom>
          <a:noFill/>
        </p:spPr>
        <p:txBody>
          <a:bodyPr wrap="square" lIns="0" rIns="0" tIns="0" bIns="0" anchor="t">
            <a:spAutoFit/>
          </a:bodyPr>
          <a:lstStyle/>
          <a:p>
            <a:pPr algn="r"/>
            <a:r>
              <a:rPr sz="1050" b="0">
                <a:solidFill>
                  <a:srgbClr val="111111"/>
                </a:solidFill>
                <a:latin typeface="Calibri"/>
              </a:rPr>
              <a:t>3</a:t>
            </a:r>
          </a:p>
        </p:txBody>
      </p:sp>
      <p:sp>
        <p:nvSpPr>
          <p:cNvPr id="30" name="TextBox 29"/>
          <p:cNvSpPr txBox="1"/>
          <p:nvPr/>
        </p:nvSpPr>
        <p:spPr>
          <a:xfrm>
            <a:off x="10532013" y="2743200"/>
            <a:ext cx="1016856" cy="306324"/>
          </a:xfrm>
          <a:prstGeom prst="rect">
            <a:avLst/>
          </a:prstGeom>
          <a:noFill/>
        </p:spPr>
        <p:txBody>
          <a:bodyPr wrap="square" lIns="0" rIns="0" tIns="0" bIns="0" anchor="t">
            <a:spAutoFit/>
          </a:bodyPr>
          <a:lstStyle/>
          <a:p>
            <a:pPr algn="r"/>
            <a:r>
              <a:rPr sz="1050" b="0">
                <a:solidFill>
                  <a:srgbClr val="111111"/>
                </a:solidFill>
                <a:latin typeface="Calibri"/>
              </a:rPr>
              <a:t>3%</a:t>
            </a:r>
          </a:p>
        </p:txBody>
      </p:sp>
      <p:sp>
        <p:nvSpPr>
          <p:cNvPr id="31" name="Rectangle 30"/>
          <p:cNvSpPr/>
          <p:nvPr/>
        </p:nvSpPr>
        <p:spPr>
          <a:xfrm>
            <a:off x="566928" y="2985516"/>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329184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 y="3049524"/>
            <a:ext cx="4349459" cy="306324"/>
          </a:xfrm>
          <a:prstGeom prst="rect">
            <a:avLst/>
          </a:prstGeom>
          <a:noFill/>
        </p:spPr>
        <p:txBody>
          <a:bodyPr wrap="square" lIns="0" rIns="0" tIns="0" bIns="0" anchor="t">
            <a:spAutoFit/>
          </a:bodyPr>
          <a:lstStyle/>
          <a:p>
            <a:pPr algn="l"/>
            <a:r>
              <a:rPr sz="1050" b="1">
                <a:solidFill>
                  <a:srgbClr val="111111"/>
                </a:solidFill>
                <a:latin typeface="Calibri"/>
              </a:rPr>
              <a:t>Aqilla Dalinte</a:t>
            </a:r>
          </a:p>
        </p:txBody>
      </p:sp>
      <p:sp>
        <p:nvSpPr>
          <p:cNvPr id="34" name="TextBox 33"/>
          <p:cNvSpPr txBox="1"/>
          <p:nvPr/>
        </p:nvSpPr>
        <p:spPr>
          <a:xfrm>
            <a:off x="5199851" y="3049524"/>
            <a:ext cx="3816242" cy="306324"/>
          </a:xfrm>
          <a:prstGeom prst="rect">
            <a:avLst/>
          </a:prstGeom>
          <a:noFill/>
        </p:spPr>
        <p:txBody>
          <a:bodyPr wrap="square" lIns="0" rIns="0" tIns="0" bIns="0" anchor="t">
            <a:spAutoFit/>
          </a:bodyPr>
          <a:lstStyle/>
          <a:p>
            <a:pPr algn="r"/>
            <a:r>
              <a:rPr sz="1050" b="0">
                <a:solidFill>
                  <a:srgbClr val="111111"/>
                </a:solidFill>
                <a:latin typeface="Calibri"/>
              </a:rPr>
              <a:t>Assistant HR &amp; Admin Manager</a:t>
            </a:r>
          </a:p>
        </p:txBody>
      </p:sp>
      <p:sp>
        <p:nvSpPr>
          <p:cNvPr id="35" name="TextBox 34"/>
          <p:cNvSpPr txBox="1"/>
          <p:nvPr/>
        </p:nvSpPr>
        <p:spPr>
          <a:xfrm>
            <a:off x="9198973" y="3049524"/>
            <a:ext cx="1150160" cy="306324"/>
          </a:xfrm>
          <a:prstGeom prst="rect">
            <a:avLst/>
          </a:prstGeom>
          <a:noFill/>
        </p:spPr>
        <p:txBody>
          <a:bodyPr wrap="square" lIns="0" rIns="0" tIns="0" bIns="0" anchor="t">
            <a:spAutoFit/>
          </a:bodyPr>
          <a:lstStyle/>
          <a:p>
            <a:pPr algn="r"/>
            <a:r>
              <a:rPr sz="1050" b="0">
                <a:solidFill>
                  <a:srgbClr val="111111"/>
                </a:solidFill>
                <a:latin typeface="Calibri"/>
              </a:rPr>
              <a:t>2</a:t>
            </a:r>
          </a:p>
        </p:txBody>
      </p:sp>
      <p:sp>
        <p:nvSpPr>
          <p:cNvPr id="36" name="TextBox 35"/>
          <p:cNvSpPr txBox="1"/>
          <p:nvPr/>
        </p:nvSpPr>
        <p:spPr>
          <a:xfrm>
            <a:off x="10532013" y="3049524"/>
            <a:ext cx="1016856" cy="306324"/>
          </a:xfrm>
          <a:prstGeom prst="rect">
            <a:avLst/>
          </a:prstGeom>
          <a:noFill/>
        </p:spPr>
        <p:txBody>
          <a:bodyPr wrap="square" lIns="0" rIns="0" tIns="0" bIns="0" anchor="t">
            <a:spAutoFit/>
          </a:bodyPr>
          <a:lstStyle/>
          <a:p>
            <a:pPr algn="r"/>
            <a:r>
              <a:rPr sz="1050" b="0">
                <a:solidFill>
                  <a:srgbClr val="111111"/>
                </a:solidFill>
                <a:latin typeface="Calibri"/>
              </a:rPr>
              <a:t>2%</a:t>
            </a:r>
          </a:p>
        </p:txBody>
      </p:sp>
      <p:sp>
        <p:nvSpPr>
          <p:cNvPr id="37" name="Rectangle 36"/>
          <p:cNvSpPr/>
          <p:nvPr/>
        </p:nvSpPr>
        <p:spPr>
          <a:xfrm>
            <a:off x="566928" y="3291840"/>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359816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512" y="3355848"/>
            <a:ext cx="4349459" cy="306324"/>
          </a:xfrm>
          <a:prstGeom prst="rect">
            <a:avLst/>
          </a:prstGeom>
          <a:noFill/>
        </p:spPr>
        <p:txBody>
          <a:bodyPr wrap="square" lIns="0" rIns="0" tIns="0" bIns="0" anchor="t">
            <a:spAutoFit/>
          </a:bodyPr>
          <a:lstStyle/>
          <a:p>
            <a:pPr algn="l"/>
            <a:r>
              <a:rPr sz="1050" b="1">
                <a:solidFill>
                  <a:srgbClr val="111111"/>
                </a:solidFill>
                <a:latin typeface="Calibri"/>
              </a:rPr>
              <a:t>Vincent Ng Tung Hau</a:t>
            </a:r>
          </a:p>
        </p:txBody>
      </p:sp>
      <p:sp>
        <p:nvSpPr>
          <p:cNvPr id="40" name="TextBox 39"/>
          <p:cNvSpPr txBox="1"/>
          <p:nvPr/>
        </p:nvSpPr>
        <p:spPr>
          <a:xfrm>
            <a:off x="5199851" y="3355848"/>
            <a:ext cx="3816242" cy="306324"/>
          </a:xfrm>
          <a:prstGeom prst="rect">
            <a:avLst/>
          </a:prstGeom>
          <a:noFill/>
        </p:spPr>
        <p:txBody>
          <a:bodyPr wrap="square" lIns="0" rIns="0" tIns="0" bIns="0" anchor="t">
            <a:spAutoFit/>
          </a:bodyPr>
          <a:lstStyle/>
          <a:p>
            <a:pPr algn="r"/>
            <a:r>
              <a:rPr sz="1050" b="0">
                <a:solidFill>
                  <a:srgbClr val="111111"/>
                </a:solidFill>
                <a:latin typeface="Calibri"/>
              </a:rPr>
              <a:t>Senior Manager Admin &amp; HR</a:t>
            </a:r>
          </a:p>
        </p:txBody>
      </p:sp>
      <p:sp>
        <p:nvSpPr>
          <p:cNvPr id="41" name="TextBox 40"/>
          <p:cNvSpPr txBox="1"/>
          <p:nvPr/>
        </p:nvSpPr>
        <p:spPr>
          <a:xfrm>
            <a:off x="9198973" y="3355848"/>
            <a:ext cx="1150160"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42" name="TextBox 41"/>
          <p:cNvSpPr txBox="1"/>
          <p:nvPr/>
        </p:nvSpPr>
        <p:spPr>
          <a:xfrm>
            <a:off x="10532013" y="3355848"/>
            <a:ext cx="1016856"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43" name="Rectangle 42"/>
          <p:cNvSpPr/>
          <p:nvPr/>
        </p:nvSpPr>
        <p:spPr>
          <a:xfrm>
            <a:off x="566928" y="3598164"/>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66928" y="390448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7512" y="3662172"/>
            <a:ext cx="4349459" cy="306324"/>
          </a:xfrm>
          <a:prstGeom prst="rect">
            <a:avLst/>
          </a:prstGeom>
          <a:noFill/>
        </p:spPr>
        <p:txBody>
          <a:bodyPr wrap="square" lIns="0" rIns="0" tIns="0" bIns="0" anchor="t">
            <a:spAutoFit/>
          </a:bodyPr>
          <a:lstStyle/>
          <a:p>
            <a:pPr algn="l"/>
            <a:r>
              <a:rPr sz="1050" b="1">
                <a:solidFill>
                  <a:srgbClr val="111111"/>
                </a:solidFill>
                <a:latin typeface="Calibri"/>
              </a:rPr>
              <a:t>Soo Chee Kiong</a:t>
            </a:r>
          </a:p>
        </p:txBody>
      </p:sp>
      <p:sp>
        <p:nvSpPr>
          <p:cNvPr id="46" name="TextBox 45"/>
          <p:cNvSpPr txBox="1"/>
          <p:nvPr/>
        </p:nvSpPr>
        <p:spPr>
          <a:xfrm>
            <a:off x="5199851" y="3662172"/>
            <a:ext cx="3816242" cy="306324"/>
          </a:xfrm>
          <a:prstGeom prst="rect">
            <a:avLst/>
          </a:prstGeom>
          <a:noFill/>
        </p:spPr>
        <p:txBody>
          <a:bodyPr wrap="square" lIns="0" rIns="0" tIns="0" bIns="0" anchor="t">
            <a:spAutoFit/>
          </a:bodyPr>
          <a:lstStyle/>
          <a:p>
            <a:pPr algn="r"/>
            <a:r>
              <a:rPr sz="1050" b="0">
                <a:solidFill>
                  <a:srgbClr val="111111"/>
                </a:solidFill>
                <a:latin typeface="Calibri"/>
              </a:rPr>
              <a:t>Senior Manager</a:t>
            </a:r>
          </a:p>
        </p:txBody>
      </p:sp>
      <p:sp>
        <p:nvSpPr>
          <p:cNvPr id="47" name="TextBox 46"/>
          <p:cNvSpPr txBox="1"/>
          <p:nvPr/>
        </p:nvSpPr>
        <p:spPr>
          <a:xfrm>
            <a:off x="9198973" y="3662172"/>
            <a:ext cx="1150160"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48" name="TextBox 47"/>
          <p:cNvSpPr txBox="1"/>
          <p:nvPr/>
        </p:nvSpPr>
        <p:spPr>
          <a:xfrm>
            <a:off x="10532013" y="3662172"/>
            <a:ext cx="1016856"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49" name="Rectangle 48"/>
          <p:cNvSpPr/>
          <p:nvPr/>
        </p:nvSpPr>
        <p:spPr>
          <a:xfrm>
            <a:off x="566928" y="3904488"/>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66928" y="421081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7512" y="3968496"/>
            <a:ext cx="4349459" cy="306324"/>
          </a:xfrm>
          <a:prstGeom prst="rect">
            <a:avLst/>
          </a:prstGeom>
          <a:noFill/>
        </p:spPr>
        <p:txBody>
          <a:bodyPr wrap="square" lIns="0" rIns="0" tIns="0" bIns="0" anchor="t">
            <a:spAutoFit/>
          </a:bodyPr>
          <a:lstStyle/>
          <a:p>
            <a:pPr algn="l"/>
            <a:r>
              <a:rPr sz="1050" b="1">
                <a:solidFill>
                  <a:srgbClr val="111111"/>
                </a:solidFill>
                <a:latin typeface="Calibri"/>
              </a:rPr>
              <a:t>Dr. Pan</a:t>
            </a:r>
          </a:p>
        </p:txBody>
      </p:sp>
      <p:sp>
        <p:nvSpPr>
          <p:cNvPr id="52" name="TextBox 51"/>
          <p:cNvSpPr txBox="1"/>
          <p:nvPr/>
        </p:nvSpPr>
        <p:spPr>
          <a:xfrm>
            <a:off x="5199851" y="3968496"/>
            <a:ext cx="3816242" cy="306324"/>
          </a:xfrm>
          <a:prstGeom prst="rect">
            <a:avLst/>
          </a:prstGeom>
          <a:noFill/>
        </p:spPr>
        <p:txBody>
          <a:bodyPr wrap="square" lIns="0" rIns="0" tIns="0" bIns="0" anchor="t">
            <a:spAutoFit/>
          </a:bodyPr>
          <a:lstStyle/>
          <a:p>
            <a:pPr algn="r"/>
            <a:r>
              <a:rPr sz="1050" b="0">
                <a:solidFill>
                  <a:srgbClr val="111111"/>
                </a:solidFill>
                <a:latin typeface="Calibri"/>
              </a:rPr>
              <a:t>Not matched to a staff record</a:t>
            </a:r>
          </a:p>
        </p:txBody>
      </p:sp>
      <p:sp>
        <p:nvSpPr>
          <p:cNvPr id="53" name="TextBox 52"/>
          <p:cNvSpPr txBox="1"/>
          <p:nvPr/>
        </p:nvSpPr>
        <p:spPr>
          <a:xfrm>
            <a:off x="9198973" y="3968496"/>
            <a:ext cx="1150160"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54" name="TextBox 53"/>
          <p:cNvSpPr txBox="1"/>
          <p:nvPr/>
        </p:nvSpPr>
        <p:spPr>
          <a:xfrm>
            <a:off x="10532013" y="3968496"/>
            <a:ext cx="1016856"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55" name="Rectangle 54"/>
          <p:cNvSpPr/>
          <p:nvPr/>
        </p:nvSpPr>
        <p:spPr>
          <a:xfrm>
            <a:off x="566928" y="4210812"/>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66928" y="451713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7512" y="4274820"/>
            <a:ext cx="4349459" cy="306324"/>
          </a:xfrm>
          <a:prstGeom prst="rect">
            <a:avLst/>
          </a:prstGeom>
          <a:noFill/>
        </p:spPr>
        <p:txBody>
          <a:bodyPr wrap="square" lIns="0" rIns="0" tIns="0" bIns="0" anchor="t">
            <a:spAutoFit/>
          </a:bodyPr>
          <a:lstStyle/>
          <a:p>
            <a:pPr algn="l"/>
            <a:r>
              <a:rPr sz="1050" b="1">
                <a:solidFill>
                  <a:srgbClr val="111111"/>
                </a:solidFill>
                <a:latin typeface="Calibri"/>
              </a:rPr>
              <a:t>Jet Mah Mun Keat</a:t>
            </a:r>
          </a:p>
        </p:txBody>
      </p:sp>
      <p:sp>
        <p:nvSpPr>
          <p:cNvPr id="58" name="TextBox 57"/>
          <p:cNvSpPr txBox="1"/>
          <p:nvPr/>
        </p:nvSpPr>
        <p:spPr>
          <a:xfrm>
            <a:off x="5199851" y="4274820"/>
            <a:ext cx="3816242" cy="306324"/>
          </a:xfrm>
          <a:prstGeom prst="rect">
            <a:avLst/>
          </a:prstGeom>
          <a:noFill/>
        </p:spPr>
        <p:txBody>
          <a:bodyPr wrap="square" lIns="0" rIns="0" tIns="0" bIns="0" anchor="t">
            <a:spAutoFit/>
          </a:bodyPr>
          <a:lstStyle/>
          <a:p>
            <a:pPr algn="r"/>
            <a:r>
              <a:rPr sz="1050" b="0">
                <a:solidFill>
                  <a:srgbClr val="111111"/>
                </a:solidFill>
                <a:latin typeface="Calibri"/>
              </a:rPr>
              <a:t>Rooms Division Manager</a:t>
            </a:r>
          </a:p>
        </p:txBody>
      </p:sp>
      <p:sp>
        <p:nvSpPr>
          <p:cNvPr id="59" name="TextBox 58"/>
          <p:cNvSpPr txBox="1"/>
          <p:nvPr/>
        </p:nvSpPr>
        <p:spPr>
          <a:xfrm>
            <a:off x="9198973" y="4274820"/>
            <a:ext cx="1150160"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60" name="TextBox 59"/>
          <p:cNvSpPr txBox="1"/>
          <p:nvPr/>
        </p:nvSpPr>
        <p:spPr>
          <a:xfrm>
            <a:off x="10532013" y="4274820"/>
            <a:ext cx="1016856"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61" name="Rectangle 60"/>
          <p:cNvSpPr/>
          <p:nvPr/>
        </p:nvSpPr>
        <p:spPr>
          <a:xfrm>
            <a:off x="566928" y="4517136"/>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66928" y="482346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67512" y="4581144"/>
            <a:ext cx="4349459" cy="306324"/>
          </a:xfrm>
          <a:prstGeom prst="rect">
            <a:avLst/>
          </a:prstGeom>
          <a:noFill/>
        </p:spPr>
        <p:txBody>
          <a:bodyPr wrap="square" lIns="0" rIns="0" tIns="0" bIns="0" anchor="t">
            <a:spAutoFit/>
          </a:bodyPr>
          <a:lstStyle/>
          <a:p>
            <a:pPr algn="l"/>
            <a:r>
              <a:rPr sz="1050" b="1">
                <a:solidFill>
                  <a:srgbClr val="111111"/>
                </a:solidFill>
                <a:latin typeface="Calibri"/>
              </a:rPr>
              <a:t>HR</a:t>
            </a:r>
          </a:p>
        </p:txBody>
      </p:sp>
      <p:sp>
        <p:nvSpPr>
          <p:cNvPr id="64" name="TextBox 63"/>
          <p:cNvSpPr txBox="1"/>
          <p:nvPr/>
        </p:nvSpPr>
        <p:spPr>
          <a:xfrm>
            <a:off x="5199851" y="4581144"/>
            <a:ext cx="3816242" cy="306324"/>
          </a:xfrm>
          <a:prstGeom prst="rect">
            <a:avLst/>
          </a:prstGeom>
          <a:noFill/>
        </p:spPr>
        <p:txBody>
          <a:bodyPr wrap="square" lIns="0" rIns="0" tIns="0" bIns="0" anchor="t">
            <a:spAutoFit/>
          </a:bodyPr>
          <a:lstStyle/>
          <a:p>
            <a:pPr algn="r"/>
            <a:r>
              <a:rPr sz="1050" b="0">
                <a:solidFill>
                  <a:srgbClr val="111111"/>
                </a:solidFill>
                <a:latin typeface="Calibri"/>
              </a:rPr>
              <a:t>Not matched to a staff record</a:t>
            </a:r>
          </a:p>
        </p:txBody>
      </p:sp>
      <p:sp>
        <p:nvSpPr>
          <p:cNvPr id="65" name="TextBox 64"/>
          <p:cNvSpPr txBox="1"/>
          <p:nvPr/>
        </p:nvSpPr>
        <p:spPr>
          <a:xfrm>
            <a:off x="9198973" y="4581144"/>
            <a:ext cx="1150160"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66" name="TextBox 65"/>
          <p:cNvSpPr txBox="1"/>
          <p:nvPr/>
        </p:nvSpPr>
        <p:spPr>
          <a:xfrm>
            <a:off x="10532013" y="4581144"/>
            <a:ext cx="1016856" cy="306324"/>
          </a:xfrm>
          <a:prstGeom prst="rect">
            <a:avLst/>
          </a:prstGeom>
          <a:noFill/>
        </p:spPr>
        <p:txBody>
          <a:bodyPr wrap="square" lIns="0" rIns="0" tIns="0" bIns="0" anchor="t">
            <a:spAutoFit/>
          </a:bodyPr>
          <a:lstStyle/>
          <a:p>
            <a:pPr algn="r"/>
            <a:r>
              <a:rPr sz="1050" b="0">
                <a:solidFill>
                  <a:srgbClr val="111111"/>
                </a:solidFill>
                <a:latin typeface="Calibri"/>
              </a:rPr>
              <a:t>1%</a:t>
            </a:r>
          </a:p>
        </p:txBody>
      </p:sp>
      <p:sp>
        <p:nvSpPr>
          <p:cNvPr id="67" name="Rectangle 66"/>
          <p:cNvSpPr/>
          <p:nvPr/>
        </p:nvSpPr>
        <p:spPr>
          <a:xfrm>
            <a:off x="566928" y="4823460"/>
            <a:ext cx="110642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66928" y="512978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67512" y="4887468"/>
            <a:ext cx="4349459" cy="306324"/>
          </a:xfrm>
          <a:prstGeom prst="rect">
            <a:avLst/>
          </a:prstGeom>
          <a:noFill/>
        </p:spPr>
        <p:txBody>
          <a:bodyPr wrap="square" lIns="0" rIns="0" tIns="0" bIns="0" anchor="t">
            <a:spAutoFit/>
          </a:bodyPr>
          <a:lstStyle/>
          <a:p>
            <a:pPr algn="l"/>
            <a:r>
              <a:rPr sz="1050" b="1">
                <a:solidFill>
                  <a:srgbClr val="1E2761"/>
                </a:solidFill>
                <a:latin typeface="Calibri"/>
              </a:rPr>
              <a:t>Total</a:t>
            </a:r>
          </a:p>
        </p:txBody>
      </p:sp>
      <p:sp>
        <p:nvSpPr>
          <p:cNvPr id="70" name="TextBox 69"/>
          <p:cNvSpPr txBox="1"/>
          <p:nvPr/>
        </p:nvSpPr>
        <p:spPr>
          <a:xfrm>
            <a:off x="5199851" y="4887468"/>
            <a:ext cx="3816242" cy="306324"/>
          </a:xfrm>
          <a:prstGeom prst="rect">
            <a:avLst/>
          </a:prstGeom>
          <a:noFill/>
        </p:spPr>
        <p:txBody>
          <a:bodyPr wrap="square" lIns="0" rIns="0" tIns="0" bIns="0" anchor="t">
            <a:spAutoFit/>
          </a:bodyPr>
          <a:lstStyle/>
          <a:p>
            <a:pPr algn="r"/>
            <a:r>
              <a:rPr sz="1050" b="1">
                <a:solidFill>
                  <a:srgbClr val="1E2761"/>
                </a:solidFill>
                <a:latin typeface="Calibri"/>
              </a:rPr>
              <a:t>9 distinct identities</a:t>
            </a:r>
          </a:p>
        </p:txBody>
      </p:sp>
      <p:sp>
        <p:nvSpPr>
          <p:cNvPr id="71" name="TextBox 70"/>
          <p:cNvSpPr txBox="1"/>
          <p:nvPr/>
        </p:nvSpPr>
        <p:spPr>
          <a:xfrm>
            <a:off x="9198973" y="4887468"/>
            <a:ext cx="1150160" cy="306324"/>
          </a:xfrm>
          <a:prstGeom prst="rect">
            <a:avLst/>
          </a:prstGeom>
          <a:noFill/>
        </p:spPr>
        <p:txBody>
          <a:bodyPr wrap="square" lIns="0" rIns="0" tIns="0" bIns="0" anchor="t">
            <a:spAutoFit/>
          </a:bodyPr>
          <a:lstStyle/>
          <a:p>
            <a:pPr algn="r"/>
            <a:r>
              <a:rPr sz="1050" b="1">
                <a:solidFill>
                  <a:srgbClr val="1E2761"/>
                </a:solidFill>
                <a:latin typeface="Calibri"/>
              </a:rPr>
              <a:t>93</a:t>
            </a:r>
          </a:p>
        </p:txBody>
      </p:sp>
      <p:sp>
        <p:nvSpPr>
          <p:cNvPr id="72" name="TextBox 71"/>
          <p:cNvSpPr txBox="1"/>
          <p:nvPr/>
        </p:nvSpPr>
        <p:spPr>
          <a:xfrm>
            <a:off x="10532013" y="4887468"/>
            <a:ext cx="1016856" cy="306324"/>
          </a:xfrm>
          <a:prstGeom prst="rect">
            <a:avLst/>
          </a:prstGeom>
          <a:noFill/>
        </p:spPr>
        <p:txBody>
          <a:bodyPr wrap="square" lIns="0" rIns="0" tIns="0" bIns="0" anchor="t">
            <a:spAutoFit/>
          </a:bodyPr>
          <a:lstStyle/>
          <a:p>
            <a:pPr algn="r"/>
            <a:r>
              <a:rPr sz="1050" b="1">
                <a:solidFill>
                  <a:srgbClr val="1E2761"/>
                </a:solidFill>
                <a:latin typeface="Calibri"/>
              </a:rPr>
              <a:t>100%</a:t>
            </a:r>
          </a:p>
        </p:txBody>
      </p:sp>
      <p:sp>
        <p:nvSpPr>
          <p:cNvPr id="73" name="TextBox 72"/>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All 93 memos on file, deleted records excluded. Positions taken from the staff record of the matching account; two sender strings match no account. "Dr. Lawrence Chu" and "Jeffrey Soo Yee Lieh" each appear under two spellings and are combined 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